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4"/>
  </p:notesMasterIdLst>
  <p:sldIdLst>
    <p:sldId id="256" r:id="rId2"/>
    <p:sldId id="287" r:id="rId3"/>
    <p:sldId id="289" r:id="rId4"/>
    <p:sldId id="257" r:id="rId5"/>
    <p:sldId id="258" r:id="rId6"/>
    <p:sldId id="293" r:id="rId7"/>
    <p:sldId id="1108" r:id="rId8"/>
    <p:sldId id="267" r:id="rId9"/>
    <p:sldId id="259" r:id="rId10"/>
    <p:sldId id="1091" r:id="rId11"/>
    <p:sldId id="1102" r:id="rId12"/>
    <p:sldId id="262" r:id="rId13"/>
    <p:sldId id="294" r:id="rId14"/>
    <p:sldId id="1106" r:id="rId15"/>
    <p:sldId id="290" r:id="rId16"/>
    <p:sldId id="1092" r:id="rId17"/>
    <p:sldId id="1098" r:id="rId18"/>
    <p:sldId id="1099" r:id="rId19"/>
    <p:sldId id="1101" r:id="rId20"/>
    <p:sldId id="273" r:id="rId21"/>
    <p:sldId id="279" r:id="rId22"/>
    <p:sldId id="282" r:id="rId23"/>
    <p:sldId id="1100" r:id="rId24"/>
    <p:sldId id="1105" r:id="rId25"/>
    <p:sldId id="1110" r:id="rId26"/>
    <p:sldId id="1107" r:id="rId27"/>
    <p:sldId id="1104" r:id="rId28"/>
    <p:sldId id="291" r:id="rId29"/>
    <p:sldId id="275" r:id="rId30"/>
    <p:sldId id="274" r:id="rId31"/>
    <p:sldId id="280" r:id="rId32"/>
    <p:sldId id="292" r:id="rId33"/>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初めに" id="{4C58ADEB-D3DF-484A-A46A-90F343BA98E7}">
          <p14:sldIdLst>
            <p14:sldId id="256"/>
            <p14:sldId id="287"/>
          </p14:sldIdLst>
        </p14:section>
        <p14:section name="研究の全体像" id="{54B26A00-0F8E-47CC-B300-A99B68CD4CBB}">
          <p14:sldIdLst>
            <p14:sldId id="289"/>
            <p14:sldId id="257"/>
            <p14:sldId id="258"/>
            <p14:sldId id="293"/>
            <p14:sldId id="1108"/>
            <p14:sldId id="267"/>
            <p14:sldId id="259"/>
            <p14:sldId id="1091"/>
            <p14:sldId id="1102"/>
            <p14:sldId id="262"/>
            <p14:sldId id="294"/>
            <p14:sldId id="1106"/>
          </p14:sldIdLst>
        </p14:section>
        <p14:section name="研究①　ベクトル化アルゴリズム" id="{77C711F9-1AEA-40AD-BD99-B276E34FA93A}">
          <p14:sldIdLst>
            <p14:sldId id="290"/>
            <p14:sldId id="1092"/>
            <p14:sldId id="1098"/>
            <p14:sldId id="1099"/>
          </p14:sldIdLst>
        </p14:section>
        <p14:section name="研究②　分類アルゴリズム" id="{F3935D37-C4E7-48A9-9345-35FCECCB92F6}">
          <p14:sldIdLst>
            <p14:sldId id="1101"/>
            <p14:sldId id="273"/>
            <p14:sldId id="279"/>
            <p14:sldId id="282"/>
            <p14:sldId id="1100"/>
          </p14:sldIdLst>
        </p14:section>
        <p14:section name="質問事項" id="{BAD60F02-3216-4893-B12B-D221C39DF31B}">
          <p14:sldIdLst>
            <p14:sldId id="1105"/>
            <p14:sldId id="1110"/>
            <p14:sldId id="1107"/>
            <p14:sldId id="1104"/>
          </p14:sldIdLst>
        </p14:section>
        <p14:section name="まとめ" id="{7A2A9118-100A-4938-AAC8-A55119B79DA6}">
          <p14:sldIdLst>
            <p14:sldId id="291"/>
            <p14:sldId id="275"/>
            <p14:sldId id="274"/>
            <p14:sldId id="280"/>
            <p14:sldId id="292"/>
          </p14:sldIdLst>
        </p14:section>
      </p14:sectionLst>
    </p:ext>
    <p:ext uri="{EFAFB233-063F-42B5-8137-9DF3F51BA10A}">
      <p15:sldGuideLst xmlns:p15="http://schemas.microsoft.com/office/powerpoint/2012/main">
        <p15:guide id="1" orient="horz" pos="2160" userDrawn="1">
          <p15:clr>
            <a:srgbClr val="A4A3A4"/>
          </p15:clr>
        </p15:guide>
        <p15:guide id="2" pos="3120" userDrawn="1">
          <p15:clr>
            <a:srgbClr val="A4A3A4"/>
          </p15:clr>
        </p15:guide>
        <p15:guide id="3" pos="262" userDrawn="1">
          <p15:clr>
            <a:srgbClr val="A4A3A4"/>
          </p15:clr>
        </p15:guide>
        <p15:guide id="4" orient="horz" pos="12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9" autoAdjust="0"/>
    <p:restoredTop sz="94825" autoAdjust="0"/>
  </p:normalViewPr>
  <p:slideViewPr>
    <p:cSldViewPr snapToGrid="0" showGuides="1">
      <p:cViewPr varScale="1">
        <p:scale>
          <a:sx n="76" d="100"/>
          <a:sy n="76" d="100"/>
        </p:scale>
        <p:origin x="72" y="84"/>
      </p:cViewPr>
      <p:guideLst>
        <p:guide orient="horz" pos="2160"/>
        <p:guide pos="3120"/>
        <p:guide pos="262"/>
        <p:guide orient="horz" pos="1253"/>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1222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F58C36-E1DD-400A-B9AE-83D09144CED4}" type="datetimeFigureOut">
              <a:rPr kumimoji="1" lang="ja-JP" altLang="en-US" smtClean="0"/>
              <a:t>2020/8/24</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8BF21A-9F37-4872-A435-7E0D76C7B416}" type="slidenum">
              <a:rPr kumimoji="1" lang="ja-JP" altLang="en-US" smtClean="0"/>
              <a:t>‹#›</a:t>
            </a:fld>
            <a:endParaRPr kumimoji="1" lang="ja-JP" altLang="en-US"/>
          </a:p>
        </p:txBody>
      </p:sp>
    </p:spTree>
    <p:extLst>
      <p:ext uri="{BB962C8B-B14F-4D97-AF65-F5344CB8AC3E}">
        <p14:creationId xmlns:p14="http://schemas.microsoft.com/office/powerpoint/2010/main" val="4135871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atin typeface="Meiryo UI" panose="020B0604030504040204" pitchFamily="50" charset="-128"/>
                <a:ea typeface="Meiryo UI" panose="020B0604030504040204" pitchFamily="50" charset="-128"/>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atin typeface="Meiryo UI" panose="020B0604030504040204" pitchFamily="50" charset="-128"/>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5" name="Footer Placeholder 4"/>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dirty="0"/>
          </a:p>
        </p:txBody>
      </p:sp>
      <p:sp>
        <p:nvSpPr>
          <p:cNvPr id="6" name="Slide Number Placeholder 5"/>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4A0ABA21-04CE-4531-99B2-420D29D6D622}" type="slidenum">
              <a:rPr lang="ja-JP" altLang="en-US" smtClean="0"/>
              <a:pPr/>
              <a:t>‹#›</a:t>
            </a:fld>
            <a:endParaRPr lang="ja-JP" altLang="en-US"/>
          </a:p>
        </p:txBody>
      </p:sp>
    </p:spTree>
    <p:extLst>
      <p:ext uri="{BB962C8B-B14F-4D97-AF65-F5344CB8AC3E}">
        <p14:creationId xmlns:p14="http://schemas.microsoft.com/office/powerpoint/2010/main" val="2592934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19717DA5-BA0E-4DD7-BFE6-361B9B62B13A}"/>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dirty="0"/>
          </a:p>
        </p:txBody>
      </p:sp>
      <p:sp>
        <p:nvSpPr>
          <p:cNvPr id="6" name="スライド番号プレースホルダー 5">
            <a:extLst>
              <a:ext uri="{FF2B5EF4-FFF2-40B4-BE49-F238E27FC236}">
                <a16:creationId xmlns:a16="http://schemas.microsoft.com/office/drawing/2014/main" id="{52292B63-545C-46A1-869B-18953B6A7821}"/>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4A0ABA21-04CE-4531-99B2-420D29D6D622}" type="slidenum">
              <a:rPr lang="ja-JP" altLang="en-US" smtClean="0"/>
              <a:pPr/>
              <a:t>‹#›</a:t>
            </a:fld>
            <a:endParaRPr lang="ja-JP" altLang="en-US" dirty="0"/>
          </a:p>
        </p:txBody>
      </p:sp>
      <p:sp>
        <p:nvSpPr>
          <p:cNvPr id="8" name="Title 1">
            <a:extLst>
              <a:ext uri="{FF2B5EF4-FFF2-40B4-BE49-F238E27FC236}">
                <a16:creationId xmlns:a16="http://schemas.microsoft.com/office/drawing/2014/main" id="{A84E698D-1224-46B3-A84F-1D07EBCB4E86}"/>
              </a:ext>
            </a:extLst>
          </p:cNvPr>
          <p:cNvSpPr>
            <a:spLocks noGrp="1"/>
          </p:cNvSpPr>
          <p:nvPr>
            <p:ph type="title"/>
          </p:nvPr>
        </p:nvSpPr>
        <p:spPr>
          <a:xfrm>
            <a:off x="540000" y="360000"/>
            <a:ext cx="8543925" cy="720000"/>
          </a:xfrm>
        </p:spPr>
        <p:txBody>
          <a:bodyPr>
            <a:normAutofit/>
          </a:bodyPr>
          <a:lstStyle>
            <a:lvl1pPr>
              <a:defRPr sz="3600">
                <a:latin typeface="Meiryo UI" panose="020B0604030504040204" pitchFamily="50" charset="-128"/>
                <a:ea typeface="Meiryo UI" panose="020B0604030504040204" pitchFamily="50" charset="-128"/>
              </a:defRPr>
            </a:lvl1pPr>
          </a:lstStyle>
          <a:p>
            <a:r>
              <a:rPr lang="ja-JP" altLang="en-US" dirty="0"/>
              <a:t>マスター タイトルの書式設定</a:t>
            </a:r>
            <a:endParaRPr lang="en-US" dirty="0"/>
          </a:p>
        </p:txBody>
      </p:sp>
      <p:sp>
        <p:nvSpPr>
          <p:cNvPr id="11" name="テキスト プレースホルダー 2">
            <a:extLst>
              <a:ext uri="{FF2B5EF4-FFF2-40B4-BE49-F238E27FC236}">
                <a16:creationId xmlns:a16="http://schemas.microsoft.com/office/drawing/2014/main" id="{B719C46C-B22A-40BB-A233-9B5DB8BCC323}"/>
              </a:ext>
            </a:extLst>
          </p:cNvPr>
          <p:cNvSpPr>
            <a:spLocks noGrp="1"/>
          </p:cNvSpPr>
          <p:nvPr>
            <p:ph type="body" idx="1"/>
          </p:nvPr>
        </p:nvSpPr>
        <p:spPr>
          <a:xfrm>
            <a:off x="540000" y="1080000"/>
            <a:ext cx="8543925" cy="684000"/>
          </a:xfrm>
        </p:spPr>
        <p:txBody>
          <a:bodyPr>
            <a:normAutofit/>
          </a:bodyPr>
          <a:lstStyle>
            <a:lvl1pPr marL="0" indent="0">
              <a:spcBef>
                <a:spcPts val="0"/>
              </a:spcBef>
              <a:buNone/>
              <a:defRPr sz="2000" b="1">
                <a:latin typeface="Meiryo UI" panose="020B0604030504040204" pitchFamily="50" charset="-128"/>
                <a:ea typeface="Meiryo UI" panose="020B0604030504040204" pitchFamily="50" charset="-128"/>
              </a:defRPr>
            </a:lvl1pPr>
          </a:lstStyle>
          <a:p>
            <a:endParaRPr kumimoji="1" lang="ja-JP" altLang="en-US" dirty="0"/>
          </a:p>
        </p:txBody>
      </p:sp>
    </p:spTree>
    <p:extLst>
      <p:ext uri="{BB962C8B-B14F-4D97-AF65-F5344CB8AC3E}">
        <p14:creationId xmlns:p14="http://schemas.microsoft.com/office/powerpoint/2010/main" val="2498296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4AB29EB2-E6BE-4A9A-8A4F-746D51091D8E}"/>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5" name="フッター プレースホルダー 4">
            <a:extLst>
              <a:ext uri="{FF2B5EF4-FFF2-40B4-BE49-F238E27FC236}">
                <a16:creationId xmlns:a16="http://schemas.microsoft.com/office/drawing/2014/main" id="{19717DA5-BA0E-4DD7-BFE6-361B9B62B13A}"/>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52292B63-545C-46A1-869B-18953B6A7821}"/>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4A0ABA21-04CE-4531-99B2-420D29D6D622}" type="slidenum">
              <a:rPr lang="ja-JP" altLang="en-US" smtClean="0"/>
              <a:pPr/>
              <a:t>‹#›</a:t>
            </a:fld>
            <a:endParaRPr lang="ja-JP" altLang="en-US"/>
          </a:p>
        </p:txBody>
      </p:sp>
      <p:sp>
        <p:nvSpPr>
          <p:cNvPr id="7" name="タイトル プレースホルダー 1">
            <a:extLst>
              <a:ext uri="{FF2B5EF4-FFF2-40B4-BE49-F238E27FC236}">
                <a16:creationId xmlns:a16="http://schemas.microsoft.com/office/drawing/2014/main" id="{D660249C-F9B7-4C9B-8095-B5BE7B515785}"/>
              </a:ext>
            </a:extLst>
          </p:cNvPr>
          <p:cNvSpPr>
            <a:spLocks noGrp="1"/>
          </p:cNvSpPr>
          <p:nvPr>
            <p:ph type="title"/>
          </p:nvPr>
        </p:nvSpPr>
        <p:spPr>
          <a:xfrm>
            <a:off x="438751" y="180001"/>
            <a:ext cx="9022254" cy="720000"/>
          </a:xfrm>
          <a:prstGeom prst="rect">
            <a:avLst/>
          </a:prstGeom>
        </p:spPr>
        <p:txBody>
          <a:bodyPr vert="horz" lIns="91440" tIns="45720" rIns="91440" bIns="45720" rtlCol="0" anchor="ctr">
            <a:normAutofit/>
          </a:bodyPr>
          <a:lstStyle/>
          <a:p>
            <a:r>
              <a:rPr kumimoji="1" lang="ja-JP" altLang="en-US" dirty="0"/>
              <a:t>マスター タイトルの書式設定</a:t>
            </a:r>
          </a:p>
        </p:txBody>
      </p:sp>
    </p:spTree>
    <p:extLst>
      <p:ext uri="{BB962C8B-B14F-4D97-AF65-F5344CB8AC3E}">
        <p14:creationId xmlns:p14="http://schemas.microsoft.com/office/powerpoint/2010/main" val="19078378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0ABA21-04CE-4531-99B2-420D29D6D622}" type="slidenum">
              <a:rPr lang="ja-JP" altLang="en-US" smtClean="0"/>
              <a:pPr/>
              <a:t>‹#›</a:t>
            </a:fld>
            <a:endParaRPr lang="ja-JP" altLang="en-US"/>
          </a:p>
        </p:txBody>
      </p:sp>
      <p:sp>
        <p:nvSpPr>
          <p:cNvPr id="7" name="コンテンツ プレースホルダー 2">
            <a:extLst>
              <a:ext uri="{FF2B5EF4-FFF2-40B4-BE49-F238E27FC236}">
                <a16:creationId xmlns:a16="http://schemas.microsoft.com/office/drawing/2014/main" id="{D556008A-7AB4-4BFB-8781-8E7E3D97574C}"/>
              </a:ext>
            </a:extLst>
          </p:cNvPr>
          <p:cNvSpPr txBox="1">
            <a:spLocks/>
          </p:cNvSpPr>
          <p:nvPr userDrawn="1"/>
        </p:nvSpPr>
        <p:spPr>
          <a:xfrm>
            <a:off x="438751" y="1080000"/>
            <a:ext cx="9347295" cy="803138"/>
          </a:xfrm>
          <a:prstGeom prst="rect">
            <a:avLst/>
          </a:prstGeom>
        </p:spPr>
        <p:txBody>
          <a:bodyPr lIns="58500" tIns="58500" rIns="58500" bIns="58500" anchor="t">
            <a:noAutofit/>
          </a:bodyPr>
          <a:lstStyle>
            <a:lvl1pPr marL="0" indent="0" algn="l" defTabSz="914400" rtl="0" eaLnBrk="1" latinLnBrk="0" hangingPunct="1">
              <a:lnSpc>
                <a:spcPct val="100000"/>
              </a:lnSpc>
              <a:spcBef>
                <a:spcPts val="0"/>
              </a:spcBef>
              <a:buFont typeface="Arial" panose="020B0604020202020204" pitchFamily="34" charset="0"/>
              <a:buNone/>
              <a:defRPr kumimoji="1" sz="28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sz="2275" dirty="0"/>
          </a:p>
        </p:txBody>
      </p:sp>
    </p:spTree>
    <p:extLst>
      <p:ext uri="{BB962C8B-B14F-4D97-AF65-F5344CB8AC3E}">
        <p14:creationId xmlns:p14="http://schemas.microsoft.com/office/powerpoint/2010/main" val="2534915957"/>
      </p:ext>
    </p:extLst>
  </p:cSld>
  <p:clrMap bg1="lt1" tx1="dk1" bg2="lt2" tx2="dk2" accent1="accent1" accent2="accent2" accent3="accent3" accent4="accent4" accent5="accent5" accent6="accent6" hlink="hlink" folHlink="folHlink"/>
  <p:sldLayoutIdLst>
    <p:sldLayoutId id="2147483652" r:id="rId1"/>
    <p:sldLayoutId id="2147483663" r:id="rId2"/>
    <p:sldLayoutId id="2147483664" r:id="rId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C5A39A-DAFA-4632-A8BB-6B214BDFD1AB}"/>
              </a:ext>
            </a:extLst>
          </p:cNvPr>
          <p:cNvSpPr>
            <a:spLocks noGrp="1"/>
          </p:cNvSpPr>
          <p:nvPr>
            <p:ph type="ctrTitle"/>
          </p:nvPr>
        </p:nvSpPr>
        <p:spPr>
          <a:xfrm>
            <a:off x="241845" y="1554857"/>
            <a:ext cx="9422309" cy="1939925"/>
          </a:xfrm>
        </p:spPr>
        <p:txBody>
          <a:bodyPr>
            <a:normAutofit/>
          </a:bodyPr>
          <a:lstStyle/>
          <a:p>
            <a:r>
              <a:rPr kumimoji="1" lang="en-US" altLang="ja-JP" sz="4800" dirty="0">
                <a:latin typeface="Meiryo UI" panose="020B0604030504040204" pitchFamily="50" charset="-128"/>
                <a:ea typeface="Meiryo UI" panose="020B0604030504040204" pitchFamily="50" charset="-128"/>
              </a:rPr>
              <a:t>D-VUE Service</a:t>
            </a:r>
            <a:r>
              <a:rPr kumimoji="1" lang="ja-JP" altLang="en-US" sz="4800" dirty="0">
                <a:latin typeface="Meiryo UI" panose="020B0604030504040204" pitchFamily="50" charset="-128"/>
                <a:ea typeface="Meiryo UI" panose="020B0604030504040204" pitchFamily="50" charset="-128"/>
              </a:rPr>
              <a:t>の拡大に向けた</a:t>
            </a:r>
            <a:br>
              <a:rPr kumimoji="1" lang="en-US" altLang="ja-JP" sz="4800" dirty="0">
                <a:latin typeface="Meiryo UI" panose="020B0604030504040204" pitchFamily="50" charset="-128"/>
                <a:ea typeface="Meiryo UI" panose="020B0604030504040204" pitchFamily="50" charset="-128"/>
              </a:rPr>
            </a:br>
            <a:r>
              <a:rPr kumimoji="1" lang="ja-JP" altLang="en-US" sz="4800" dirty="0">
                <a:latin typeface="Meiryo UI" panose="020B0604030504040204" pitchFamily="50" charset="-128"/>
                <a:ea typeface="Meiryo UI" panose="020B0604030504040204" pitchFamily="50" charset="-128"/>
              </a:rPr>
              <a:t>クラスタリング</a:t>
            </a:r>
            <a:r>
              <a:rPr lang="ja-JP" altLang="en-US" sz="4800" dirty="0">
                <a:latin typeface="Meiryo UI" panose="020B0604030504040204" pitchFamily="50" charset="-128"/>
                <a:ea typeface="Meiryo UI" panose="020B0604030504040204" pitchFamily="50" charset="-128"/>
              </a:rPr>
              <a:t>　基礎調査研究</a:t>
            </a:r>
            <a:endParaRPr kumimoji="1" lang="ja-JP" altLang="en-US" sz="4800" dirty="0">
              <a:latin typeface="Meiryo UI" panose="020B0604030504040204" pitchFamily="50" charset="-128"/>
              <a:ea typeface="Meiryo UI" panose="020B0604030504040204" pitchFamily="50" charset="-128"/>
            </a:endParaRPr>
          </a:p>
        </p:txBody>
      </p:sp>
      <p:sp>
        <p:nvSpPr>
          <p:cNvPr id="3" name="字幕 2">
            <a:extLst>
              <a:ext uri="{FF2B5EF4-FFF2-40B4-BE49-F238E27FC236}">
                <a16:creationId xmlns:a16="http://schemas.microsoft.com/office/drawing/2014/main" id="{7F2B68F4-5D8A-4829-AF3F-17BA48B68546}"/>
              </a:ext>
            </a:extLst>
          </p:cNvPr>
          <p:cNvSpPr>
            <a:spLocks noGrp="1"/>
          </p:cNvSpPr>
          <p:nvPr>
            <p:ph type="subTitle" idx="1"/>
          </p:nvPr>
        </p:nvSpPr>
        <p:spPr>
          <a:xfrm>
            <a:off x="1238250" y="3602038"/>
            <a:ext cx="7429500" cy="1655762"/>
          </a:xfrm>
        </p:spPr>
        <p:txBody>
          <a:bodyPr anchor="ctr"/>
          <a:lstStyle/>
          <a:p>
            <a:pPr algn="l"/>
            <a:r>
              <a:rPr lang="ja-JP" altLang="en-US" dirty="0">
                <a:latin typeface="Meiryo UI" panose="020B0604030504040204" pitchFamily="50" charset="-128"/>
                <a:ea typeface="Meiryo UI" panose="020B0604030504040204" pitchFamily="50" charset="-128"/>
              </a:rPr>
              <a:t>イノベーション推進室　データサイエンスチーム</a:t>
            </a:r>
            <a:endParaRPr kumimoji="1"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90297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A6AA1F-41D3-47D2-854C-24CE2840D8D6}"/>
              </a:ext>
            </a:extLst>
          </p:cNvPr>
          <p:cNvSpPr>
            <a:spLocks noGrp="1"/>
          </p:cNvSpPr>
          <p:nvPr>
            <p:ph type="title"/>
          </p:nvPr>
        </p:nvSpPr>
        <p:spPr/>
        <p:txBody>
          <a:bodyPr/>
          <a:lstStyle/>
          <a:p>
            <a:r>
              <a:rPr lang="ja-JP" altLang="en-US" dirty="0"/>
              <a:t>アジェンダ</a:t>
            </a:r>
            <a:endParaRPr kumimoji="1" lang="ja-JP" altLang="en-US" dirty="0"/>
          </a:p>
        </p:txBody>
      </p:sp>
      <p:sp>
        <p:nvSpPr>
          <p:cNvPr id="3" name="テキスト プレースホルダー 2">
            <a:extLst>
              <a:ext uri="{FF2B5EF4-FFF2-40B4-BE49-F238E27FC236}">
                <a16:creationId xmlns:a16="http://schemas.microsoft.com/office/drawing/2014/main" id="{77A145C1-E3F3-4834-A1B3-063D26195325}"/>
              </a:ext>
            </a:extLst>
          </p:cNvPr>
          <p:cNvSpPr>
            <a:spLocks noGrp="1"/>
          </p:cNvSpPr>
          <p:nvPr>
            <p:ph type="body" idx="1"/>
          </p:nvPr>
        </p:nvSpPr>
        <p:spPr>
          <a:xfrm>
            <a:off x="540000" y="1800000"/>
            <a:ext cx="8543925" cy="4887664"/>
          </a:xfrm>
        </p:spPr>
        <p:txBody>
          <a:bodyPr>
            <a:normAutofit/>
          </a:bodyPr>
          <a:lstStyle/>
          <a:p>
            <a:pPr marL="360000" indent="-360000">
              <a:lnSpc>
                <a:spcPct val="150000"/>
              </a:lnSpc>
              <a:buFont typeface="Wingdings" panose="05000000000000000000" pitchFamily="2" charset="2"/>
              <a:buChar char="n"/>
            </a:pPr>
            <a:r>
              <a:rPr kumimoji="1" lang="ja-JP" altLang="en-US" sz="3200" dirty="0">
                <a:latin typeface="Meiryo UI" panose="020B0604030504040204" pitchFamily="50" charset="-128"/>
                <a:ea typeface="Meiryo UI" panose="020B0604030504040204" pitchFamily="50" charset="-128"/>
              </a:rPr>
              <a:t>研究の全体像</a:t>
            </a:r>
            <a:endParaRPr kumimoji="1" lang="en-US" altLang="ja-JP" sz="3200" dirty="0">
              <a:latin typeface="Meiryo UI" panose="020B0604030504040204" pitchFamily="50" charset="-128"/>
              <a:ea typeface="Meiryo UI" panose="020B0604030504040204" pitchFamily="50" charset="-128"/>
            </a:endParaRPr>
          </a:p>
          <a:p>
            <a:pPr marL="360000" indent="-360000">
              <a:lnSpc>
                <a:spcPct val="150000"/>
              </a:lnSpc>
              <a:buFont typeface="Wingdings" panose="05000000000000000000" pitchFamily="2" charset="2"/>
              <a:buChar char="n"/>
            </a:pPr>
            <a:r>
              <a:rPr kumimoji="1" lang="ja-JP" altLang="en-US" sz="3200" dirty="0">
                <a:latin typeface="Meiryo UI" panose="020B0604030504040204" pitchFamily="50" charset="-128"/>
                <a:ea typeface="Meiryo UI" panose="020B0604030504040204" pitchFamily="50" charset="-128"/>
              </a:rPr>
              <a:t>研究①</a:t>
            </a:r>
            <a:endParaRPr kumimoji="1" lang="en-US" altLang="ja-JP" sz="3200" dirty="0">
              <a:latin typeface="Meiryo UI" panose="020B0604030504040204" pitchFamily="50" charset="-128"/>
              <a:ea typeface="Meiryo UI" panose="020B0604030504040204" pitchFamily="50" charset="-128"/>
            </a:endParaRPr>
          </a:p>
          <a:p>
            <a:pPr marL="360000" indent="-360000">
              <a:lnSpc>
                <a:spcPct val="150000"/>
              </a:lnSpc>
              <a:buFont typeface="Wingdings" panose="05000000000000000000" pitchFamily="2" charset="2"/>
              <a:buChar char="n"/>
            </a:pPr>
            <a:r>
              <a:rPr lang="ja-JP" altLang="en-US" sz="3200" dirty="0"/>
              <a:t>研究②</a:t>
            </a:r>
            <a:endParaRPr lang="en-US" altLang="ja-JP" sz="3200" dirty="0"/>
          </a:p>
          <a:p>
            <a:pPr marL="360000" indent="-360000">
              <a:lnSpc>
                <a:spcPct val="150000"/>
              </a:lnSpc>
              <a:buFont typeface="Wingdings" panose="05000000000000000000" pitchFamily="2" charset="2"/>
              <a:buChar char="n"/>
            </a:pPr>
            <a:r>
              <a:rPr lang="ja-JP" altLang="en-US" sz="3200" dirty="0"/>
              <a:t>質問事項</a:t>
            </a:r>
            <a:endParaRPr lang="en-US" altLang="ja-JP" sz="3200" dirty="0"/>
          </a:p>
          <a:p>
            <a:pPr marL="360000" indent="-360000">
              <a:lnSpc>
                <a:spcPct val="150000"/>
              </a:lnSpc>
              <a:buFont typeface="Wingdings" panose="05000000000000000000" pitchFamily="2" charset="2"/>
              <a:buChar char="n"/>
            </a:pPr>
            <a:r>
              <a:rPr lang="ja-JP" altLang="en-US" sz="3200" dirty="0"/>
              <a:t>まとめ</a:t>
            </a:r>
            <a:endParaRPr lang="en-US" altLang="ja-JP" sz="3200" dirty="0"/>
          </a:p>
        </p:txBody>
      </p:sp>
      <p:sp>
        <p:nvSpPr>
          <p:cNvPr id="4" name="正方形/長方形 3">
            <a:extLst>
              <a:ext uri="{FF2B5EF4-FFF2-40B4-BE49-F238E27FC236}">
                <a16:creationId xmlns:a16="http://schemas.microsoft.com/office/drawing/2014/main" id="{75A71E79-2FA7-45C0-8FDE-692F529430F4}"/>
              </a:ext>
            </a:extLst>
          </p:cNvPr>
          <p:cNvSpPr/>
          <p:nvPr/>
        </p:nvSpPr>
        <p:spPr>
          <a:xfrm>
            <a:off x="419100" y="4812072"/>
            <a:ext cx="4940300" cy="598128"/>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研究後に作成予定</a:t>
            </a:r>
          </a:p>
        </p:txBody>
      </p:sp>
      <p:sp>
        <p:nvSpPr>
          <p:cNvPr id="5" name="スライド番号プレースホルダー 4">
            <a:extLst>
              <a:ext uri="{FF2B5EF4-FFF2-40B4-BE49-F238E27FC236}">
                <a16:creationId xmlns:a16="http://schemas.microsoft.com/office/drawing/2014/main" id="{4B234CBD-9478-4EF1-A6DD-4F4BD8AC5597}"/>
              </a:ext>
            </a:extLst>
          </p:cNvPr>
          <p:cNvSpPr>
            <a:spLocks noGrp="1"/>
          </p:cNvSpPr>
          <p:nvPr>
            <p:ph type="sldNum" sz="quarter" idx="12"/>
          </p:nvPr>
        </p:nvSpPr>
        <p:spPr/>
        <p:txBody>
          <a:bodyPr/>
          <a:lstStyle/>
          <a:p>
            <a:fld id="{4A0ABA21-04CE-4531-99B2-420D29D6D622}" type="slidenum">
              <a:rPr lang="ja-JP" altLang="en-US" smtClean="0"/>
              <a:pPr/>
              <a:t>2</a:t>
            </a:fld>
            <a:endParaRPr lang="ja-JP" altLang="en-US" dirty="0"/>
          </a:p>
        </p:txBody>
      </p:sp>
    </p:spTree>
    <p:extLst>
      <p:ext uri="{BB962C8B-B14F-4D97-AF65-F5344CB8AC3E}">
        <p14:creationId xmlns:p14="http://schemas.microsoft.com/office/powerpoint/2010/main" val="3270087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A6AA1F-41D3-47D2-854C-24CE2840D8D6}"/>
              </a:ext>
            </a:extLst>
          </p:cNvPr>
          <p:cNvSpPr>
            <a:spLocks noGrp="1"/>
          </p:cNvSpPr>
          <p:nvPr>
            <p:ph type="ctrTitle"/>
          </p:nvPr>
        </p:nvSpPr>
        <p:spPr/>
        <p:txBody>
          <a:bodyPr/>
          <a:lstStyle/>
          <a:p>
            <a:r>
              <a:rPr lang="ja-JP" altLang="en-US" dirty="0"/>
              <a:t>研究の全体像</a:t>
            </a:r>
            <a:endParaRPr kumimoji="1" lang="ja-JP" altLang="en-US" dirty="0"/>
          </a:p>
        </p:txBody>
      </p:sp>
      <p:sp>
        <p:nvSpPr>
          <p:cNvPr id="4" name="字幕 3">
            <a:extLst>
              <a:ext uri="{FF2B5EF4-FFF2-40B4-BE49-F238E27FC236}">
                <a16:creationId xmlns:a16="http://schemas.microsoft.com/office/drawing/2014/main" id="{7B5E382D-F406-4897-860B-608F2F43426B}"/>
              </a:ext>
            </a:extLst>
          </p:cNvPr>
          <p:cNvSpPr>
            <a:spLocks noGrp="1"/>
          </p:cNvSpPr>
          <p:nvPr>
            <p:ph type="subTitle" idx="1"/>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844B1C0E-97AB-4306-8FDD-E38A1C53653B}"/>
              </a:ext>
            </a:extLst>
          </p:cNvPr>
          <p:cNvSpPr>
            <a:spLocks noGrp="1"/>
          </p:cNvSpPr>
          <p:nvPr>
            <p:ph type="sldNum" sz="quarter" idx="12"/>
          </p:nvPr>
        </p:nvSpPr>
        <p:spPr/>
        <p:txBody>
          <a:bodyPr/>
          <a:lstStyle/>
          <a:p>
            <a:fld id="{4A0ABA21-04CE-4531-99B2-420D29D6D622}" type="slidenum">
              <a:rPr lang="ja-JP" altLang="en-US" smtClean="0"/>
              <a:pPr/>
              <a:t>3</a:t>
            </a:fld>
            <a:endParaRPr lang="ja-JP" altLang="en-US"/>
          </a:p>
        </p:txBody>
      </p:sp>
    </p:spTree>
    <p:extLst>
      <p:ext uri="{BB962C8B-B14F-4D97-AF65-F5344CB8AC3E}">
        <p14:creationId xmlns:p14="http://schemas.microsoft.com/office/powerpoint/2010/main" val="188743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BB0969-22D8-4B6C-87D5-4532537B5D89}"/>
              </a:ext>
            </a:extLst>
          </p:cNvPr>
          <p:cNvSpPr>
            <a:spLocks noGrp="1"/>
          </p:cNvSpPr>
          <p:nvPr>
            <p:ph type="title"/>
          </p:nvPr>
        </p:nvSpPr>
        <p:spPr>
          <a:xfrm>
            <a:off x="540000" y="360000"/>
            <a:ext cx="9022254" cy="720000"/>
          </a:xfrm>
        </p:spPr>
        <p:txBody>
          <a:bodyPr lIns="72000" tIns="72000" rIns="72000" bIns="72000">
            <a:normAutofit/>
          </a:bodyPr>
          <a:lstStyle/>
          <a:p>
            <a:r>
              <a:rPr lang="ja-JP" altLang="en-US" dirty="0"/>
              <a:t>研究の</a:t>
            </a:r>
            <a:r>
              <a:rPr lang="ja-JP" altLang="en-US" sz="3600" dirty="0">
                <a:latin typeface="Meiryo UI" panose="020B0604030504040204" pitchFamily="50" charset="-128"/>
                <a:ea typeface="Meiryo UI" panose="020B0604030504040204" pitchFamily="50" charset="-128"/>
              </a:rPr>
              <a:t>背景</a:t>
            </a:r>
            <a:endParaRPr kumimoji="1" lang="ja-JP" altLang="en-US" sz="3600"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66C1D5BF-675E-4F30-89AD-CFC745190F79}"/>
              </a:ext>
            </a:extLst>
          </p:cNvPr>
          <p:cNvSpPr>
            <a:spLocks noGrp="1"/>
          </p:cNvSpPr>
          <p:nvPr>
            <p:ph idx="4294967295"/>
          </p:nvPr>
        </p:nvSpPr>
        <p:spPr>
          <a:xfrm>
            <a:off x="540000" y="1080000"/>
            <a:ext cx="9144000" cy="817563"/>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当社では、</a:t>
            </a:r>
            <a:r>
              <a:rPr lang="en-US" altLang="ja-JP" sz="2000" b="1" dirty="0">
                <a:latin typeface="Meiryo UI" panose="020B0604030504040204" pitchFamily="50" charset="-128"/>
                <a:ea typeface="Meiryo UI" panose="020B0604030504040204" pitchFamily="50" charset="-128"/>
              </a:rPr>
              <a:t>D-VUE Service</a:t>
            </a:r>
            <a:r>
              <a:rPr lang="en-US" altLang="ja-JP" sz="2000" b="1" baseline="30000"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を通して、</a:t>
            </a:r>
            <a:r>
              <a:rPr lang="en-US" altLang="ja-JP" sz="2000" b="1" dirty="0">
                <a:latin typeface="Meiryo UI" panose="020B0604030504040204" pitchFamily="50" charset="-128"/>
                <a:ea typeface="Meiryo UI" panose="020B0604030504040204" pitchFamily="50" charset="-128"/>
              </a:rPr>
              <a:t>DX</a:t>
            </a:r>
            <a:r>
              <a:rPr lang="ja-JP" altLang="en-US" sz="2000" b="1" dirty="0">
                <a:latin typeface="Meiryo UI" panose="020B0604030504040204" pitchFamily="50" charset="-128"/>
                <a:ea typeface="Meiryo UI" panose="020B0604030504040204" pitchFamily="50" charset="-128"/>
              </a:rPr>
              <a:t>ビジネスの推進を目指しています。</a:t>
            </a:r>
            <a:endParaRPr lang="en-US" altLang="ja-JP" sz="2000" b="1" dirty="0">
              <a:latin typeface="Meiryo UI" panose="020B0604030504040204" pitchFamily="50" charset="-128"/>
              <a:ea typeface="Meiryo UI" panose="020B0604030504040204" pitchFamily="50" charset="-128"/>
            </a:endParaRPr>
          </a:p>
          <a:p>
            <a:pPr marL="0" indent="0">
              <a:spcBef>
                <a:spcPts val="0"/>
              </a:spcBef>
              <a:buNone/>
            </a:pPr>
            <a:r>
              <a:rPr lang="ja-JP" altLang="en-US" sz="2000" b="1" dirty="0">
                <a:latin typeface="Meiryo UI" panose="020B0604030504040204" pitchFamily="50" charset="-128"/>
                <a:ea typeface="Meiryo UI" panose="020B0604030504040204" pitchFamily="50" charset="-128"/>
              </a:rPr>
              <a:t>そのため、機械学習の手法を理解して、様々な案件に対応することが必要です。</a:t>
            </a:r>
            <a:endParaRPr lang="en-US" altLang="ja-JP" sz="2000" b="1" dirty="0">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D449BF29-F8D2-4EC2-B725-FA581097F1FC}"/>
              </a:ext>
            </a:extLst>
          </p:cNvPr>
          <p:cNvSpPr/>
          <p:nvPr/>
        </p:nvSpPr>
        <p:spPr>
          <a:xfrm>
            <a:off x="4860000" y="2340000"/>
            <a:ext cx="4860000" cy="830997"/>
          </a:xfrm>
          <a:prstGeom prst="rect">
            <a:avLst/>
          </a:prstGeom>
        </p:spPr>
        <p:txBody>
          <a:bodyPr wrap="square">
            <a:spAutoFit/>
          </a:bodyPr>
          <a:lstStyle/>
          <a:p>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当社が保有する</a:t>
            </a:r>
            <a:r>
              <a:rPr lang="en-US" altLang="ja-JP" sz="1600" dirty="0">
                <a:latin typeface="Meiryo UI" panose="020B0604030504040204" pitchFamily="50" charset="-128"/>
                <a:ea typeface="Meiryo UI" panose="020B0604030504040204" pitchFamily="50" charset="-128"/>
              </a:rPr>
              <a:t>AI</a:t>
            </a:r>
            <a:r>
              <a:rPr lang="ja-JP" altLang="en-US" sz="1600" dirty="0">
                <a:latin typeface="Meiryo UI" panose="020B0604030504040204" pitchFamily="50" charset="-128"/>
                <a:ea typeface="Meiryo UI" panose="020B0604030504040204" pitchFamily="50" charset="-128"/>
              </a:rPr>
              <a:t>や統計の知見に基づき、お客様のビジネス課題に繋がるデータ分析と、分析結果の「見える化」をワンストップで行うサービスの名称</a:t>
            </a:r>
          </a:p>
        </p:txBody>
      </p:sp>
      <p:sp>
        <p:nvSpPr>
          <p:cNvPr id="11" name="テキスト ボックス 10">
            <a:extLst>
              <a:ext uri="{FF2B5EF4-FFF2-40B4-BE49-F238E27FC236}">
                <a16:creationId xmlns:a16="http://schemas.microsoft.com/office/drawing/2014/main" id="{2E9FC16E-3015-42D3-B954-B0B3E0B862D5}"/>
              </a:ext>
            </a:extLst>
          </p:cNvPr>
          <p:cNvSpPr txBox="1"/>
          <p:nvPr/>
        </p:nvSpPr>
        <p:spPr>
          <a:xfrm>
            <a:off x="1548201" y="1980000"/>
            <a:ext cx="2875766" cy="369332"/>
          </a:xfrm>
          <a:prstGeom prst="rect">
            <a:avLst/>
          </a:prstGeom>
          <a:noFill/>
        </p:spPr>
        <p:txBody>
          <a:bodyPr wrap="square" rtlCol="0">
            <a:spAutoFit/>
          </a:bodyPr>
          <a:lstStyle/>
          <a:p>
            <a:r>
              <a:rPr lang="en-US" altLang="ja-JP" b="1" dirty="0">
                <a:latin typeface="Meiryo UI" panose="020B0604030504040204" pitchFamily="50" charset="-128"/>
                <a:ea typeface="Meiryo UI" panose="020B0604030504040204" pitchFamily="50" charset="-128"/>
              </a:rPr>
              <a:t>D-VUE Service </a:t>
            </a:r>
            <a:r>
              <a:rPr lang="ja-JP" altLang="en-US" b="1" dirty="0">
                <a:latin typeface="Meiryo UI" panose="020B0604030504040204" pitchFamily="50" charset="-128"/>
                <a:ea typeface="Meiryo UI" panose="020B0604030504040204" pitchFamily="50" charset="-128"/>
              </a:rPr>
              <a:t>　全体像</a:t>
            </a:r>
          </a:p>
        </p:txBody>
      </p:sp>
      <p:pic>
        <p:nvPicPr>
          <p:cNvPr id="14" name="図 13">
            <a:extLst>
              <a:ext uri="{FF2B5EF4-FFF2-40B4-BE49-F238E27FC236}">
                <a16:creationId xmlns:a16="http://schemas.microsoft.com/office/drawing/2014/main" id="{C57A6C8D-3331-4C64-A637-F9309E3B195C}"/>
              </a:ext>
            </a:extLst>
          </p:cNvPr>
          <p:cNvPicPr>
            <a:picLocks noChangeAspect="1"/>
          </p:cNvPicPr>
          <p:nvPr/>
        </p:nvPicPr>
        <p:blipFill rotWithShape="1">
          <a:blip r:embed="rId2"/>
          <a:srcRect l="23684" t="19279" r="47047" b="16537"/>
          <a:stretch/>
        </p:blipFill>
        <p:spPr>
          <a:xfrm>
            <a:off x="1120769" y="2340000"/>
            <a:ext cx="3730631" cy="4379158"/>
          </a:xfrm>
          <a:prstGeom prst="rect">
            <a:avLst/>
          </a:prstGeom>
        </p:spPr>
      </p:pic>
      <p:sp>
        <p:nvSpPr>
          <p:cNvPr id="4" name="スライド番号プレースホルダー 3">
            <a:extLst>
              <a:ext uri="{FF2B5EF4-FFF2-40B4-BE49-F238E27FC236}">
                <a16:creationId xmlns:a16="http://schemas.microsoft.com/office/drawing/2014/main" id="{C6CFF96B-6133-45E8-8E24-0CEDFA72939A}"/>
              </a:ext>
            </a:extLst>
          </p:cNvPr>
          <p:cNvSpPr>
            <a:spLocks noGrp="1"/>
          </p:cNvSpPr>
          <p:nvPr>
            <p:ph type="sldNum" sz="quarter" idx="12"/>
          </p:nvPr>
        </p:nvSpPr>
        <p:spPr/>
        <p:txBody>
          <a:bodyPr/>
          <a:lstStyle/>
          <a:p>
            <a:fld id="{4A0ABA21-04CE-4531-99B2-420D29D6D622}" type="slidenum">
              <a:rPr lang="ja-JP" altLang="en-US" smtClean="0"/>
              <a:pPr/>
              <a:t>4</a:t>
            </a:fld>
            <a:endParaRPr lang="ja-JP" altLang="en-US" dirty="0"/>
          </a:p>
        </p:txBody>
      </p:sp>
    </p:spTree>
    <p:extLst>
      <p:ext uri="{BB962C8B-B14F-4D97-AF65-F5344CB8AC3E}">
        <p14:creationId xmlns:p14="http://schemas.microsoft.com/office/powerpoint/2010/main" val="2390227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7B30D9-1918-4656-B4E6-7A1B74E52381}"/>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研究の目的</a:t>
            </a:r>
          </a:p>
        </p:txBody>
      </p:sp>
      <p:sp>
        <p:nvSpPr>
          <p:cNvPr id="14" name="コンテンツ プレースホルダー 2">
            <a:extLst>
              <a:ext uri="{FF2B5EF4-FFF2-40B4-BE49-F238E27FC236}">
                <a16:creationId xmlns:a16="http://schemas.microsoft.com/office/drawing/2014/main" id="{6EE7A4A2-F79B-4871-AC7B-9C740CD854D7}"/>
              </a:ext>
            </a:extLst>
          </p:cNvPr>
          <p:cNvSpPr>
            <a:spLocks noGrp="1"/>
          </p:cNvSpPr>
          <p:nvPr>
            <p:ph idx="4294967295"/>
          </p:nvPr>
        </p:nvSpPr>
        <p:spPr>
          <a:xfrm>
            <a:off x="540000" y="1080000"/>
            <a:ext cx="9144000" cy="652463"/>
          </a:xfrm>
          <a:prstGeom prst="rect">
            <a:avLst/>
          </a:prstGeom>
        </p:spPr>
        <p:txBody>
          <a:bodyPr lIns="72000" tIns="72000" rIns="72000" bIns="72000">
            <a:noAutofit/>
          </a:bodyPr>
          <a:lstStyle/>
          <a:p>
            <a:pPr marL="0" indent="0">
              <a:spcBef>
                <a:spcPts val="0"/>
              </a:spcBef>
              <a:buNone/>
            </a:pPr>
            <a:r>
              <a:rPr lang="en-US" altLang="ja-JP" sz="2000" b="1" dirty="0">
                <a:latin typeface="Meiryo UI" panose="020B0604030504040204" pitchFamily="50" charset="-128"/>
                <a:ea typeface="Meiryo UI" panose="020B0604030504040204" pitchFamily="50" charset="-128"/>
              </a:rPr>
              <a:t>DX</a:t>
            </a:r>
            <a:r>
              <a:rPr lang="ja-JP" altLang="en-US" sz="2000" b="1" dirty="0">
                <a:latin typeface="Meiryo UI" panose="020B0604030504040204" pitchFamily="50" charset="-128"/>
                <a:ea typeface="Meiryo UI" panose="020B0604030504040204" pitchFamily="50" charset="-128"/>
              </a:rPr>
              <a:t>ビジネス推進の中、</a:t>
            </a:r>
            <a:r>
              <a:rPr lang="en-US" altLang="ja-JP" sz="2000" b="1" dirty="0">
                <a:latin typeface="Meiryo UI" panose="020B0604030504040204" pitchFamily="50" charset="-128"/>
                <a:ea typeface="Meiryo UI" panose="020B0604030504040204" pitchFamily="50" charset="-128"/>
              </a:rPr>
              <a:t>D-VUE Service</a:t>
            </a:r>
            <a:r>
              <a:rPr lang="ja-JP" altLang="en-US" sz="2000" b="1" dirty="0">
                <a:latin typeface="Meiryo UI" panose="020B0604030504040204" pitchFamily="50" charset="-128"/>
                <a:ea typeface="Meiryo UI" panose="020B0604030504040204" pitchFamily="50" charset="-128"/>
              </a:rPr>
              <a:t>に該当するテキストマイニング案件が増えることが想定されるため、テキストマイニングに応用可能なクラスタリングを調査研究します。</a:t>
            </a:r>
            <a:endParaRPr lang="en-US" altLang="ja-JP" sz="2000" b="1" dirty="0">
              <a:latin typeface="Meiryo UI" panose="020B0604030504040204" pitchFamily="50" charset="-128"/>
              <a:ea typeface="Meiryo UI" panose="020B0604030504040204" pitchFamily="50" charset="-128"/>
            </a:endParaRPr>
          </a:p>
        </p:txBody>
      </p:sp>
      <p:sp>
        <p:nvSpPr>
          <p:cNvPr id="74" name="テキスト ボックス 73">
            <a:extLst>
              <a:ext uri="{FF2B5EF4-FFF2-40B4-BE49-F238E27FC236}">
                <a16:creationId xmlns:a16="http://schemas.microsoft.com/office/drawing/2014/main" id="{40F2D1E4-5C0A-42A5-893C-CB4FFF94B1B0}"/>
              </a:ext>
            </a:extLst>
          </p:cNvPr>
          <p:cNvSpPr txBox="1"/>
          <p:nvPr/>
        </p:nvSpPr>
        <p:spPr>
          <a:xfrm>
            <a:off x="4860000" y="2340000"/>
            <a:ext cx="4860000" cy="1323439"/>
          </a:xfrm>
          <a:prstGeom prst="rect">
            <a:avLst/>
          </a:prstGeom>
          <a:noFill/>
        </p:spPr>
        <p:txBody>
          <a:bodyPr wrap="square" rtlCol="0">
            <a:spAutoFit/>
          </a:bodyPr>
          <a:lstStyle/>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過去に顧客からのご相談としてテキストデータの分類の話が出ることがあり、テキストデータの分類のためにクラスタリングを使う案件が今後発生すると考えられます。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上記の理由から、本研究ではテキストデータの分類に使用するクラスタリングに着目します。</a:t>
            </a:r>
          </a:p>
        </p:txBody>
      </p:sp>
      <p:pic>
        <p:nvPicPr>
          <p:cNvPr id="16" name="図 15">
            <a:extLst>
              <a:ext uri="{FF2B5EF4-FFF2-40B4-BE49-F238E27FC236}">
                <a16:creationId xmlns:a16="http://schemas.microsoft.com/office/drawing/2014/main" id="{DB914250-0F21-40A3-8139-2D43C2A3DB7E}"/>
              </a:ext>
            </a:extLst>
          </p:cNvPr>
          <p:cNvPicPr>
            <a:picLocks noChangeAspect="1"/>
          </p:cNvPicPr>
          <p:nvPr/>
        </p:nvPicPr>
        <p:blipFill rotWithShape="1">
          <a:blip r:embed="rId2"/>
          <a:srcRect l="23684" t="19279" r="47047" b="16537"/>
          <a:stretch/>
        </p:blipFill>
        <p:spPr>
          <a:xfrm>
            <a:off x="1120769" y="2340000"/>
            <a:ext cx="3730631" cy="4379158"/>
          </a:xfrm>
          <a:prstGeom prst="rect">
            <a:avLst/>
          </a:prstGeom>
        </p:spPr>
      </p:pic>
      <p:sp>
        <p:nvSpPr>
          <p:cNvPr id="3" name="正方形/長方形 2">
            <a:extLst>
              <a:ext uri="{FF2B5EF4-FFF2-40B4-BE49-F238E27FC236}">
                <a16:creationId xmlns:a16="http://schemas.microsoft.com/office/drawing/2014/main" id="{C2C73E50-EE9D-47DD-8259-26D9A7348B0F}"/>
              </a:ext>
            </a:extLst>
          </p:cNvPr>
          <p:cNvSpPr/>
          <p:nvPr/>
        </p:nvSpPr>
        <p:spPr>
          <a:xfrm>
            <a:off x="3681662" y="4957010"/>
            <a:ext cx="1169737" cy="177145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2647F7A4-6822-455A-9D03-533BC1E6DD7E}"/>
              </a:ext>
            </a:extLst>
          </p:cNvPr>
          <p:cNvSpPr/>
          <p:nvPr/>
        </p:nvSpPr>
        <p:spPr>
          <a:xfrm>
            <a:off x="6454205" y="5136044"/>
            <a:ext cx="1671589" cy="40016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ja-JP" altLang="en-US" sz="1600" b="1" dirty="0">
                <a:solidFill>
                  <a:prstClr val="white"/>
                </a:solidFill>
                <a:latin typeface="Meiryo UI" panose="020B0604030504040204" pitchFamily="50" charset="-128"/>
                <a:ea typeface="Meiryo UI" panose="020B0604030504040204" pitchFamily="50" charset="-128"/>
              </a:rPr>
              <a:t>クラスター</a:t>
            </a:r>
            <a:r>
              <a:rPr lang="en-US" altLang="ja-JP" sz="1600" b="1" dirty="0">
                <a:solidFill>
                  <a:prstClr val="white"/>
                </a:solidFill>
                <a:latin typeface="Meiryo UI" panose="020B0604030504040204" pitchFamily="50" charset="-128"/>
                <a:ea typeface="Meiryo UI" panose="020B0604030504040204" pitchFamily="50" charset="-128"/>
              </a:rPr>
              <a:t>A</a:t>
            </a:r>
            <a:endParaRPr lang="ja-JP" altLang="en-US" sz="1600" b="1" dirty="0">
              <a:solidFill>
                <a:prstClr val="white"/>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A3936094-D496-403D-8355-C1C3403BB7E0}"/>
              </a:ext>
            </a:extLst>
          </p:cNvPr>
          <p:cNvSpPr/>
          <p:nvPr/>
        </p:nvSpPr>
        <p:spPr>
          <a:xfrm>
            <a:off x="6469445" y="5541675"/>
            <a:ext cx="1645200" cy="300012"/>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b="1" dirty="0">
              <a:solidFill>
                <a:srgbClr val="ED7D31"/>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EFAA0519-BEA2-4AAF-AFFC-E77515407DC9}"/>
              </a:ext>
            </a:extLst>
          </p:cNvPr>
          <p:cNvSpPr/>
          <p:nvPr/>
        </p:nvSpPr>
        <p:spPr>
          <a:xfrm>
            <a:off x="6454205" y="6097837"/>
            <a:ext cx="1671589" cy="40016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ja-JP" altLang="en-US" sz="1600" b="1" dirty="0">
                <a:solidFill>
                  <a:prstClr val="white"/>
                </a:solidFill>
                <a:latin typeface="Meiryo UI" panose="020B0604030504040204" pitchFamily="50" charset="-128"/>
                <a:ea typeface="Meiryo UI" panose="020B0604030504040204" pitchFamily="50" charset="-128"/>
              </a:rPr>
              <a:t>クラスター</a:t>
            </a:r>
            <a:r>
              <a:rPr lang="en-US" altLang="ja-JP" sz="1600" b="1" dirty="0">
                <a:solidFill>
                  <a:prstClr val="white"/>
                </a:solidFill>
                <a:latin typeface="Meiryo UI" panose="020B0604030504040204" pitchFamily="50" charset="-128"/>
                <a:ea typeface="Meiryo UI" panose="020B0604030504040204" pitchFamily="50" charset="-128"/>
              </a:rPr>
              <a:t>B</a:t>
            </a:r>
            <a:endParaRPr lang="ja-JP" altLang="en-US" sz="1600" b="1" dirty="0">
              <a:solidFill>
                <a:prstClr val="white"/>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A7430236-CAAA-4E78-A815-616071722915}"/>
              </a:ext>
            </a:extLst>
          </p:cNvPr>
          <p:cNvSpPr/>
          <p:nvPr/>
        </p:nvSpPr>
        <p:spPr>
          <a:xfrm>
            <a:off x="6469445" y="6508814"/>
            <a:ext cx="1645200" cy="300012"/>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b="1" dirty="0">
              <a:solidFill>
                <a:srgbClr val="ED7D31"/>
              </a:solidFill>
              <a:latin typeface="Meiryo UI" panose="020B0604030504040204" pitchFamily="50" charset="-128"/>
              <a:ea typeface="Meiryo UI" panose="020B0604030504040204" pitchFamily="50" charset="-128"/>
            </a:endParaRPr>
          </a:p>
        </p:txBody>
      </p:sp>
      <p:pic>
        <p:nvPicPr>
          <p:cNvPr id="29" name="グラフィックス 28" descr="チェックリスト">
            <a:extLst>
              <a:ext uri="{FF2B5EF4-FFF2-40B4-BE49-F238E27FC236}">
                <a16:creationId xmlns:a16="http://schemas.microsoft.com/office/drawing/2014/main" id="{095E24FC-8819-4E3B-B05E-9D2D4C1572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51428" y="6512137"/>
            <a:ext cx="299077" cy="299077"/>
          </a:xfrm>
          <a:prstGeom prst="rect">
            <a:avLst/>
          </a:prstGeom>
        </p:spPr>
      </p:pic>
      <p:pic>
        <p:nvPicPr>
          <p:cNvPr id="30" name="グラフィックス 29" descr="チェックリスト">
            <a:extLst>
              <a:ext uri="{FF2B5EF4-FFF2-40B4-BE49-F238E27FC236}">
                <a16:creationId xmlns:a16="http://schemas.microsoft.com/office/drawing/2014/main" id="{A06796F1-25D9-4EE1-AABD-9DC655AC91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48240" y="6512137"/>
            <a:ext cx="299077" cy="299077"/>
          </a:xfrm>
          <a:prstGeom prst="rect">
            <a:avLst/>
          </a:prstGeom>
        </p:spPr>
      </p:pic>
      <p:pic>
        <p:nvPicPr>
          <p:cNvPr id="31" name="グラフィックス 30" descr="リスト">
            <a:extLst>
              <a:ext uri="{FF2B5EF4-FFF2-40B4-BE49-F238E27FC236}">
                <a16:creationId xmlns:a16="http://schemas.microsoft.com/office/drawing/2014/main" id="{F92EBBBD-898B-4740-BB47-F8DEAF367B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1428" y="5545155"/>
            <a:ext cx="299077" cy="299077"/>
          </a:xfrm>
          <a:prstGeom prst="rect">
            <a:avLst/>
          </a:prstGeom>
        </p:spPr>
      </p:pic>
      <p:pic>
        <p:nvPicPr>
          <p:cNvPr id="32" name="グラフィックス 31" descr="リスト">
            <a:extLst>
              <a:ext uri="{FF2B5EF4-FFF2-40B4-BE49-F238E27FC236}">
                <a16:creationId xmlns:a16="http://schemas.microsoft.com/office/drawing/2014/main" id="{369A88AC-EB8E-4D86-88B4-1BCEFC8C56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0051" y="5545155"/>
            <a:ext cx="299077" cy="299077"/>
          </a:xfrm>
          <a:prstGeom prst="rect">
            <a:avLst/>
          </a:prstGeom>
        </p:spPr>
      </p:pic>
      <p:pic>
        <p:nvPicPr>
          <p:cNvPr id="33" name="グラフィックス 32" descr="チェックリスト">
            <a:extLst>
              <a:ext uri="{FF2B5EF4-FFF2-40B4-BE49-F238E27FC236}">
                <a16:creationId xmlns:a16="http://schemas.microsoft.com/office/drawing/2014/main" id="{2C6D74EB-BF63-4FB5-9FAA-23D0876855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52" y="6512137"/>
            <a:ext cx="299077" cy="299077"/>
          </a:xfrm>
          <a:prstGeom prst="rect">
            <a:avLst/>
          </a:prstGeom>
        </p:spPr>
      </p:pic>
      <p:pic>
        <p:nvPicPr>
          <p:cNvPr id="34" name="グラフィックス 33" descr="チェックリスト">
            <a:extLst>
              <a:ext uri="{FF2B5EF4-FFF2-40B4-BE49-F238E27FC236}">
                <a16:creationId xmlns:a16="http://schemas.microsoft.com/office/drawing/2014/main" id="{BEED6D14-1896-4F29-BC6B-B48323D1C2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41864" y="6512137"/>
            <a:ext cx="299077" cy="299077"/>
          </a:xfrm>
          <a:prstGeom prst="rect">
            <a:avLst/>
          </a:prstGeom>
        </p:spPr>
      </p:pic>
      <p:pic>
        <p:nvPicPr>
          <p:cNvPr id="35" name="グラフィックス 34" descr="リスト">
            <a:extLst>
              <a:ext uri="{FF2B5EF4-FFF2-40B4-BE49-F238E27FC236}">
                <a16:creationId xmlns:a16="http://schemas.microsoft.com/office/drawing/2014/main" id="{3232E06B-AEE5-4C7A-B661-F9C9B8B389A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8674" y="5545155"/>
            <a:ext cx="299077" cy="299077"/>
          </a:xfrm>
          <a:prstGeom prst="rect">
            <a:avLst/>
          </a:prstGeom>
        </p:spPr>
      </p:pic>
      <p:pic>
        <p:nvPicPr>
          <p:cNvPr id="36" name="グラフィックス 35" descr="リスト">
            <a:extLst>
              <a:ext uri="{FF2B5EF4-FFF2-40B4-BE49-F238E27FC236}">
                <a16:creationId xmlns:a16="http://schemas.microsoft.com/office/drawing/2014/main" id="{AD3D9927-3739-4EF5-BB93-9E777BD83BF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47297" y="5545155"/>
            <a:ext cx="299077" cy="299077"/>
          </a:xfrm>
          <a:prstGeom prst="rect">
            <a:avLst/>
          </a:prstGeom>
        </p:spPr>
      </p:pic>
      <p:pic>
        <p:nvPicPr>
          <p:cNvPr id="37" name="グラフィックス 36" descr="チェックリスト">
            <a:extLst>
              <a:ext uri="{FF2B5EF4-FFF2-40B4-BE49-F238E27FC236}">
                <a16:creationId xmlns:a16="http://schemas.microsoft.com/office/drawing/2014/main" id="{A5A8819F-F665-4B10-A385-31A75EB104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38674" y="6512137"/>
            <a:ext cx="299077" cy="299077"/>
          </a:xfrm>
          <a:prstGeom prst="rect">
            <a:avLst/>
          </a:prstGeom>
        </p:spPr>
      </p:pic>
      <p:pic>
        <p:nvPicPr>
          <p:cNvPr id="38" name="グラフィックス 37" descr="リスト">
            <a:extLst>
              <a:ext uri="{FF2B5EF4-FFF2-40B4-BE49-F238E27FC236}">
                <a16:creationId xmlns:a16="http://schemas.microsoft.com/office/drawing/2014/main" id="{DA0A09FD-A6C1-43C4-A26B-8F2533783F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45920" y="5545155"/>
            <a:ext cx="299077" cy="299077"/>
          </a:xfrm>
          <a:prstGeom prst="rect">
            <a:avLst/>
          </a:prstGeom>
        </p:spPr>
      </p:pic>
      <p:sp>
        <p:nvSpPr>
          <p:cNvPr id="11" name="テキスト ボックス 10">
            <a:extLst>
              <a:ext uri="{FF2B5EF4-FFF2-40B4-BE49-F238E27FC236}">
                <a16:creationId xmlns:a16="http://schemas.microsoft.com/office/drawing/2014/main" id="{1606F706-1CC3-4AFB-BFB7-7F98B3CF42D8}"/>
              </a:ext>
            </a:extLst>
          </p:cNvPr>
          <p:cNvSpPr txBox="1"/>
          <p:nvPr/>
        </p:nvSpPr>
        <p:spPr>
          <a:xfrm>
            <a:off x="5156559" y="4780538"/>
            <a:ext cx="4405695"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クラスタリングを行うことで、テキストデータを自動分類</a:t>
            </a:r>
          </a:p>
        </p:txBody>
      </p:sp>
      <p:cxnSp>
        <p:nvCxnSpPr>
          <p:cNvPr id="13" name="コネクタ: カギ線 12">
            <a:extLst>
              <a:ext uri="{FF2B5EF4-FFF2-40B4-BE49-F238E27FC236}">
                <a16:creationId xmlns:a16="http://schemas.microsoft.com/office/drawing/2014/main" id="{F580F941-D8C7-4116-A194-978EFE679718}"/>
              </a:ext>
            </a:extLst>
          </p:cNvPr>
          <p:cNvCxnSpPr>
            <a:cxnSpLocks/>
            <a:stCxn id="3" idx="3"/>
            <a:endCxn id="25" idx="1"/>
          </p:cNvCxnSpPr>
          <p:nvPr/>
        </p:nvCxnSpPr>
        <p:spPr>
          <a:xfrm flipV="1">
            <a:off x="4851399" y="5336126"/>
            <a:ext cx="1602806" cy="506613"/>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337926DF-3992-4750-8C10-F23026DCFE7B}"/>
              </a:ext>
            </a:extLst>
          </p:cNvPr>
          <p:cNvCxnSpPr>
            <a:cxnSpLocks/>
            <a:stCxn id="3" idx="3"/>
            <a:endCxn id="27" idx="1"/>
          </p:cNvCxnSpPr>
          <p:nvPr/>
        </p:nvCxnSpPr>
        <p:spPr>
          <a:xfrm>
            <a:off x="4851399" y="5842739"/>
            <a:ext cx="1602806" cy="455180"/>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03AC7C2F-DC07-44E8-B198-18FF4FD04624}"/>
              </a:ext>
            </a:extLst>
          </p:cNvPr>
          <p:cNvSpPr txBox="1"/>
          <p:nvPr/>
        </p:nvSpPr>
        <p:spPr>
          <a:xfrm>
            <a:off x="1548201" y="1980000"/>
            <a:ext cx="2875766" cy="369332"/>
          </a:xfrm>
          <a:prstGeom prst="rect">
            <a:avLst/>
          </a:prstGeom>
          <a:noFill/>
        </p:spPr>
        <p:txBody>
          <a:bodyPr wrap="square" rtlCol="0">
            <a:spAutoFit/>
          </a:bodyPr>
          <a:lstStyle/>
          <a:p>
            <a:r>
              <a:rPr lang="en-US" altLang="ja-JP" b="1" dirty="0">
                <a:latin typeface="Meiryo UI" panose="020B0604030504040204" pitchFamily="50" charset="-128"/>
                <a:ea typeface="Meiryo UI" panose="020B0604030504040204" pitchFamily="50" charset="-128"/>
              </a:rPr>
              <a:t>D-VUE Service </a:t>
            </a:r>
            <a:r>
              <a:rPr lang="ja-JP" altLang="en-US" b="1" dirty="0">
                <a:latin typeface="Meiryo UI" panose="020B0604030504040204" pitchFamily="50" charset="-128"/>
                <a:ea typeface="Meiryo UI" panose="020B0604030504040204" pitchFamily="50" charset="-128"/>
              </a:rPr>
              <a:t>　全体像</a:t>
            </a:r>
          </a:p>
        </p:txBody>
      </p:sp>
      <p:sp>
        <p:nvSpPr>
          <p:cNvPr id="4" name="スライド番号プレースホルダー 3">
            <a:extLst>
              <a:ext uri="{FF2B5EF4-FFF2-40B4-BE49-F238E27FC236}">
                <a16:creationId xmlns:a16="http://schemas.microsoft.com/office/drawing/2014/main" id="{53B2E851-D29F-4828-AD9F-CF04A6163662}"/>
              </a:ext>
            </a:extLst>
          </p:cNvPr>
          <p:cNvSpPr>
            <a:spLocks noGrp="1"/>
          </p:cNvSpPr>
          <p:nvPr>
            <p:ph type="sldNum" sz="quarter" idx="12"/>
          </p:nvPr>
        </p:nvSpPr>
        <p:spPr/>
        <p:txBody>
          <a:bodyPr/>
          <a:lstStyle/>
          <a:p>
            <a:fld id="{4A0ABA21-04CE-4531-99B2-420D29D6D622}" type="slidenum">
              <a:rPr lang="ja-JP" altLang="en-US" smtClean="0"/>
              <a:pPr/>
              <a:t>5</a:t>
            </a:fld>
            <a:endParaRPr lang="ja-JP" altLang="en-US" dirty="0"/>
          </a:p>
        </p:txBody>
      </p:sp>
    </p:spTree>
    <p:extLst>
      <p:ext uri="{BB962C8B-B14F-4D97-AF65-F5344CB8AC3E}">
        <p14:creationId xmlns:p14="http://schemas.microsoft.com/office/powerpoint/2010/main" val="1781484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B79347-0673-4226-9B03-DF1AB3C4F1AD}"/>
              </a:ext>
            </a:extLst>
          </p:cNvPr>
          <p:cNvSpPr>
            <a:spLocks noGrp="1"/>
          </p:cNvSpPr>
          <p:nvPr>
            <p:ph type="title"/>
          </p:nvPr>
        </p:nvSpPr>
        <p:spPr/>
        <p:txBody>
          <a:bodyPr lIns="72000" tIns="72000" rIns="72000" bIns="72000"/>
          <a:lstStyle/>
          <a:p>
            <a:r>
              <a:rPr kumimoji="1" lang="ja-JP" altLang="en-US" dirty="0"/>
              <a:t>全体スケジュール</a:t>
            </a:r>
          </a:p>
        </p:txBody>
      </p:sp>
      <p:sp>
        <p:nvSpPr>
          <p:cNvPr id="3" name="テキスト プレースホルダー 2">
            <a:extLst>
              <a:ext uri="{FF2B5EF4-FFF2-40B4-BE49-F238E27FC236}">
                <a16:creationId xmlns:a16="http://schemas.microsoft.com/office/drawing/2014/main" id="{6E23EBDF-EEC5-4CC8-B82B-734BD591A48E}"/>
              </a:ext>
            </a:extLst>
          </p:cNvPr>
          <p:cNvSpPr>
            <a:spLocks noGrp="1"/>
          </p:cNvSpPr>
          <p:nvPr>
            <p:ph type="body" idx="1"/>
          </p:nvPr>
        </p:nvSpPr>
        <p:spPr>
          <a:xfrm>
            <a:off x="539999" y="1080000"/>
            <a:ext cx="9144000" cy="684000"/>
          </a:xfrm>
        </p:spPr>
        <p:txBody>
          <a:bodyPr lIns="72000" tIns="72000" rIns="72000" bIns="72000">
            <a:normAutofit/>
          </a:bodyPr>
          <a:lstStyle/>
          <a:p>
            <a:r>
              <a:rPr kumimoji="1" lang="ja-JP" altLang="en-US" b="1" dirty="0"/>
              <a:t>辻元と今井の</a:t>
            </a:r>
            <a:r>
              <a:rPr kumimoji="1" lang="en-US" altLang="ja-JP" b="1" dirty="0"/>
              <a:t>2</a:t>
            </a:r>
            <a:r>
              <a:rPr kumimoji="1" lang="ja-JP" altLang="en-US" b="1" dirty="0"/>
              <a:t>人で</a:t>
            </a:r>
            <a:r>
              <a:rPr kumimoji="1" lang="en-US" altLang="ja-JP" b="1" dirty="0"/>
              <a:t>2</a:t>
            </a:r>
            <a:r>
              <a:rPr lang="ja-JP" altLang="en-US" dirty="0"/>
              <a:t>種類</a:t>
            </a:r>
            <a:r>
              <a:rPr kumimoji="1" lang="ja-JP" altLang="en-US" b="1" dirty="0"/>
              <a:t>の研究を進め、</a:t>
            </a:r>
            <a:r>
              <a:rPr lang="en-US" altLang="ja-JP" b="1" dirty="0"/>
              <a:t>10</a:t>
            </a:r>
            <a:r>
              <a:rPr lang="ja-JP" altLang="en-US" b="1" dirty="0"/>
              <a:t>月に結果報告を想定しています。</a:t>
            </a:r>
            <a:endParaRPr kumimoji="1" lang="ja-JP" altLang="en-US" b="1" dirty="0"/>
          </a:p>
        </p:txBody>
      </p:sp>
      <p:graphicFrame>
        <p:nvGraphicFramePr>
          <p:cNvPr id="5" name="表 4">
            <a:extLst>
              <a:ext uri="{FF2B5EF4-FFF2-40B4-BE49-F238E27FC236}">
                <a16:creationId xmlns:a16="http://schemas.microsoft.com/office/drawing/2014/main" id="{F53070DF-2086-48F2-B415-F6E506F8F374}"/>
              </a:ext>
            </a:extLst>
          </p:cNvPr>
          <p:cNvGraphicFramePr>
            <a:graphicFrameLocks noGrp="1"/>
          </p:cNvGraphicFramePr>
          <p:nvPr>
            <p:extLst>
              <p:ext uri="{D42A27DB-BD31-4B8C-83A1-F6EECF244321}">
                <p14:modId xmlns:p14="http://schemas.microsoft.com/office/powerpoint/2010/main" val="3559906807"/>
              </p:ext>
            </p:extLst>
          </p:nvPr>
        </p:nvGraphicFramePr>
        <p:xfrm>
          <a:off x="540000" y="2340000"/>
          <a:ext cx="8486818" cy="2521409"/>
        </p:xfrm>
        <a:graphic>
          <a:graphicData uri="http://schemas.openxmlformats.org/drawingml/2006/table">
            <a:tbl>
              <a:tblPr firstRow="1" bandRow="1"/>
              <a:tblGrid>
                <a:gridCol w="1702818">
                  <a:extLst>
                    <a:ext uri="{9D8B030D-6E8A-4147-A177-3AD203B41FA5}">
                      <a16:colId xmlns:a16="http://schemas.microsoft.com/office/drawing/2014/main" val="20002"/>
                    </a:ext>
                  </a:extLst>
                </a:gridCol>
                <a:gridCol w="1696000">
                  <a:extLst>
                    <a:ext uri="{9D8B030D-6E8A-4147-A177-3AD203B41FA5}">
                      <a16:colId xmlns:a16="http://schemas.microsoft.com/office/drawing/2014/main" val="1542471521"/>
                    </a:ext>
                  </a:extLst>
                </a:gridCol>
                <a:gridCol w="1696000">
                  <a:extLst>
                    <a:ext uri="{9D8B030D-6E8A-4147-A177-3AD203B41FA5}">
                      <a16:colId xmlns:a16="http://schemas.microsoft.com/office/drawing/2014/main" val="2777058153"/>
                    </a:ext>
                  </a:extLst>
                </a:gridCol>
                <a:gridCol w="1696000">
                  <a:extLst>
                    <a:ext uri="{9D8B030D-6E8A-4147-A177-3AD203B41FA5}">
                      <a16:colId xmlns:a16="http://schemas.microsoft.com/office/drawing/2014/main" val="1493905779"/>
                    </a:ext>
                  </a:extLst>
                </a:gridCol>
                <a:gridCol w="1696000">
                  <a:extLst>
                    <a:ext uri="{9D8B030D-6E8A-4147-A177-3AD203B41FA5}">
                      <a16:colId xmlns:a16="http://schemas.microsoft.com/office/drawing/2014/main" val="1159177791"/>
                    </a:ext>
                  </a:extLst>
                </a:gridCol>
              </a:tblGrid>
              <a:tr h="357866">
                <a:tc>
                  <a:txBody>
                    <a:bodyPr/>
                    <a:lstStyle>
                      <a:lvl1pPr marL="0" algn="l" defTabSz="914400" rtl="0" eaLnBrk="1" latinLnBrk="0" hangingPunct="1">
                        <a:defRPr kumimoji="1" sz="1800" b="1" kern="1200">
                          <a:solidFill>
                            <a:schemeClr val="lt1"/>
                          </a:solidFill>
                          <a:latin typeface="Arial"/>
                          <a:ea typeface="ＭＳ Ｐゴシック"/>
                        </a:defRPr>
                      </a:lvl1pPr>
                      <a:lvl2pPr marL="457200" algn="l" defTabSz="914400" rtl="0" eaLnBrk="1" latinLnBrk="0" hangingPunct="1">
                        <a:defRPr kumimoji="1" sz="1800" b="1" kern="1200">
                          <a:solidFill>
                            <a:schemeClr val="lt1"/>
                          </a:solidFill>
                          <a:latin typeface="Arial"/>
                          <a:ea typeface="ＭＳ Ｐゴシック"/>
                        </a:defRPr>
                      </a:lvl2pPr>
                      <a:lvl3pPr marL="914400" algn="l" defTabSz="914400" rtl="0" eaLnBrk="1" latinLnBrk="0" hangingPunct="1">
                        <a:defRPr kumimoji="1" sz="1800" b="1" kern="1200">
                          <a:solidFill>
                            <a:schemeClr val="lt1"/>
                          </a:solidFill>
                          <a:latin typeface="Arial"/>
                          <a:ea typeface="ＭＳ Ｐゴシック"/>
                        </a:defRPr>
                      </a:lvl3pPr>
                      <a:lvl4pPr marL="1371600" algn="l" defTabSz="914400" rtl="0" eaLnBrk="1" latinLnBrk="0" hangingPunct="1">
                        <a:defRPr kumimoji="1" sz="1800" b="1" kern="1200">
                          <a:solidFill>
                            <a:schemeClr val="lt1"/>
                          </a:solidFill>
                          <a:latin typeface="Arial"/>
                          <a:ea typeface="ＭＳ Ｐゴシック"/>
                        </a:defRPr>
                      </a:lvl4pPr>
                      <a:lvl5pPr marL="1828800" algn="l" defTabSz="914400" rtl="0" eaLnBrk="1" latinLnBrk="0" hangingPunct="1">
                        <a:defRPr kumimoji="1" sz="1800" b="1" kern="1200">
                          <a:solidFill>
                            <a:schemeClr val="lt1"/>
                          </a:solidFill>
                          <a:latin typeface="Arial"/>
                          <a:ea typeface="ＭＳ Ｐゴシック"/>
                        </a:defRPr>
                      </a:lvl5pPr>
                      <a:lvl6pPr marL="2286000" algn="l" defTabSz="914400" rtl="0" eaLnBrk="1" latinLnBrk="0" hangingPunct="1">
                        <a:defRPr kumimoji="1" sz="1800" b="1" kern="1200">
                          <a:solidFill>
                            <a:schemeClr val="lt1"/>
                          </a:solidFill>
                          <a:latin typeface="Arial"/>
                          <a:ea typeface="ＭＳ Ｐゴシック"/>
                        </a:defRPr>
                      </a:lvl6pPr>
                      <a:lvl7pPr marL="2743200" algn="l" defTabSz="914400" rtl="0" eaLnBrk="1" latinLnBrk="0" hangingPunct="1">
                        <a:defRPr kumimoji="1" sz="1800" b="1" kern="1200">
                          <a:solidFill>
                            <a:schemeClr val="lt1"/>
                          </a:solidFill>
                          <a:latin typeface="Arial"/>
                          <a:ea typeface="ＭＳ Ｐゴシック"/>
                        </a:defRPr>
                      </a:lvl7pPr>
                      <a:lvl8pPr marL="3200400" algn="l" defTabSz="914400" rtl="0" eaLnBrk="1" latinLnBrk="0" hangingPunct="1">
                        <a:defRPr kumimoji="1" sz="1800" b="1" kern="1200">
                          <a:solidFill>
                            <a:schemeClr val="lt1"/>
                          </a:solidFill>
                          <a:latin typeface="Arial"/>
                          <a:ea typeface="ＭＳ Ｐゴシック"/>
                        </a:defRPr>
                      </a:lvl8pPr>
                      <a:lvl9pPr marL="3657600" algn="l" defTabSz="914400" rtl="0" eaLnBrk="1" latinLnBrk="0" hangingPunct="1">
                        <a:defRPr kumimoji="1" sz="1800" b="1" kern="1200">
                          <a:solidFill>
                            <a:schemeClr val="lt1"/>
                          </a:solidFill>
                          <a:latin typeface="Arial"/>
                          <a:ea typeface="ＭＳ Ｐゴシック"/>
                        </a:defRPr>
                      </a:lvl9pPr>
                    </a:lstStyle>
                    <a:p>
                      <a:pPr algn="ctr"/>
                      <a:r>
                        <a:rPr kumimoji="1" lang="en-US" altLang="ja-JP" sz="1500" dirty="0">
                          <a:latin typeface="Meiryo UI" panose="020B0604030504040204" pitchFamily="50" charset="-128"/>
                          <a:ea typeface="Meiryo UI" panose="020B0604030504040204" pitchFamily="50" charset="-128"/>
                        </a:rPr>
                        <a:t>7</a:t>
                      </a:r>
                      <a:r>
                        <a:rPr kumimoji="1" lang="ja-JP" altLang="en-US" sz="1500" dirty="0">
                          <a:latin typeface="Meiryo UI" panose="020B0604030504040204" pitchFamily="50" charset="-128"/>
                          <a:ea typeface="Meiryo UI" panose="020B0604030504040204" pitchFamily="50" charset="-128"/>
                        </a:rPr>
                        <a:t>月</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kumimoji="1" lang="en-US" altLang="ja-JP" sz="1500" b="1" dirty="0">
                          <a:solidFill>
                            <a:schemeClr val="bg1"/>
                          </a:solidFill>
                          <a:latin typeface="Meiryo UI" panose="020B0604030504040204" pitchFamily="50" charset="-128"/>
                          <a:ea typeface="Meiryo UI" panose="020B0604030504040204" pitchFamily="50" charset="-128"/>
                        </a:rPr>
                        <a:t>8</a:t>
                      </a:r>
                      <a:r>
                        <a:rPr kumimoji="1" lang="ja-JP" altLang="en-US" sz="1500" b="1" dirty="0">
                          <a:solidFill>
                            <a:schemeClr val="bg1"/>
                          </a:solidFill>
                          <a:latin typeface="Meiryo UI" panose="020B0604030504040204" pitchFamily="50" charset="-128"/>
                          <a:ea typeface="Meiryo UI" panose="020B0604030504040204" pitchFamily="50" charset="-128"/>
                        </a:rPr>
                        <a:t>月</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333399"/>
                    </a:solidFill>
                  </a:tcPr>
                </a:tc>
                <a:tc>
                  <a:txBody>
                    <a:bodyPr/>
                    <a:lstStyle/>
                    <a:p>
                      <a:pPr algn="ctr"/>
                      <a:r>
                        <a:rPr kumimoji="1" lang="en-US" altLang="ja-JP" sz="1500" b="1" dirty="0">
                          <a:solidFill>
                            <a:schemeClr val="bg1"/>
                          </a:solidFill>
                          <a:latin typeface="Meiryo UI" panose="020B0604030504040204" pitchFamily="50" charset="-128"/>
                          <a:ea typeface="Meiryo UI" panose="020B0604030504040204" pitchFamily="50" charset="-128"/>
                        </a:rPr>
                        <a:t>9</a:t>
                      </a:r>
                      <a:r>
                        <a:rPr kumimoji="1" lang="ja-JP" altLang="en-US" sz="1500" b="1" dirty="0">
                          <a:solidFill>
                            <a:schemeClr val="bg1"/>
                          </a:solidFill>
                          <a:latin typeface="Meiryo UI" panose="020B0604030504040204" pitchFamily="50" charset="-128"/>
                          <a:ea typeface="Meiryo UI" panose="020B0604030504040204" pitchFamily="50" charset="-128"/>
                        </a:rPr>
                        <a:t>月</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333399"/>
                    </a:solidFill>
                  </a:tcPr>
                </a:tc>
                <a:tc>
                  <a:txBody>
                    <a:bodyPr/>
                    <a:lstStyle/>
                    <a:p>
                      <a:pPr algn="ctr"/>
                      <a:r>
                        <a:rPr kumimoji="1" lang="en-US" altLang="ja-JP" sz="1500" b="1" dirty="0">
                          <a:solidFill>
                            <a:schemeClr val="bg1"/>
                          </a:solidFill>
                          <a:latin typeface="Meiryo UI" panose="020B0604030504040204" pitchFamily="50" charset="-128"/>
                          <a:ea typeface="Meiryo UI" panose="020B0604030504040204" pitchFamily="50" charset="-128"/>
                        </a:rPr>
                        <a:t>10</a:t>
                      </a:r>
                      <a:r>
                        <a:rPr kumimoji="1" lang="ja-JP" altLang="en-US" sz="1500" b="1" dirty="0">
                          <a:solidFill>
                            <a:schemeClr val="bg1"/>
                          </a:solidFill>
                          <a:latin typeface="Meiryo UI" panose="020B0604030504040204" pitchFamily="50" charset="-128"/>
                          <a:ea typeface="Meiryo UI" panose="020B0604030504040204" pitchFamily="50" charset="-128"/>
                        </a:rPr>
                        <a:t>月</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333399"/>
                    </a:solidFill>
                  </a:tcPr>
                </a:tc>
                <a:tc>
                  <a:txBody>
                    <a:bodyPr/>
                    <a:lstStyle/>
                    <a:p>
                      <a:pPr algn="ctr"/>
                      <a:r>
                        <a:rPr kumimoji="1" lang="en-US" altLang="ja-JP" sz="1500" b="1" dirty="0">
                          <a:solidFill>
                            <a:schemeClr val="bg1"/>
                          </a:solidFill>
                          <a:latin typeface="Meiryo UI" panose="020B0604030504040204" pitchFamily="50" charset="-128"/>
                          <a:ea typeface="Meiryo UI" panose="020B0604030504040204" pitchFamily="50" charset="-128"/>
                        </a:rPr>
                        <a:t>11</a:t>
                      </a:r>
                      <a:r>
                        <a:rPr kumimoji="1" lang="ja-JP" altLang="en-US" sz="1500" b="1" dirty="0">
                          <a:solidFill>
                            <a:schemeClr val="bg1"/>
                          </a:solidFill>
                          <a:latin typeface="Meiryo UI" panose="020B0604030504040204" pitchFamily="50" charset="-128"/>
                          <a:ea typeface="Meiryo UI" panose="020B0604030504040204" pitchFamily="50" charset="-128"/>
                        </a:rPr>
                        <a:t>月</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333399"/>
                    </a:solidFill>
                  </a:tcPr>
                </a:tc>
                <a:extLst>
                  <a:ext uri="{0D108BD9-81ED-4DB2-BD59-A6C34878D82A}">
                    <a16:rowId xmlns:a16="http://schemas.microsoft.com/office/drawing/2014/main" val="10000"/>
                  </a:ext>
                </a:extLst>
              </a:tr>
              <a:tr h="2163543">
                <a:tc>
                  <a:txBody>
                    <a:bodyPr/>
                    <a:lstStyle>
                      <a:lvl1pPr marL="0" algn="l" defTabSz="914400" rtl="0" eaLnBrk="1" latinLnBrk="0" hangingPunct="1">
                        <a:defRPr kumimoji="1" sz="1800" kern="1200">
                          <a:solidFill>
                            <a:schemeClr val="dk1"/>
                          </a:solidFill>
                          <a:latin typeface="Arial"/>
                          <a:ea typeface="ＭＳ Ｐゴシック"/>
                        </a:defRPr>
                      </a:lvl1pPr>
                      <a:lvl2pPr marL="457200" algn="l" defTabSz="914400" rtl="0" eaLnBrk="1" latinLnBrk="0" hangingPunct="1">
                        <a:defRPr kumimoji="1" sz="1800" kern="1200">
                          <a:solidFill>
                            <a:schemeClr val="dk1"/>
                          </a:solidFill>
                          <a:latin typeface="Arial"/>
                          <a:ea typeface="ＭＳ Ｐゴシック"/>
                        </a:defRPr>
                      </a:lvl2pPr>
                      <a:lvl3pPr marL="914400" algn="l" defTabSz="914400" rtl="0" eaLnBrk="1" latinLnBrk="0" hangingPunct="1">
                        <a:defRPr kumimoji="1" sz="1800" kern="1200">
                          <a:solidFill>
                            <a:schemeClr val="dk1"/>
                          </a:solidFill>
                          <a:latin typeface="Arial"/>
                          <a:ea typeface="ＭＳ Ｐゴシック"/>
                        </a:defRPr>
                      </a:lvl3pPr>
                      <a:lvl4pPr marL="1371600" algn="l" defTabSz="914400" rtl="0" eaLnBrk="1" latinLnBrk="0" hangingPunct="1">
                        <a:defRPr kumimoji="1" sz="1800" kern="1200">
                          <a:solidFill>
                            <a:schemeClr val="dk1"/>
                          </a:solidFill>
                          <a:latin typeface="Arial"/>
                          <a:ea typeface="ＭＳ Ｐゴシック"/>
                        </a:defRPr>
                      </a:lvl4pPr>
                      <a:lvl5pPr marL="1828800" algn="l" defTabSz="914400" rtl="0" eaLnBrk="1" latinLnBrk="0" hangingPunct="1">
                        <a:defRPr kumimoji="1" sz="1800" kern="1200">
                          <a:solidFill>
                            <a:schemeClr val="dk1"/>
                          </a:solidFill>
                          <a:latin typeface="Arial"/>
                          <a:ea typeface="ＭＳ Ｐゴシック"/>
                        </a:defRPr>
                      </a:lvl5pPr>
                      <a:lvl6pPr marL="2286000" algn="l" defTabSz="914400" rtl="0" eaLnBrk="1" latinLnBrk="0" hangingPunct="1">
                        <a:defRPr kumimoji="1" sz="1800" kern="1200">
                          <a:solidFill>
                            <a:schemeClr val="dk1"/>
                          </a:solidFill>
                          <a:latin typeface="Arial"/>
                          <a:ea typeface="ＭＳ Ｐゴシック"/>
                        </a:defRPr>
                      </a:lvl6pPr>
                      <a:lvl7pPr marL="2743200" algn="l" defTabSz="914400" rtl="0" eaLnBrk="1" latinLnBrk="0" hangingPunct="1">
                        <a:defRPr kumimoji="1" sz="1800" kern="1200">
                          <a:solidFill>
                            <a:schemeClr val="dk1"/>
                          </a:solidFill>
                          <a:latin typeface="Arial"/>
                          <a:ea typeface="ＭＳ Ｐゴシック"/>
                        </a:defRPr>
                      </a:lvl7pPr>
                      <a:lvl8pPr marL="3200400" algn="l" defTabSz="914400" rtl="0" eaLnBrk="1" latinLnBrk="0" hangingPunct="1">
                        <a:defRPr kumimoji="1" sz="1800" kern="1200">
                          <a:solidFill>
                            <a:schemeClr val="dk1"/>
                          </a:solidFill>
                          <a:latin typeface="Arial"/>
                          <a:ea typeface="ＭＳ Ｐゴシック"/>
                        </a:defRPr>
                      </a:lvl8pPr>
                      <a:lvl9pPr marL="3657600" algn="l" defTabSz="914400" rtl="0" eaLnBrk="1" latinLnBrk="0" hangingPunct="1">
                        <a:defRPr kumimoji="1" sz="1800" kern="1200">
                          <a:solidFill>
                            <a:schemeClr val="dk1"/>
                          </a:solidFill>
                          <a:latin typeface="Arial"/>
                          <a:ea typeface="ＭＳ Ｐゴシック"/>
                        </a:defRPr>
                      </a:lvl9pPr>
                    </a:lstStyle>
                    <a:p>
                      <a:endParaRPr kumimoji="1" lang="ja-JP" altLang="en-US" sz="1500" dirty="0">
                        <a:latin typeface="Meiryo UI" panose="020B0604030504040204" pitchFamily="50" charset="-128"/>
                        <a:ea typeface="Meiryo UI" panose="020B0604030504040204" pitchFamily="50" charset="-128"/>
                      </a:endParaRPr>
                    </a:p>
                  </a:txBody>
                  <a:tcPr>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p>
                      <a:endParaRPr kumimoji="1" lang="ja-JP" altLang="en-US" sz="1500" dirty="0">
                        <a:latin typeface="Meiryo UI" panose="020B0604030504040204" pitchFamily="50" charset="-128"/>
                        <a:ea typeface="Meiryo UI" panose="020B0604030504040204" pitchFamily="50" charset="-128"/>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p>
                      <a:endParaRPr kumimoji="1" lang="ja-JP" altLang="en-US" sz="1500" dirty="0">
                        <a:latin typeface="Meiryo UI" panose="020B0604030504040204" pitchFamily="50" charset="-128"/>
                        <a:ea typeface="Meiryo UI" panose="020B0604030504040204" pitchFamily="50" charset="-128"/>
                      </a:endParaRPr>
                    </a:p>
                  </a:txBody>
                  <a:tcP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p>
                      <a:endParaRPr kumimoji="1" lang="ja-JP" altLang="en-US" sz="1500" dirty="0">
                        <a:latin typeface="Meiryo UI" panose="020B0604030504040204" pitchFamily="50" charset="-128"/>
                        <a:ea typeface="Meiryo UI" panose="020B0604030504040204" pitchFamily="50" charset="-128"/>
                      </a:endParaRPr>
                    </a:p>
                  </a:txBody>
                  <a:tcP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333399">
                        <a:tint val="40000"/>
                      </a:srgbClr>
                    </a:solidFill>
                  </a:tcPr>
                </a:tc>
                <a:tc>
                  <a:txBody>
                    <a:bodyPr/>
                    <a:lstStyle/>
                    <a:p>
                      <a:endParaRPr kumimoji="1" lang="ja-JP" altLang="en-US" sz="1500" dirty="0">
                        <a:latin typeface="Meiryo UI" panose="020B0604030504040204" pitchFamily="50" charset="-128"/>
                        <a:ea typeface="Meiryo UI" panose="020B0604030504040204" pitchFamily="50" charset="-128"/>
                      </a:endParaRPr>
                    </a:p>
                  </a:txBody>
                  <a:tcP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333399">
                        <a:tint val="40000"/>
                      </a:srgbClr>
                    </a:solidFill>
                  </a:tcPr>
                </a:tc>
                <a:extLst>
                  <a:ext uri="{0D108BD9-81ED-4DB2-BD59-A6C34878D82A}">
                    <a16:rowId xmlns:a16="http://schemas.microsoft.com/office/drawing/2014/main" val="10001"/>
                  </a:ext>
                </a:extLst>
              </a:tr>
            </a:tbl>
          </a:graphicData>
        </a:graphic>
      </p:graphicFrame>
      <p:cxnSp>
        <p:nvCxnSpPr>
          <p:cNvPr id="9" name="直線矢印コネクタ 8">
            <a:extLst>
              <a:ext uri="{FF2B5EF4-FFF2-40B4-BE49-F238E27FC236}">
                <a16:creationId xmlns:a16="http://schemas.microsoft.com/office/drawing/2014/main" id="{A9D225B0-F610-4CF6-8E38-B3CD91DAA97F}"/>
              </a:ext>
            </a:extLst>
          </p:cNvPr>
          <p:cNvCxnSpPr>
            <a:cxnSpLocks/>
            <a:stCxn id="11" idx="6"/>
            <a:endCxn id="22" idx="2"/>
          </p:cNvCxnSpPr>
          <p:nvPr/>
        </p:nvCxnSpPr>
        <p:spPr bwMode="auto">
          <a:xfrm>
            <a:off x="4212000" y="3360134"/>
            <a:ext cx="1966540" cy="0"/>
          </a:xfrm>
          <a:prstGeom prst="straightConnector1">
            <a:avLst/>
          </a:prstGeom>
          <a:solidFill>
            <a:srgbClr val="BBE0E3"/>
          </a:solidFill>
          <a:ln w="38100" cap="flat" cmpd="sng" algn="ctr">
            <a:solidFill>
              <a:schemeClr val="accent1"/>
            </a:solidFill>
            <a:prstDash val="dash"/>
            <a:round/>
            <a:headEnd type="none" w="lg" len="lg"/>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円/楕円 70">
            <a:extLst>
              <a:ext uri="{FF2B5EF4-FFF2-40B4-BE49-F238E27FC236}">
                <a16:creationId xmlns:a16="http://schemas.microsoft.com/office/drawing/2014/main" id="{8D36803D-EF30-4A5A-B3EA-F39F398C4547}"/>
              </a:ext>
            </a:extLst>
          </p:cNvPr>
          <p:cNvSpPr/>
          <p:nvPr/>
        </p:nvSpPr>
        <p:spPr bwMode="auto">
          <a:xfrm>
            <a:off x="3600000" y="3216134"/>
            <a:ext cx="612000" cy="288000"/>
          </a:xfrm>
          <a:prstGeom prst="ellipse">
            <a:avLst/>
          </a:prstGeom>
          <a:solidFill>
            <a:schemeClr val="accent1"/>
          </a:solidFill>
          <a:ln w="9525" cap="flat" cmpd="sng" algn="ctr">
            <a:noFill/>
            <a:prstDash val="solid"/>
            <a:headEnd type="none" w="med" len="med"/>
            <a:tailEnd type="triangle" w="med" len="med"/>
          </a:ln>
          <a:effectLst>
            <a:outerShdw blurRad="40000" dist="23000" dir="5400000" rotWithShape="0">
              <a:srgbClr val="000000">
                <a:alpha val="35000"/>
              </a:srgbClr>
            </a:outerShdw>
          </a:effectLst>
        </p:spPr>
        <p:txBody>
          <a:bodyPr vert="horz" wrap="square" lIns="36000" tIns="45720" rIns="36000" bIns="45720" numCol="1" rtlCol="0" anchor="ctr" anchorCtr="0" compatLnSpc="1">
            <a:prstTxWarp prst="textNoShape">
              <a:avLst/>
            </a:prstTxWarp>
          </a:bodyPr>
          <a:lstStyle/>
          <a:p>
            <a:pPr algn="ctr" fontAlgn="base">
              <a:spcBef>
                <a:spcPct val="0"/>
              </a:spcBef>
              <a:spcAft>
                <a:spcPct val="0"/>
              </a:spcAft>
              <a:defRPr/>
            </a:pPr>
            <a:r>
              <a:rPr lang="en-US" altLang="ja-JP" sz="1200" b="1" kern="0" dirty="0">
                <a:solidFill>
                  <a:srgbClr val="FFFFFF"/>
                </a:solidFill>
                <a:latin typeface="Meiryo UI" panose="020B0604030504040204" pitchFamily="50" charset="-128"/>
                <a:ea typeface="Meiryo UI" panose="020B0604030504040204" pitchFamily="50" charset="-128"/>
              </a:rPr>
              <a:t>GO</a:t>
            </a:r>
          </a:p>
        </p:txBody>
      </p:sp>
      <p:sp>
        <p:nvSpPr>
          <p:cNvPr id="13" name="円/楕円 70">
            <a:extLst>
              <a:ext uri="{FF2B5EF4-FFF2-40B4-BE49-F238E27FC236}">
                <a16:creationId xmlns:a16="http://schemas.microsoft.com/office/drawing/2014/main" id="{B1F517E9-7871-4646-A6E0-6E0B3C0DC836}"/>
              </a:ext>
            </a:extLst>
          </p:cNvPr>
          <p:cNvSpPr/>
          <p:nvPr/>
        </p:nvSpPr>
        <p:spPr bwMode="auto">
          <a:xfrm>
            <a:off x="1766868" y="3216134"/>
            <a:ext cx="612000" cy="288000"/>
          </a:xfrm>
          <a:prstGeom prst="ellipse">
            <a:avLst/>
          </a:prstGeom>
          <a:solidFill>
            <a:schemeClr val="tx1">
              <a:lumMod val="65000"/>
              <a:lumOff val="35000"/>
            </a:schemeClr>
          </a:solidFill>
          <a:ln w="9525" cap="flat" cmpd="sng" algn="ctr">
            <a:noFill/>
            <a:prstDash val="solid"/>
            <a:headEnd type="none" w="med" len="med"/>
            <a:tailEnd type="triangle" w="med" len="med"/>
          </a:ln>
          <a:effectLst>
            <a:outerShdw blurRad="40000" dist="23000" dir="5400000" rotWithShape="0">
              <a:srgbClr val="000000">
                <a:alpha val="35000"/>
              </a:srgbClr>
            </a:outerShdw>
          </a:effectLst>
        </p:spPr>
        <p:txBody>
          <a:bodyPr vert="horz" wrap="square" lIns="36000" tIns="45720" rIns="36000" bIns="45720" numCol="1" rtlCol="0" anchor="ctr" anchorCtr="0" compatLnSpc="1">
            <a:prstTxWarp prst="textNoShape">
              <a:avLst/>
            </a:prstTxWarp>
          </a:bodyPr>
          <a:lstStyle/>
          <a:p>
            <a:pPr algn="ctr" fontAlgn="base">
              <a:spcBef>
                <a:spcPct val="0"/>
              </a:spcBef>
              <a:spcAft>
                <a:spcPct val="0"/>
              </a:spcAft>
              <a:defRPr/>
            </a:pPr>
            <a:r>
              <a:rPr lang="ja-JP" altLang="en-US" sz="1200" b="1" kern="0" dirty="0">
                <a:solidFill>
                  <a:srgbClr val="FFFFFF"/>
                </a:solidFill>
                <a:latin typeface="Meiryo UI" panose="020B0604030504040204" pitchFamily="50" charset="-128"/>
                <a:ea typeface="Meiryo UI" panose="020B0604030504040204" pitchFamily="50" charset="-128"/>
              </a:rPr>
              <a:t>済</a:t>
            </a:r>
            <a:endParaRPr lang="en-US" altLang="ja-JP" sz="1200" b="1" kern="0" dirty="0">
              <a:solidFill>
                <a:srgbClr val="FFFFFF"/>
              </a:solidFill>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44A640E1-3351-4D8A-A4BF-43B2738D9405}"/>
              </a:ext>
            </a:extLst>
          </p:cNvPr>
          <p:cNvSpPr txBox="1"/>
          <p:nvPr/>
        </p:nvSpPr>
        <p:spPr bwMode="auto">
          <a:xfrm>
            <a:off x="6078835" y="3542639"/>
            <a:ext cx="1034561" cy="276999"/>
          </a:xfrm>
          <a:prstGeom prst="rect">
            <a:avLst/>
          </a:prstGeom>
          <a:noFill/>
          <a:ln>
            <a:noFill/>
          </a:ln>
          <a:effectLst/>
        </p:spPr>
        <p:txBody>
          <a:bodyPr wrap="square" rtlCol="0">
            <a:spAutoFit/>
          </a:bodyPr>
          <a:lstStyle/>
          <a:p>
            <a:pPr fontAlgn="base">
              <a:spcBef>
                <a:spcPct val="0"/>
              </a:spcBef>
              <a:spcAft>
                <a:spcPct val="0"/>
              </a:spcAft>
            </a:pPr>
            <a:r>
              <a:rPr lang="ja-JP" altLang="en-US" sz="1200" b="1" dirty="0">
                <a:latin typeface="Meiryo UI" panose="020B0604030504040204" pitchFamily="50" charset="-128"/>
                <a:ea typeface="Meiryo UI" panose="020B0604030504040204" pitchFamily="50" charset="-128"/>
              </a:rPr>
              <a:t>〇結果報告</a:t>
            </a:r>
          </a:p>
        </p:txBody>
      </p:sp>
      <p:sp>
        <p:nvSpPr>
          <p:cNvPr id="22" name="円/楕円 70">
            <a:extLst>
              <a:ext uri="{FF2B5EF4-FFF2-40B4-BE49-F238E27FC236}">
                <a16:creationId xmlns:a16="http://schemas.microsoft.com/office/drawing/2014/main" id="{00D620D0-8702-49F9-A688-525516E35832}"/>
              </a:ext>
            </a:extLst>
          </p:cNvPr>
          <p:cNvSpPr/>
          <p:nvPr/>
        </p:nvSpPr>
        <p:spPr bwMode="auto">
          <a:xfrm>
            <a:off x="6178540" y="3216134"/>
            <a:ext cx="612000" cy="288000"/>
          </a:xfrm>
          <a:prstGeom prst="ellipse">
            <a:avLst/>
          </a:prstGeom>
          <a:solidFill>
            <a:schemeClr val="accent1"/>
          </a:solidFill>
          <a:ln w="9525" cap="flat" cmpd="sng" algn="ctr">
            <a:noFill/>
            <a:prstDash val="solid"/>
            <a:headEnd type="none" w="med" len="med"/>
            <a:tailEnd type="triangle" w="med" len="med"/>
          </a:ln>
          <a:effectLst>
            <a:outerShdw blurRad="40000" dist="23000" dir="5400000" rotWithShape="0">
              <a:srgbClr val="000000">
                <a:alpha val="35000"/>
              </a:srgbClr>
            </a:outerShdw>
          </a:effectLst>
        </p:spPr>
        <p:txBody>
          <a:bodyPr vert="horz" wrap="square" lIns="36000" tIns="45720" rIns="36000" bIns="45720" numCol="1" rtlCol="0" anchor="ctr" anchorCtr="0" compatLnSpc="1">
            <a:prstTxWarp prst="textNoShape">
              <a:avLst/>
            </a:prstTxWarp>
          </a:bodyPr>
          <a:lstStyle/>
          <a:p>
            <a:pPr algn="ctr" fontAlgn="base">
              <a:spcBef>
                <a:spcPct val="0"/>
              </a:spcBef>
              <a:spcAft>
                <a:spcPct val="0"/>
              </a:spcAft>
              <a:defRPr/>
            </a:pPr>
            <a:r>
              <a:rPr lang="en-US" altLang="ja-JP" sz="1050" b="1" kern="0" dirty="0">
                <a:solidFill>
                  <a:srgbClr val="FFFFFF"/>
                </a:solidFill>
                <a:latin typeface="Meiryo UI" panose="020B0604030504040204" pitchFamily="50" charset="-128"/>
                <a:ea typeface="Meiryo UI" panose="020B0604030504040204" pitchFamily="50" charset="-128"/>
              </a:rPr>
              <a:t>10</a:t>
            </a:r>
            <a:r>
              <a:rPr lang="ja-JP" altLang="en-US" sz="1050" b="1" kern="0" dirty="0">
                <a:solidFill>
                  <a:srgbClr val="FFFFFF"/>
                </a:solidFill>
                <a:latin typeface="Meiryo UI" panose="020B0604030504040204" pitchFamily="50" charset="-128"/>
                <a:ea typeface="Meiryo UI" panose="020B0604030504040204" pitchFamily="50" charset="-128"/>
              </a:rPr>
              <a:t>月</a:t>
            </a:r>
            <a:endParaRPr lang="en-US" altLang="ja-JP" sz="1050" b="1" kern="0" dirty="0">
              <a:solidFill>
                <a:srgbClr val="FFFFFF"/>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DF75EE61-29FF-4ACE-8088-343A89F8CF14}"/>
              </a:ext>
            </a:extLst>
          </p:cNvPr>
          <p:cNvSpPr txBox="1"/>
          <p:nvPr/>
        </p:nvSpPr>
        <p:spPr bwMode="auto">
          <a:xfrm>
            <a:off x="1622332" y="3542639"/>
            <a:ext cx="10345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fontAlgn="base">
              <a:spcBef>
                <a:spcPct val="0"/>
              </a:spcBef>
              <a:spcAft>
                <a:spcPct val="0"/>
              </a:spcAft>
            </a:pPr>
            <a:r>
              <a:rPr lang="ja-JP" altLang="en-US" sz="1200" b="1" dirty="0">
                <a:solidFill>
                  <a:srgbClr val="000000"/>
                </a:solidFill>
                <a:latin typeface="Meiryo UI" panose="020B0604030504040204" pitchFamily="50" charset="-128"/>
                <a:ea typeface="Meiryo UI" panose="020B0604030504040204" pitchFamily="50" charset="-128"/>
              </a:rPr>
              <a:t>〇分析方針検討</a:t>
            </a:r>
          </a:p>
        </p:txBody>
      </p:sp>
      <p:sp>
        <p:nvSpPr>
          <p:cNvPr id="25" name="テキスト ボックス 24">
            <a:extLst>
              <a:ext uri="{FF2B5EF4-FFF2-40B4-BE49-F238E27FC236}">
                <a16:creationId xmlns:a16="http://schemas.microsoft.com/office/drawing/2014/main" id="{58CA981B-9B90-467A-B1D9-264CF7BB6BF9}"/>
              </a:ext>
            </a:extLst>
          </p:cNvPr>
          <p:cNvSpPr txBox="1"/>
          <p:nvPr/>
        </p:nvSpPr>
        <p:spPr bwMode="auto">
          <a:xfrm>
            <a:off x="2735898" y="3542639"/>
            <a:ext cx="10345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fontAlgn="base">
              <a:spcBef>
                <a:spcPct val="0"/>
              </a:spcBef>
              <a:spcAft>
                <a:spcPct val="0"/>
              </a:spcAft>
            </a:pPr>
            <a:r>
              <a:rPr lang="ja-JP" altLang="en-US" sz="1200" b="1" dirty="0">
                <a:solidFill>
                  <a:srgbClr val="000000"/>
                </a:solidFill>
                <a:latin typeface="Meiryo UI" panose="020B0604030504040204" pitchFamily="50" charset="-128"/>
                <a:ea typeface="Meiryo UI" panose="020B0604030504040204" pitchFamily="50" charset="-128"/>
              </a:rPr>
              <a:t>〇分析方針決定</a:t>
            </a:r>
            <a:endParaRPr lang="en-US" altLang="ja-JP" sz="1200" b="1" dirty="0">
              <a:solidFill>
                <a:srgbClr val="000000"/>
              </a:solidFill>
              <a:latin typeface="Meiryo UI" panose="020B0604030504040204" pitchFamily="50" charset="-128"/>
              <a:ea typeface="Meiryo UI" panose="020B0604030504040204" pitchFamily="50" charset="-128"/>
            </a:endParaRPr>
          </a:p>
          <a:p>
            <a:pPr fontAlgn="base">
              <a:spcBef>
                <a:spcPct val="0"/>
              </a:spcBef>
              <a:spcAft>
                <a:spcPct val="0"/>
              </a:spcAft>
            </a:pPr>
            <a:r>
              <a:rPr lang="ja-JP" altLang="en-US" sz="1200" b="1" dirty="0">
                <a:solidFill>
                  <a:srgbClr val="000000"/>
                </a:solidFill>
                <a:latin typeface="Meiryo UI" panose="020B0604030504040204" pitchFamily="50" charset="-128"/>
                <a:ea typeface="Meiryo UI" panose="020B0604030504040204" pitchFamily="50" charset="-128"/>
              </a:rPr>
              <a:t>（</a:t>
            </a:r>
            <a:r>
              <a:rPr lang="en-US" altLang="ja-JP" sz="1200" b="1" dirty="0">
                <a:solidFill>
                  <a:srgbClr val="000000"/>
                </a:solidFill>
                <a:latin typeface="Meiryo UI" panose="020B0604030504040204" pitchFamily="50" charset="-128"/>
                <a:ea typeface="Meiryo UI" panose="020B0604030504040204" pitchFamily="50" charset="-128"/>
              </a:rPr>
              <a:t>8/23</a:t>
            </a:r>
            <a:r>
              <a:rPr lang="ja-JP" altLang="en-US" sz="1200" b="1" dirty="0">
                <a:solidFill>
                  <a:srgbClr val="000000"/>
                </a:solidFill>
                <a:latin typeface="Meiryo UI" panose="020B0604030504040204" pitchFamily="50" charset="-128"/>
                <a:ea typeface="Meiryo UI" panose="020B0604030504040204" pitchFamily="50" charset="-128"/>
              </a:rPr>
              <a:t>）</a:t>
            </a:r>
          </a:p>
        </p:txBody>
      </p:sp>
      <p:cxnSp>
        <p:nvCxnSpPr>
          <p:cNvPr id="26" name="直線矢印コネクタ 25">
            <a:extLst>
              <a:ext uri="{FF2B5EF4-FFF2-40B4-BE49-F238E27FC236}">
                <a16:creationId xmlns:a16="http://schemas.microsoft.com/office/drawing/2014/main" id="{445B7911-4F4B-4235-9B51-CC2007D5C51F}"/>
              </a:ext>
            </a:extLst>
          </p:cNvPr>
          <p:cNvCxnSpPr>
            <a:cxnSpLocks/>
            <a:stCxn id="27" idx="6"/>
          </p:cNvCxnSpPr>
          <p:nvPr/>
        </p:nvCxnSpPr>
        <p:spPr bwMode="auto">
          <a:xfrm>
            <a:off x="4212000" y="4370003"/>
            <a:ext cx="1958782" cy="9890"/>
          </a:xfrm>
          <a:prstGeom prst="straightConnector1">
            <a:avLst/>
          </a:prstGeom>
          <a:solidFill>
            <a:srgbClr val="BBE0E3"/>
          </a:solidFill>
          <a:ln w="38100" cap="flat" cmpd="sng" algn="ctr">
            <a:solidFill>
              <a:schemeClr val="accent1"/>
            </a:solidFill>
            <a:prstDash val="dash"/>
            <a:round/>
            <a:headEnd type="none" w="lg" len="lg"/>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円/楕円 70">
            <a:extLst>
              <a:ext uri="{FF2B5EF4-FFF2-40B4-BE49-F238E27FC236}">
                <a16:creationId xmlns:a16="http://schemas.microsoft.com/office/drawing/2014/main" id="{0F92898D-3E46-4106-B73A-993D0366BE36}"/>
              </a:ext>
            </a:extLst>
          </p:cNvPr>
          <p:cNvSpPr/>
          <p:nvPr/>
        </p:nvSpPr>
        <p:spPr bwMode="auto">
          <a:xfrm>
            <a:off x="3600000" y="4226003"/>
            <a:ext cx="612000" cy="288000"/>
          </a:xfrm>
          <a:prstGeom prst="ellipse">
            <a:avLst/>
          </a:prstGeom>
          <a:solidFill>
            <a:schemeClr val="accent1"/>
          </a:solidFill>
          <a:ln w="9525" cap="flat" cmpd="sng" algn="ctr">
            <a:noFill/>
            <a:prstDash val="solid"/>
            <a:headEnd type="none" w="med" len="med"/>
            <a:tailEnd type="triangle" w="med" len="med"/>
          </a:ln>
          <a:effectLst>
            <a:outerShdw blurRad="40000" dist="23000" dir="5400000" rotWithShape="0">
              <a:srgbClr val="000000">
                <a:alpha val="35000"/>
              </a:srgbClr>
            </a:outerShdw>
          </a:effectLst>
        </p:spPr>
        <p:txBody>
          <a:bodyPr vert="horz" wrap="square" lIns="36000" tIns="45720" rIns="36000" bIns="45720" numCol="1" rtlCol="0" anchor="ctr" anchorCtr="0" compatLnSpc="1">
            <a:prstTxWarp prst="textNoShape">
              <a:avLst/>
            </a:prstTxWarp>
          </a:bodyPr>
          <a:lstStyle/>
          <a:p>
            <a:pPr algn="ctr" fontAlgn="base">
              <a:spcBef>
                <a:spcPct val="0"/>
              </a:spcBef>
              <a:spcAft>
                <a:spcPct val="0"/>
              </a:spcAft>
              <a:defRPr/>
            </a:pPr>
            <a:r>
              <a:rPr lang="en-US" altLang="ja-JP" sz="1200" b="1" kern="0" dirty="0">
                <a:solidFill>
                  <a:srgbClr val="FFFFFF"/>
                </a:solidFill>
                <a:latin typeface="Meiryo UI" panose="020B0604030504040204" pitchFamily="50" charset="-128"/>
                <a:ea typeface="Meiryo UI" panose="020B0604030504040204" pitchFamily="50" charset="-128"/>
              </a:rPr>
              <a:t>GO</a:t>
            </a:r>
          </a:p>
        </p:txBody>
      </p:sp>
      <p:sp>
        <p:nvSpPr>
          <p:cNvPr id="28" name="テキスト ボックス 27">
            <a:extLst>
              <a:ext uri="{FF2B5EF4-FFF2-40B4-BE49-F238E27FC236}">
                <a16:creationId xmlns:a16="http://schemas.microsoft.com/office/drawing/2014/main" id="{0B2C1016-F80B-4C75-B315-22922369B0AA}"/>
              </a:ext>
            </a:extLst>
          </p:cNvPr>
          <p:cNvSpPr txBox="1"/>
          <p:nvPr/>
        </p:nvSpPr>
        <p:spPr bwMode="auto">
          <a:xfrm>
            <a:off x="3599999" y="2835200"/>
            <a:ext cx="3456000" cy="307777"/>
          </a:xfrm>
          <a:prstGeom prst="rect">
            <a:avLst/>
          </a:prstGeom>
          <a:solidFill>
            <a:srgbClr val="00B050"/>
          </a:solidFill>
          <a:ln>
            <a:noFill/>
          </a:ln>
          <a:effectLst/>
        </p:spPr>
        <p:txBody>
          <a:bodyPr wrap="square" rtlCol="0">
            <a:spAutoFit/>
          </a:bodyPr>
          <a:lstStyle/>
          <a:p>
            <a:pPr algn="ctr" fontAlgn="base">
              <a:spcBef>
                <a:spcPct val="0"/>
              </a:spcBef>
              <a:spcAft>
                <a:spcPct val="0"/>
              </a:spcAft>
            </a:pPr>
            <a:r>
              <a:rPr lang="ja-JP" altLang="en-US" sz="1400" b="1" dirty="0">
                <a:solidFill>
                  <a:srgbClr val="FFFFFF"/>
                </a:solidFill>
                <a:latin typeface="Meiryo UI" panose="020B0604030504040204" pitchFamily="50" charset="-128"/>
                <a:ea typeface="Meiryo UI" panose="020B0604030504040204" pitchFamily="50" charset="-128"/>
              </a:rPr>
              <a:t>研究①</a:t>
            </a:r>
            <a:r>
              <a:rPr lang="en-US" altLang="ja-JP" sz="1400" b="1" dirty="0">
                <a:solidFill>
                  <a:srgbClr val="FFFFFF"/>
                </a:solidFill>
                <a:latin typeface="Meiryo UI" panose="020B0604030504040204" pitchFamily="50" charset="-128"/>
                <a:ea typeface="Meiryo UI" panose="020B0604030504040204" pitchFamily="50" charset="-128"/>
              </a:rPr>
              <a:t>Word Embedding</a:t>
            </a:r>
            <a:r>
              <a:rPr lang="ja-JP" altLang="en-US" sz="1400" b="1" dirty="0">
                <a:solidFill>
                  <a:srgbClr val="FFFFFF"/>
                </a:solidFill>
                <a:latin typeface="Meiryo UI" panose="020B0604030504040204" pitchFamily="50" charset="-128"/>
                <a:ea typeface="Meiryo UI" panose="020B0604030504040204" pitchFamily="50" charset="-128"/>
              </a:rPr>
              <a:t>アルゴリズム</a:t>
            </a:r>
          </a:p>
        </p:txBody>
      </p:sp>
      <p:sp>
        <p:nvSpPr>
          <p:cNvPr id="29" name="テキスト ボックス 28">
            <a:extLst>
              <a:ext uri="{FF2B5EF4-FFF2-40B4-BE49-F238E27FC236}">
                <a16:creationId xmlns:a16="http://schemas.microsoft.com/office/drawing/2014/main" id="{2E0FE44E-4CFA-4B9D-888B-B32D5B4900E6}"/>
              </a:ext>
            </a:extLst>
          </p:cNvPr>
          <p:cNvSpPr txBox="1"/>
          <p:nvPr/>
        </p:nvSpPr>
        <p:spPr bwMode="auto">
          <a:xfrm>
            <a:off x="3599999" y="3863609"/>
            <a:ext cx="3456000" cy="307777"/>
          </a:xfrm>
          <a:prstGeom prst="rect">
            <a:avLst/>
          </a:prstGeom>
          <a:solidFill>
            <a:srgbClr val="00B050"/>
          </a:solidFill>
          <a:ln>
            <a:noFill/>
          </a:ln>
          <a:effectLst/>
        </p:spPr>
        <p:txBody>
          <a:bodyPr wrap="square" rtlCol="0">
            <a:spAutoFit/>
          </a:bodyPr>
          <a:lstStyle/>
          <a:p>
            <a:pPr algn="ctr" fontAlgn="base">
              <a:spcBef>
                <a:spcPct val="0"/>
              </a:spcBef>
              <a:spcAft>
                <a:spcPct val="0"/>
              </a:spcAft>
            </a:pPr>
            <a:r>
              <a:rPr lang="ja-JP" altLang="en-US" sz="1400" b="1" dirty="0">
                <a:solidFill>
                  <a:srgbClr val="FFFFFF"/>
                </a:solidFill>
                <a:latin typeface="Meiryo UI" panose="020B0604030504040204" pitchFamily="50" charset="-128"/>
                <a:ea typeface="Meiryo UI" panose="020B0604030504040204" pitchFamily="50" charset="-128"/>
              </a:rPr>
              <a:t>研究②クラスタリングアルゴリズム</a:t>
            </a:r>
          </a:p>
        </p:txBody>
      </p:sp>
      <p:sp>
        <p:nvSpPr>
          <p:cNvPr id="31" name="円/楕円 70">
            <a:extLst>
              <a:ext uri="{FF2B5EF4-FFF2-40B4-BE49-F238E27FC236}">
                <a16:creationId xmlns:a16="http://schemas.microsoft.com/office/drawing/2014/main" id="{C367920A-06F5-4A23-B84F-6CA105E6BAF7}"/>
              </a:ext>
            </a:extLst>
          </p:cNvPr>
          <p:cNvSpPr/>
          <p:nvPr/>
        </p:nvSpPr>
        <p:spPr bwMode="auto">
          <a:xfrm>
            <a:off x="2893316" y="3216134"/>
            <a:ext cx="612000" cy="288000"/>
          </a:xfrm>
          <a:prstGeom prst="ellipse">
            <a:avLst/>
          </a:prstGeom>
          <a:solidFill>
            <a:srgbClr val="FF0000"/>
          </a:solidFill>
          <a:ln w="9525" cap="flat" cmpd="sng" algn="ctr">
            <a:noFill/>
            <a:prstDash val="solid"/>
            <a:headEnd type="none" w="med" len="med"/>
            <a:tailEnd type="triangle" w="med" len="med"/>
          </a:ln>
          <a:effectLst>
            <a:outerShdw blurRad="40000" dist="23000" dir="5400000" rotWithShape="0">
              <a:srgbClr val="000000">
                <a:alpha val="35000"/>
              </a:srgbClr>
            </a:outerShdw>
          </a:effectLst>
        </p:spPr>
        <p:txBody>
          <a:bodyPr vert="horz" wrap="square" lIns="36000" tIns="45720" rIns="36000" bIns="45720" numCol="1" rtlCol="0" anchor="ctr" anchorCtr="0" compatLnSpc="1">
            <a:prstTxWarp prst="textNoShape">
              <a:avLst/>
            </a:prstTxWarp>
          </a:bodyPr>
          <a:lstStyle/>
          <a:p>
            <a:pPr algn="ctr" fontAlgn="base">
              <a:spcBef>
                <a:spcPct val="0"/>
              </a:spcBef>
              <a:spcAft>
                <a:spcPct val="0"/>
              </a:spcAft>
              <a:defRPr/>
            </a:pPr>
            <a:r>
              <a:rPr lang="ja-JP" altLang="en-US" sz="1050" b="1" kern="0" dirty="0">
                <a:solidFill>
                  <a:srgbClr val="FFFFFF"/>
                </a:solidFill>
                <a:latin typeface="Meiryo UI" panose="020B0604030504040204" pitchFamily="50" charset="-128"/>
                <a:ea typeface="Meiryo UI" panose="020B0604030504040204" pitchFamily="50" charset="-128"/>
              </a:rPr>
              <a:t>本日</a:t>
            </a:r>
            <a:endParaRPr lang="en-US" altLang="ja-JP" sz="1050" b="1" kern="0" dirty="0">
              <a:solidFill>
                <a:srgbClr val="FFFFFF"/>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9E7F3A6D-7CE7-4BCE-B3BD-7453DBE780F2}"/>
              </a:ext>
            </a:extLst>
          </p:cNvPr>
          <p:cNvSpPr txBox="1"/>
          <p:nvPr/>
        </p:nvSpPr>
        <p:spPr>
          <a:xfrm>
            <a:off x="4397462" y="3389770"/>
            <a:ext cx="1665856" cy="307777"/>
          </a:xfrm>
          <a:prstGeom prst="rect">
            <a:avLst/>
          </a:prstGeom>
          <a:noFill/>
        </p:spPr>
        <p:txBody>
          <a:bodyPr wrap="square" rtlCol="0">
            <a:spAutoFit/>
          </a:bodyPr>
          <a:lstStyle/>
          <a:p>
            <a:r>
              <a:rPr kumimoji="1" lang="ja-JP" altLang="en-US" sz="1400" b="1" dirty="0">
                <a:latin typeface="Meiryo UI" panose="020B0604030504040204" pitchFamily="50" charset="-128"/>
                <a:ea typeface="Meiryo UI" panose="020B0604030504040204" pitchFamily="50" charset="-128"/>
              </a:rPr>
              <a:t>作業担当者：今井</a:t>
            </a:r>
          </a:p>
        </p:txBody>
      </p:sp>
      <p:sp>
        <p:nvSpPr>
          <p:cNvPr id="20" name="テキスト ボックス 19">
            <a:extLst>
              <a:ext uri="{FF2B5EF4-FFF2-40B4-BE49-F238E27FC236}">
                <a16:creationId xmlns:a16="http://schemas.microsoft.com/office/drawing/2014/main" id="{EA69189D-9A3E-47E2-82F6-9C17961A141A}"/>
              </a:ext>
            </a:extLst>
          </p:cNvPr>
          <p:cNvSpPr txBox="1"/>
          <p:nvPr/>
        </p:nvSpPr>
        <p:spPr>
          <a:xfrm>
            <a:off x="4397462" y="4416408"/>
            <a:ext cx="1665856" cy="307777"/>
          </a:xfrm>
          <a:prstGeom prst="rect">
            <a:avLst/>
          </a:prstGeom>
          <a:noFill/>
        </p:spPr>
        <p:txBody>
          <a:bodyPr wrap="square" rtlCol="0">
            <a:spAutoFit/>
          </a:bodyPr>
          <a:lstStyle/>
          <a:p>
            <a:r>
              <a:rPr kumimoji="1" lang="ja-JP" altLang="en-US" sz="1400" b="1" dirty="0">
                <a:latin typeface="Meiryo UI" panose="020B0604030504040204" pitchFamily="50" charset="-128"/>
                <a:ea typeface="Meiryo UI" panose="020B0604030504040204" pitchFamily="50" charset="-128"/>
              </a:rPr>
              <a:t>作業担当者：辻元</a:t>
            </a:r>
          </a:p>
        </p:txBody>
      </p:sp>
      <p:sp>
        <p:nvSpPr>
          <p:cNvPr id="21" name="テキスト ボックス 20">
            <a:extLst>
              <a:ext uri="{FF2B5EF4-FFF2-40B4-BE49-F238E27FC236}">
                <a16:creationId xmlns:a16="http://schemas.microsoft.com/office/drawing/2014/main" id="{9D7F90A0-489B-4539-B758-3E937098B2A9}"/>
              </a:ext>
            </a:extLst>
          </p:cNvPr>
          <p:cNvSpPr txBox="1"/>
          <p:nvPr/>
        </p:nvSpPr>
        <p:spPr>
          <a:xfrm>
            <a:off x="4021228" y="1980000"/>
            <a:ext cx="1863545" cy="369332"/>
          </a:xfrm>
          <a:prstGeom prst="rect">
            <a:avLst/>
          </a:prstGeom>
          <a:noFill/>
        </p:spPr>
        <p:txBody>
          <a:bodyPr wrap="square" rtlCol="0">
            <a:spAutoFit/>
          </a:bodyPr>
          <a:lstStyle/>
          <a:p>
            <a:r>
              <a:rPr lang="ja-JP" altLang="en-US" b="1" dirty="0">
                <a:latin typeface="Meiryo UI" panose="020B0604030504040204" pitchFamily="50" charset="-128"/>
                <a:ea typeface="Meiryo UI" panose="020B0604030504040204" pitchFamily="50" charset="-128"/>
              </a:rPr>
              <a:t>想定スケジュール</a:t>
            </a:r>
          </a:p>
        </p:txBody>
      </p:sp>
      <p:sp>
        <p:nvSpPr>
          <p:cNvPr id="23" name="テキスト ボックス 22">
            <a:extLst>
              <a:ext uri="{FF2B5EF4-FFF2-40B4-BE49-F238E27FC236}">
                <a16:creationId xmlns:a16="http://schemas.microsoft.com/office/drawing/2014/main" id="{DB0F3579-01F8-44F6-BDDA-EABC4FA0A1D0}"/>
              </a:ext>
            </a:extLst>
          </p:cNvPr>
          <p:cNvSpPr txBox="1"/>
          <p:nvPr/>
        </p:nvSpPr>
        <p:spPr>
          <a:xfrm>
            <a:off x="540000" y="5027615"/>
            <a:ext cx="9124700" cy="1477328"/>
          </a:xfrm>
          <a:prstGeom prst="rect">
            <a:avLst/>
          </a:prstGeom>
          <a:noFill/>
        </p:spPr>
        <p:txBody>
          <a:bodyPr wrap="square" rtlCol="0">
            <a:spAutoFit/>
          </a:bodyPr>
          <a:lstStyle/>
          <a:p>
            <a:pPr marL="360000" indent="-360000" algn="l">
              <a:buFont typeface="Wingdings" panose="05000000000000000000" pitchFamily="2" charset="2"/>
              <a:buChar char="n"/>
            </a:pPr>
            <a:r>
              <a:rPr lang="ja-JP" altLang="en-US" dirty="0">
                <a:latin typeface="Meiryo UI" panose="020B0604030504040204" pitchFamily="50" charset="-128"/>
                <a:ea typeface="Meiryo UI" panose="020B0604030504040204" pitchFamily="50" charset="-128"/>
              </a:rPr>
              <a:t>研究内の主な作業</a:t>
            </a:r>
            <a:endParaRPr lang="en-US" altLang="ja-JP" dirty="0">
              <a:latin typeface="Meiryo UI" panose="020B0604030504040204" pitchFamily="50" charset="-128"/>
              <a:ea typeface="Meiryo UI" panose="020B0604030504040204" pitchFamily="50" charset="-128"/>
            </a:endParaRPr>
          </a:p>
          <a:p>
            <a:pPr marL="817200" lvl="2" indent="-360000">
              <a:buFont typeface="Wingdings" panose="05000000000000000000" pitchFamily="2" charset="2"/>
              <a:buChar char="Ø"/>
            </a:pPr>
            <a:r>
              <a:rPr lang="ja-JP" altLang="en-US" dirty="0">
                <a:latin typeface="Meiryo UI" panose="020B0604030504040204" pitchFamily="50" charset="-128"/>
                <a:ea typeface="Meiryo UI" panose="020B0604030504040204" pitchFamily="50" charset="-128"/>
              </a:rPr>
              <a:t>データの準備</a:t>
            </a:r>
            <a:endParaRPr lang="en-US" altLang="ja-JP" dirty="0">
              <a:latin typeface="Meiryo UI" panose="020B0604030504040204" pitchFamily="50" charset="-128"/>
              <a:ea typeface="Meiryo UI" panose="020B0604030504040204" pitchFamily="50" charset="-128"/>
            </a:endParaRPr>
          </a:p>
          <a:p>
            <a:pPr marL="817200" lvl="2" indent="-360000">
              <a:buFont typeface="Wingdings" panose="05000000000000000000" pitchFamily="2" charset="2"/>
              <a:buChar char="Ø"/>
            </a:pPr>
            <a:r>
              <a:rPr lang="ja-JP" altLang="en-US" dirty="0">
                <a:latin typeface="Meiryo UI" panose="020B0604030504040204" pitchFamily="50" charset="-128"/>
                <a:ea typeface="Meiryo UI" panose="020B0604030504040204" pitchFamily="50" charset="-128"/>
              </a:rPr>
              <a:t>環境構築</a:t>
            </a:r>
            <a:endParaRPr lang="en-US" altLang="ja-JP" dirty="0">
              <a:latin typeface="Meiryo UI" panose="020B0604030504040204" pitchFamily="50" charset="-128"/>
              <a:ea typeface="Meiryo UI" panose="020B0604030504040204" pitchFamily="50" charset="-128"/>
            </a:endParaRPr>
          </a:p>
          <a:p>
            <a:pPr marL="817200" lvl="2" indent="-360000">
              <a:buFont typeface="Wingdings" panose="05000000000000000000" pitchFamily="2" charset="2"/>
              <a:buChar char="Ø"/>
            </a:pPr>
            <a:r>
              <a:rPr lang="ja-JP" altLang="en-US" dirty="0">
                <a:latin typeface="Meiryo UI" panose="020B0604030504040204" pitchFamily="50" charset="-128"/>
                <a:ea typeface="Meiryo UI" panose="020B0604030504040204" pitchFamily="50" charset="-128"/>
              </a:rPr>
              <a:t>検証実施</a:t>
            </a:r>
            <a:endParaRPr lang="en-US" altLang="ja-JP" dirty="0">
              <a:latin typeface="Meiryo UI" panose="020B0604030504040204" pitchFamily="50" charset="-128"/>
              <a:ea typeface="Meiryo UI" panose="020B0604030504040204" pitchFamily="50" charset="-128"/>
            </a:endParaRPr>
          </a:p>
          <a:p>
            <a:pPr marL="817200" lvl="2" indent="-360000">
              <a:buFont typeface="Wingdings" panose="05000000000000000000" pitchFamily="2" charset="2"/>
              <a:buChar char="Ø"/>
            </a:pPr>
            <a:r>
              <a:rPr lang="ja-JP" altLang="en-US" dirty="0">
                <a:latin typeface="Meiryo UI" panose="020B0604030504040204" pitchFamily="50" charset="-128"/>
                <a:ea typeface="Meiryo UI" panose="020B0604030504040204" pitchFamily="50" charset="-128"/>
              </a:rPr>
              <a:t>検証結果の資料作成</a:t>
            </a:r>
            <a:endParaRPr lang="en-US" altLang="ja-JP"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27504815-D081-4926-87CA-37E845665B3B}"/>
              </a:ext>
            </a:extLst>
          </p:cNvPr>
          <p:cNvSpPr>
            <a:spLocks noGrp="1"/>
          </p:cNvSpPr>
          <p:nvPr>
            <p:ph type="sldNum" sz="quarter" idx="12"/>
          </p:nvPr>
        </p:nvSpPr>
        <p:spPr/>
        <p:txBody>
          <a:bodyPr/>
          <a:lstStyle/>
          <a:p>
            <a:fld id="{4A0ABA21-04CE-4531-99B2-420D29D6D622}" type="slidenum">
              <a:rPr lang="ja-JP" altLang="en-US" smtClean="0"/>
              <a:pPr/>
              <a:t>6</a:t>
            </a:fld>
            <a:endParaRPr lang="ja-JP" altLang="en-US" dirty="0"/>
          </a:p>
        </p:txBody>
      </p:sp>
    </p:spTree>
    <p:extLst>
      <p:ext uri="{BB962C8B-B14F-4D97-AF65-F5344CB8AC3E}">
        <p14:creationId xmlns:p14="http://schemas.microsoft.com/office/powerpoint/2010/main" val="306332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B95E1B-E990-41A8-8643-65F176E57CD8}"/>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クラスタリングのイメージ</a:t>
            </a:r>
          </a:p>
        </p:txBody>
      </p:sp>
      <p:sp>
        <p:nvSpPr>
          <p:cNvPr id="41" name="テキスト プレースホルダー 40">
            <a:extLst>
              <a:ext uri="{FF2B5EF4-FFF2-40B4-BE49-F238E27FC236}">
                <a16:creationId xmlns:a16="http://schemas.microsoft.com/office/drawing/2014/main" id="{3C43482B-E8B5-4821-B38C-16767A484675}"/>
              </a:ext>
            </a:extLst>
          </p:cNvPr>
          <p:cNvSpPr>
            <a:spLocks noGrp="1"/>
          </p:cNvSpPr>
          <p:nvPr>
            <p:ph type="body" idx="4294967295"/>
          </p:nvPr>
        </p:nvSpPr>
        <p:spPr>
          <a:xfrm>
            <a:off x="540000" y="1080000"/>
            <a:ext cx="9144000" cy="900000"/>
          </a:xfrm>
          <a:prstGeom prst="rect">
            <a:avLst/>
          </a:prstGeom>
        </p:spPr>
        <p:txBody>
          <a:bodyPr lIns="72000" tIns="72000" rIns="72000" bIns="72000">
            <a:noAutofit/>
          </a:bodyPr>
          <a:lstStyle/>
          <a:p>
            <a:pPr marL="0" indent="0">
              <a:lnSpc>
                <a:spcPct val="100000"/>
              </a:lnSpc>
              <a:spcBef>
                <a:spcPts val="0"/>
              </a:spcBef>
              <a:buNone/>
            </a:pPr>
            <a:r>
              <a:rPr lang="ja-JP" altLang="en-US" sz="2000" b="1" dirty="0">
                <a:latin typeface="Meiryo UI" panose="020B0604030504040204" pitchFamily="50" charset="-128"/>
                <a:ea typeface="Meiryo UI" panose="020B0604030504040204" pitchFamily="50" charset="-128"/>
              </a:rPr>
              <a:t>テキストデータのクラスタリングのイメージです。</a:t>
            </a:r>
            <a:endParaRPr lang="en-US" altLang="ja-JP" sz="2000" b="1" dirty="0">
              <a:latin typeface="Meiryo UI" panose="020B0604030504040204" pitchFamily="50" charset="-128"/>
              <a:ea typeface="Meiryo UI" panose="020B0604030504040204" pitchFamily="50" charset="-128"/>
            </a:endParaRPr>
          </a:p>
          <a:p>
            <a:pPr marL="0" indent="0">
              <a:lnSpc>
                <a:spcPct val="100000"/>
              </a:lnSpc>
              <a:spcBef>
                <a:spcPts val="0"/>
              </a:spcBef>
              <a:buNone/>
            </a:pPr>
            <a:r>
              <a:rPr lang="ja-JP" altLang="ja-JP" sz="2000" b="1" dirty="0">
                <a:latin typeface="Meiryo UI" panose="020B0604030504040204" pitchFamily="50" charset="-128"/>
                <a:ea typeface="Meiryo UI" panose="020B0604030504040204" pitchFamily="50" charset="-128"/>
              </a:rPr>
              <a:t>クラスタリングとは、似たようなデータを同じグループへ割り振る手法です。</a:t>
            </a:r>
          </a:p>
        </p:txBody>
      </p:sp>
      <p:sp>
        <p:nvSpPr>
          <p:cNvPr id="3" name="テキスト ボックス 2">
            <a:extLst>
              <a:ext uri="{FF2B5EF4-FFF2-40B4-BE49-F238E27FC236}">
                <a16:creationId xmlns:a16="http://schemas.microsoft.com/office/drawing/2014/main" id="{D72ABC17-C457-4BD4-B5A1-94074BEC3619}"/>
              </a:ext>
            </a:extLst>
          </p:cNvPr>
          <p:cNvSpPr txBox="1"/>
          <p:nvPr/>
        </p:nvSpPr>
        <p:spPr>
          <a:xfrm>
            <a:off x="2525226" y="1980000"/>
            <a:ext cx="4855549" cy="369332"/>
          </a:xfrm>
          <a:prstGeom prst="rect">
            <a:avLst/>
          </a:prstGeom>
          <a:noFill/>
        </p:spPr>
        <p:txBody>
          <a:bodyPr wrap="square" rtlCol="0">
            <a:spAutoFit/>
          </a:bodyPr>
          <a:lstStyle/>
          <a:p>
            <a:pPr algn="l"/>
            <a:r>
              <a:rPr lang="ja-JP" altLang="en-US" b="1" dirty="0">
                <a:latin typeface="Meiryo UI" panose="020B0604030504040204" pitchFamily="50" charset="-128"/>
                <a:ea typeface="Meiryo UI" panose="020B0604030504040204" pitchFamily="50" charset="-128"/>
              </a:rPr>
              <a:t>クラスタリングのイメージ（テキストデータの場合）</a:t>
            </a:r>
          </a:p>
        </p:txBody>
      </p:sp>
      <p:sp>
        <p:nvSpPr>
          <p:cNvPr id="36" name="コンテンツ プレースホルダー 2">
            <a:extLst>
              <a:ext uri="{FF2B5EF4-FFF2-40B4-BE49-F238E27FC236}">
                <a16:creationId xmlns:a16="http://schemas.microsoft.com/office/drawing/2014/main" id="{B67670B7-CA6A-4609-BACF-E36C35F6C7C5}"/>
              </a:ext>
            </a:extLst>
          </p:cNvPr>
          <p:cNvSpPr txBox="1">
            <a:spLocks/>
          </p:cNvSpPr>
          <p:nvPr/>
        </p:nvSpPr>
        <p:spPr>
          <a:xfrm>
            <a:off x="540000" y="5220000"/>
            <a:ext cx="9344025" cy="776008"/>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Ø"/>
              <a:defRPr kumimoji="1" sz="32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defTabSz="914400" rtl="0" eaLnBrk="1" latinLnBrk="0" hangingPunct="1">
              <a:spcBef>
                <a:spcPct val="20000"/>
              </a:spcBef>
              <a:buFont typeface="Wingdings" panose="05000000000000000000" pitchFamily="2" charset="2"/>
              <a:buChar char="Ø"/>
              <a:defRPr kumimoji="1" sz="28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defTabSz="914400" rtl="0" eaLnBrk="1" latinLnBrk="0" hangingPunct="1">
              <a:spcBef>
                <a:spcPct val="20000"/>
              </a:spcBef>
              <a:buFont typeface="Wingdings" panose="05000000000000000000" pitchFamily="2" charset="2"/>
              <a:buChar char="Ø"/>
              <a:defRPr kumimoji="1" sz="24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defTabSz="914400" rtl="0" eaLnBrk="1" latinLnBrk="0" hangingPunct="1">
              <a:spcBef>
                <a:spcPct val="20000"/>
              </a:spcBef>
              <a:buFont typeface="Wingdings" panose="05000000000000000000" pitchFamily="2" charset="2"/>
              <a:buChar char="Ø"/>
              <a:defRPr kumimoji="1" sz="20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defTabSz="914400" rtl="0" eaLnBrk="1" latinLnBrk="0" hangingPunct="1">
              <a:spcBef>
                <a:spcPct val="20000"/>
              </a:spcBef>
              <a:buFont typeface="Wingdings" panose="05000000000000000000" pitchFamily="2" charset="2"/>
              <a:buChar char="Ø"/>
              <a:defRPr kumimoji="1" sz="20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marL="360000" indent="-360000">
              <a:spcBef>
                <a:spcPts val="0"/>
              </a:spcBef>
            </a:pPr>
            <a:r>
              <a:rPr lang="ja-JP" altLang="en-US" sz="1600" dirty="0">
                <a:solidFill>
                  <a:schemeClr val="tx1"/>
                </a:solidFill>
              </a:rPr>
              <a:t>テキストデータのクラスタリングでは、似たようなテキストデータを同じグループへ割り振ります。</a:t>
            </a:r>
            <a:endParaRPr lang="en-US" altLang="ja-JP" sz="1600" dirty="0">
              <a:solidFill>
                <a:schemeClr val="tx1"/>
              </a:solidFill>
            </a:endParaRPr>
          </a:p>
        </p:txBody>
      </p:sp>
      <p:sp>
        <p:nvSpPr>
          <p:cNvPr id="22" name="矢印: 右 21">
            <a:extLst>
              <a:ext uri="{FF2B5EF4-FFF2-40B4-BE49-F238E27FC236}">
                <a16:creationId xmlns:a16="http://schemas.microsoft.com/office/drawing/2014/main" id="{FF5A3965-E67C-4876-BBE2-1EF07F1CA1C3}"/>
              </a:ext>
            </a:extLst>
          </p:cNvPr>
          <p:cNvSpPr/>
          <p:nvPr/>
        </p:nvSpPr>
        <p:spPr>
          <a:xfrm>
            <a:off x="4809000" y="3268392"/>
            <a:ext cx="288000" cy="268391"/>
          </a:xfrm>
          <a:prstGeom prst="rightArrow">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prstClr val="black"/>
              </a:solidFill>
              <a:latin typeface="Meiryo UI"/>
              <a:ea typeface="Meiryo UI"/>
            </a:endParaRPr>
          </a:p>
        </p:txBody>
      </p:sp>
      <p:graphicFrame>
        <p:nvGraphicFramePr>
          <p:cNvPr id="25" name="表 20">
            <a:extLst>
              <a:ext uri="{FF2B5EF4-FFF2-40B4-BE49-F238E27FC236}">
                <a16:creationId xmlns:a16="http://schemas.microsoft.com/office/drawing/2014/main" id="{4D9075D2-AFBE-4E69-96F6-22D14CC9BE7E}"/>
              </a:ext>
            </a:extLst>
          </p:cNvPr>
          <p:cNvGraphicFramePr>
            <a:graphicFrameLocks noGrp="1"/>
          </p:cNvGraphicFramePr>
          <p:nvPr>
            <p:extLst>
              <p:ext uri="{D42A27DB-BD31-4B8C-83A1-F6EECF244321}">
                <p14:modId xmlns:p14="http://schemas.microsoft.com/office/powerpoint/2010/main" val="408391985"/>
              </p:ext>
            </p:extLst>
          </p:nvPr>
        </p:nvGraphicFramePr>
        <p:xfrm>
          <a:off x="5184000" y="2340000"/>
          <a:ext cx="4370090" cy="2377440"/>
        </p:xfrm>
        <a:graphic>
          <a:graphicData uri="http://schemas.openxmlformats.org/drawingml/2006/table">
            <a:tbl>
              <a:tblPr firstRow="1" bandRow="1">
                <a:tableStyleId>{5940675A-B579-460E-94D1-54222C63F5DA}</a:tableStyleId>
              </a:tblPr>
              <a:tblGrid>
                <a:gridCol w="1872000">
                  <a:extLst>
                    <a:ext uri="{9D8B030D-6E8A-4147-A177-3AD203B41FA5}">
                      <a16:colId xmlns:a16="http://schemas.microsoft.com/office/drawing/2014/main" val="148100114"/>
                    </a:ext>
                  </a:extLst>
                </a:gridCol>
                <a:gridCol w="811530">
                  <a:extLst>
                    <a:ext uri="{9D8B030D-6E8A-4147-A177-3AD203B41FA5}">
                      <a16:colId xmlns:a16="http://schemas.microsoft.com/office/drawing/2014/main" val="1073483072"/>
                    </a:ext>
                  </a:extLst>
                </a:gridCol>
                <a:gridCol w="843280">
                  <a:extLst>
                    <a:ext uri="{9D8B030D-6E8A-4147-A177-3AD203B41FA5}">
                      <a16:colId xmlns:a16="http://schemas.microsoft.com/office/drawing/2014/main" val="2445098943"/>
                    </a:ext>
                  </a:extLst>
                </a:gridCol>
                <a:gridCol w="843280">
                  <a:extLst>
                    <a:ext uri="{9D8B030D-6E8A-4147-A177-3AD203B41FA5}">
                      <a16:colId xmlns:a16="http://schemas.microsoft.com/office/drawing/2014/main" val="932701437"/>
                    </a:ext>
                  </a:extLst>
                </a:gridCol>
              </a:tblGrid>
              <a:tr h="429065">
                <a:tc>
                  <a:txBody>
                    <a:bodyPr/>
                    <a:lstStyle/>
                    <a:p>
                      <a:pPr algn="l"/>
                      <a:r>
                        <a:rPr kumimoji="1" lang="ja-JP" altLang="en-US" sz="1200" b="1" dirty="0">
                          <a:latin typeface="Meiryo UI" panose="020B0604030504040204" pitchFamily="50" charset="-128"/>
                          <a:ea typeface="Meiryo UI" panose="020B0604030504040204" pitchFamily="50" charset="-128"/>
                        </a:rPr>
                        <a:t>　　　　　　　　グループ</a:t>
                      </a:r>
                      <a:endParaRPr kumimoji="1" lang="en-US" altLang="ja-JP" sz="1200" b="1" dirty="0">
                        <a:latin typeface="Meiryo UI" panose="020B0604030504040204" pitchFamily="50" charset="-128"/>
                        <a:ea typeface="Meiryo UI" panose="020B0604030504040204" pitchFamily="50" charset="-128"/>
                      </a:endParaRPr>
                    </a:p>
                    <a:p>
                      <a:pPr algn="l"/>
                      <a:r>
                        <a:rPr kumimoji="1" lang="ja-JP" altLang="en-US" sz="1200" b="1" dirty="0">
                          <a:latin typeface="Meiryo UI" panose="020B0604030504040204" pitchFamily="50" charset="-128"/>
                          <a:ea typeface="Meiryo UI" panose="020B0604030504040204" pitchFamily="50" charset="-128"/>
                        </a:rPr>
                        <a:t>文書　</a:t>
                      </a:r>
                    </a:p>
                  </a:txBody>
                  <a:tcPr>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algn="ctr"/>
                      <a:r>
                        <a:rPr kumimoji="1" lang="en-US" altLang="ja-JP" sz="1200" b="1" dirty="0">
                          <a:latin typeface="Meiryo UI" panose="020B0604030504040204" pitchFamily="50" charset="-128"/>
                          <a:ea typeface="Meiryo UI" panose="020B0604030504040204" pitchFamily="50" charset="-128"/>
                        </a:rPr>
                        <a:t>AM</a:t>
                      </a:r>
                      <a:endParaRPr kumimoji="1" lang="ja-JP" altLang="en-US" sz="1200" b="1" dirty="0">
                        <a:latin typeface="Meiryo UI" panose="020B0604030504040204" pitchFamily="50" charset="-128"/>
                        <a:ea typeface="Meiryo UI" panose="020B0604030504040204" pitchFamily="50" charset="-128"/>
                      </a:endParaRPr>
                    </a:p>
                  </a:txBody>
                  <a:tcPr anchor="ctr">
                    <a:solidFill>
                      <a:schemeClr val="accent2">
                        <a:lumMod val="20000"/>
                        <a:lumOff val="80000"/>
                      </a:schemeClr>
                    </a:solidFill>
                  </a:tcPr>
                </a:tc>
                <a:tc>
                  <a:txBody>
                    <a:bodyPr/>
                    <a:lstStyle/>
                    <a:p>
                      <a:pPr algn="ctr"/>
                      <a:r>
                        <a:rPr kumimoji="1" lang="ja-JP" altLang="en-US" sz="1200" b="1" dirty="0">
                          <a:latin typeface="Meiryo UI" panose="020B0604030504040204" pitchFamily="50" charset="-128"/>
                          <a:ea typeface="Meiryo UI" panose="020B0604030504040204" pitchFamily="50" charset="-128"/>
                        </a:rPr>
                        <a:t>手配</a:t>
                      </a:r>
                    </a:p>
                  </a:txBody>
                  <a:tcPr anchor="ctr">
                    <a:solidFill>
                      <a:schemeClr val="accent2">
                        <a:lumMod val="20000"/>
                        <a:lumOff val="80000"/>
                      </a:schemeClr>
                    </a:solidFill>
                  </a:tcPr>
                </a:tc>
                <a:tc>
                  <a:txBody>
                    <a:bodyPr/>
                    <a:lstStyle/>
                    <a:p>
                      <a:pPr algn="ctr"/>
                      <a:r>
                        <a:rPr kumimoji="1" lang="ja-JP" altLang="en-US" sz="1200" b="1" dirty="0">
                          <a:latin typeface="Meiryo UI" panose="020B0604030504040204" pitchFamily="50" charset="-128"/>
                          <a:ea typeface="Meiryo UI" panose="020B0604030504040204" pitchFamily="50" charset="-128"/>
                        </a:rPr>
                        <a:t>電話完了</a:t>
                      </a:r>
                    </a:p>
                  </a:txBody>
                  <a:tcPr anchor="ctr">
                    <a:solidFill>
                      <a:schemeClr val="accent2">
                        <a:lumMod val="20000"/>
                        <a:lumOff val="80000"/>
                      </a:schemeClr>
                    </a:solidFill>
                  </a:tcPr>
                </a:tc>
                <a:extLst>
                  <a:ext uri="{0D108BD9-81ED-4DB2-BD59-A6C34878D82A}">
                    <a16:rowId xmlns:a16="http://schemas.microsoft.com/office/drawing/2014/main" val="3266550065"/>
                  </a:ext>
                </a:extLst>
              </a:tr>
              <a:tr h="429065">
                <a:tc>
                  <a:txBody>
                    <a:bodyPr/>
                    <a:lstStyle/>
                    <a:p>
                      <a:pPr algn="ctr"/>
                      <a:r>
                        <a:rPr kumimoji="1" lang="ja-JP" altLang="en-US" sz="1200" dirty="0">
                          <a:latin typeface="Meiryo UI" panose="020B0604030504040204" pitchFamily="50" charset="-128"/>
                          <a:ea typeface="Meiryo UI" panose="020B0604030504040204" pitchFamily="50" charset="-128"/>
                        </a:rPr>
                        <a:t>構造壁の軸組みの確認問い。構造図確認の結果、軸組みであることを案内完了</a:t>
                      </a:r>
                    </a:p>
                  </a:txBody>
                  <a:tcPr/>
                </a:tc>
                <a:tc>
                  <a:txBody>
                    <a:bodyPr/>
                    <a:lstStyle/>
                    <a:p>
                      <a:pPr algn="r"/>
                      <a:r>
                        <a:rPr kumimoji="1" lang="en-US" altLang="ja-JP" sz="1200" dirty="0">
                          <a:latin typeface="Meiryo UI" panose="020B0604030504040204" pitchFamily="50" charset="-128"/>
                          <a:ea typeface="Meiryo UI" panose="020B0604030504040204" pitchFamily="50" charset="-128"/>
                        </a:rPr>
                        <a:t>0</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algn="r"/>
                      <a:r>
                        <a:rPr kumimoji="1" lang="en-US" altLang="ja-JP" sz="1200" dirty="0">
                          <a:latin typeface="Meiryo UI" panose="020B0604030504040204" pitchFamily="50" charset="-128"/>
                          <a:ea typeface="Meiryo UI" panose="020B0604030504040204" pitchFamily="50" charset="-128"/>
                        </a:rPr>
                        <a:t>0</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algn="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388074113"/>
                  </a:ext>
                </a:extLst>
              </a:tr>
              <a:tr h="274320">
                <a:tc>
                  <a:txBody>
                    <a:bodyPr/>
                    <a:lstStyle/>
                    <a:p>
                      <a:pPr algn="ctr"/>
                      <a:r>
                        <a:rPr kumimoji="1" lang="ja-JP" altLang="en-US" sz="1200" dirty="0">
                          <a:latin typeface="Meiryo UI" panose="020B0604030504040204" pitchFamily="50" charset="-128"/>
                          <a:ea typeface="Meiryo UI"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3573347377"/>
                  </a:ext>
                </a:extLst>
              </a:tr>
              <a:tr h="597877">
                <a:tc>
                  <a:txBody>
                    <a:bodyPr/>
                    <a:lstStyle/>
                    <a:p>
                      <a:pPr algn="ctr"/>
                      <a:r>
                        <a:rPr kumimoji="1" lang="en-US" altLang="ja-JP" sz="1200" dirty="0">
                          <a:latin typeface="Meiryo UI" panose="020B0604030504040204" pitchFamily="50" charset="-128"/>
                          <a:ea typeface="Meiryo UI" panose="020B0604030504040204" pitchFamily="50" charset="-128"/>
                        </a:rPr>
                        <a:t>IH</a:t>
                      </a:r>
                      <a:r>
                        <a:rPr kumimoji="1" lang="ja-JP" altLang="en-US" sz="1200" dirty="0">
                          <a:latin typeface="Meiryo UI" panose="020B0604030504040204" pitchFamily="50" charset="-128"/>
                          <a:ea typeface="Meiryo UI" panose="020B0604030504040204" pitchFamily="50" charset="-128"/>
                        </a:rPr>
                        <a:t>ヒータの操作方法についてのお問合せ。こちらに説明書がありませんと案内完了、ご自身で説明書を見て対応しますとの事。</a:t>
                      </a:r>
                    </a:p>
                  </a:txBody>
                  <a:tcPr/>
                </a:tc>
                <a:tc>
                  <a:txBody>
                    <a:bodyPr/>
                    <a:lstStyle/>
                    <a:p>
                      <a:pPr algn="r"/>
                      <a:r>
                        <a:rPr lang="en-US" altLang="ja-JP" sz="1200" dirty="0">
                          <a:latin typeface="Meiryo UI" panose="020B0604030504040204" pitchFamily="50" charset="-128"/>
                          <a:ea typeface="Meiryo UI" panose="020B0604030504040204" pitchFamily="50" charset="-128"/>
                        </a:rPr>
                        <a:t>0</a:t>
                      </a:r>
                      <a:endParaRPr lang="ja-JP" altLang="en-US" sz="1200" dirty="0">
                        <a:latin typeface="Meiryo UI" panose="020B0604030504040204" pitchFamily="50" charset="-128"/>
                        <a:ea typeface="Meiryo UI" panose="020B0604030504040204" pitchFamily="50" charset="-128"/>
                      </a:endParaRPr>
                    </a:p>
                  </a:txBody>
                  <a:tcPr/>
                </a:tc>
                <a:tc>
                  <a:txBody>
                    <a:bodyPr/>
                    <a:lstStyle/>
                    <a:p>
                      <a:pPr algn="r"/>
                      <a:r>
                        <a:rPr lang="en-US" altLang="ja-JP" sz="1200" dirty="0">
                          <a:latin typeface="Meiryo UI" panose="020B0604030504040204" pitchFamily="50" charset="-128"/>
                          <a:ea typeface="Meiryo UI" panose="020B0604030504040204" pitchFamily="50" charset="-128"/>
                        </a:rPr>
                        <a:t>0</a:t>
                      </a:r>
                      <a:endParaRPr lang="ja-JP" altLang="en-US" sz="1200" dirty="0">
                        <a:latin typeface="Meiryo UI" panose="020B0604030504040204" pitchFamily="50" charset="-128"/>
                        <a:ea typeface="Meiryo UI" panose="020B0604030504040204" pitchFamily="50" charset="-128"/>
                      </a:endParaRPr>
                    </a:p>
                  </a:txBody>
                  <a:tcPr/>
                </a:tc>
                <a:tc>
                  <a:txBody>
                    <a:bodyPr/>
                    <a:lstStyle/>
                    <a:p>
                      <a:pPr algn="r"/>
                      <a:r>
                        <a:rPr lang="en-US" altLang="ja-JP" sz="1200" dirty="0">
                          <a:latin typeface="Meiryo UI" panose="020B0604030504040204" pitchFamily="50" charset="-128"/>
                          <a:ea typeface="Meiryo UI" panose="020B0604030504040204" pitchFamily="50" charset="-128"/>
                        </a:rPr>
                        <a:t>1</a:t>
                      </a:r>
                      <a:endParaRPr lang="ja-JP" altLang="en-US" sz="12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908099387"/>
                  </a:ext>
                </a:extLst>
              </a:tr>
            </a:tbl>
          </a:graphicData>
        </a:graphic>
      </p:graphicFrame>
      <p:graphicFrame>
        <p:nvGraphicFramePr>
          <p:cNvPr id="26" name="表 20">
            <a:extLst>
              <a:ext uri="{FF2B5EF4-FFF2-40B4-BE49-F238E27FC236}">
                <a16:creationId xmlns:a16="http://schemas.microsoft.com/office/drawing/2014/main" id="{41BE9C40-D099-4586-BEAE-C5B46F9B3561}"/>
              </a:ext>
            </a:extLst>
          </p:cNvPr>
          <p:cNvGraphicFramePr>
            <a:graphicFrameLocks noGrp="1"/>
          </p:cNvGraphicFramePr>
          <p:nvPr>
            <p:extLst>
              <p:ext uri="{D42A27DB-BD31-4B8C-83A1-F6EECF244321}">
                <p14:modId xmlns:p14="http://schemas.microsoft.com/office/powerpoint/2010/main" val="3398052208"/>
              </p:ext>
            </p:extLst>
          </p:nvPr>
        </p:nvGraphicFramePr>
        <p:xfrm>
          <a:off x="180000" y="2340000"/>
          <a:ext cx="4573056" cy="2377440"/>
        </p:xfrm>
        <a:graphic>
          <a:graphicData uri="http://schemas.openxmlformats.org/drawingml/2006/table">
            <a:tbl>
              <a:tblPr firstRow="1" bandRow="1">
                <a:tableStyleId>{5940675A-B579-460E-94D1-54222C63F5DA}</a:tableStyleId>
              </a:tblPr>
              <a:tblGrid>
                <a:gridCol w="1872000">
                  <a:extLst>
                    <a:ext uri="{9D8B030D-6E8A-4147-A177-3AD203B41FA5}">
                      <a16:colId xmlns:a16="http://schemas.microsoft.com/office/drawing/2014/main" val="148100114"/>
                    </a:ext>
                  </a:extLst>
                </a:gridCol>
                <a:gridCol w="690880">
                  <a:extLst>
                    <a:ext uri="{9D8B030D-6E8A-4147-A177-3AD203B41FA5}">
                      <a16:colId xmlns:a16="http://schemas.microsoft.com/office/drawing/2014/main" val="1073483072"/>
                    </a:ext>
                  </a:extLst>
                </a:gridCol>
                <a:gridCol w="843280">
                  <a:extLst>
                    <a:ext uri="{9D8B030D-6E8A-4147-A177-3AD203B41FA5}">
                      <a16:colId xmlns:a16="http://schemas.microsoft.com/office/drawing/2014/main" val="2445098943"/>
                    </a:ext>
                  </a:extLst>
                </a:gridCol>
                <a:gridCol w="698896">
                  <a:extLst>
                    <a:ext uri="{9D8B030D-6E8A-4147-A177-3AD203B41FA5}">
                      <a16:colId xmlns:a16="http://schemas.microsoft.com/office/drawing/2014/main" val="932701437"/>
                    </a:ext>
                  </a:extLst>
                </a:gridCol>
                <a:gridCol w="468000">
                  <a:extLst>
                    <a:ext uri="{9D8B030D-6E8A-4147-A177-3AD203B41FA5}">
                      <a16:colId xmlns:a16="http://schemas.microsoft.com/office/drawing/2014/main" val="1821456110"/>
                    </a:ext>
                  </a:extLst>
                </a:gridCol>
              </a:tblGrid>
              <a:tr h="429065">
                <a:tc>
                  <a:txBody>
                    <a:bodyPr/>
                    <a:lstStyle/>
                    <a:p>
                      <a:pPr algn="l"/>
                      <a:r>
                        <a:rPr kumimoji="1" lang="ja-JP" altLang="en-US" sz="1200" b="1" dirty="0">
                          <a:latin typeface="Meiryo UI" panose="020B0604030504040204" pitchFamily="50" charset="-128"/>
                          <a:ea typeface="Meiryo UI" panose="020B0604030504040204" pitchFamily="50" charset="-128"/>
                        </a:rPr>
                        <a:t>　　　　　　　　単語</a:t>
                      </a:r>
                      <a:endParaRPr kumimoji="1" lang="en-US" altLang="ja-JP" sz="1200" b="1" dirty="0">
                        <a:latin typeface="Meiryo UI" panose="020B0604030504040204" pitchFamily="50" charset="-128"/>
                        <a:ea typeface="Meiryo UI" panose="020B0604030504040204" pitchFamily="50" charset="-128"/>
                      </a:endParaRPr>
                    </a:p>
                    <a:p>
                      <a:pPr algn="l"/>
                      <a:r>
                        <a:rPr kumimoji="1" lang="ja-JP" altLang="en-US" sz="1200" b="1" dirty="0">
                          <a:latin typeface="Meiryo UI" panose="020B0604030504040204" pitchFamily="50" charset="-128"/>
                          <a:ea typeface="Meiryo UI" panose="020B0604030504040204" pitchFamily="50" charset="-128"/>
                        </a:rPr>
                        <a:t>文書</a:t>
                      </a:r>
                    </a:p>
                  </a:txBody>
                  <a:tcPr>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dirty="0">
                          <a:latin typeface="Meiryo UI" panose="020B0604030504040204" pitchFamily="50" charset="-128"/>
                          <a:ea typeface="Meiryo UI" panose="020B0604030504040204" pitchFamily="50" charset="-128"/>
                        </a:rPr>
                        <a:t>構造図</a:t>
                      </a:r>
                    </a:p>
                  </a:txBody>
                  <a:tcPr anchor="ctr">
                    <a:solidFill>
                      <a:schemeClr val="accent1">
                        <a:lumMod val="20000"/>
                        <a:lumOff val="80000"/>
                      </a:schemeClr>
                    </a:solidFill>
                  </a:tcPr>
                </a:tc>
                <a:tc>
                  <a:txBody>
                    <a:bodyPr/>
                    <a:lstStyle/>
                    <a:p>
                      <a:pPr algn="ctr"/>
                      <a:r>
                        <a:rPr kumimoji="1" lang="ja-JP" altLang="en-US" sz="1200" b="1" dirty="0">
                          <a:latin typeface="Meiryo UI" panose="020B0604030504040204" pitchFamily="50" charset="-128"/>
                          <a:ea typeface="Meiryo UI" panose="020B0604030504040204" pitchFamily="50" charset="-128"/>
                        </a:rPr>
                        <a:t>案内完了</a:t>
                      </a:r>
                    </a:p>
                  </a:txBody>
                  <a:tcPr anchor="ctr">
                    <a:solidFill>
                      <a:schemeClr val="accent1">
                        <a:lumMod val="20000"/>
                        <a:lumOff val="80000"/>
                      </a:schemeClr>
                    </a:solidFill>
                  </a:tcPr>
                </a:tc>
                <a:tc>
                  <a:txBody>
                    <a:bodyPr/>
                    <a:lstStyle/>
                    <a:p>
                      <a:pPr algn="ctr"/>
                      <a:r>
                        <a:rPr kumimoji="1" lang="ja-JP" altLang="en-US" sz="1200" b="1" dirty="0">
                          <a:latin typeface="Meiryo UI" panose="020B0604030504040204" pitchFamily="50" charset="-128"/>
                          <a:ea typeface="Meiryo UI" panose="020B0604030504040204" pitchFamily="50" charset="-128"/>
                        </a:rPr>
                        <a:t>説明書</a:t>
                      </a:r>
                    </a:p>
                  </a:txBody>
                  <a:tcPr anchor="ctr">
                    <a:solidFill>
                      <a:schemeClr val="accent1">
                        <a:lumMod val="20000"/>
                        <a:lumOff val="80000"/>
                      </a:schemeClr>
                    </a:solidFill>
                  </a:tcPr>
                </a:tc>
                <a:tc>
                  <a:txBody>
                    <a:bodyPr/>
                    <a:lstStyle/>
                    <a:p>
                      <a:pPr algn="ctr"/>
                      <a:r>
                        <a:rPr kumimoji="1" lang="ja-JP" altLang="en-US" sz="1200" b="1" dirty="0">
                          <a:latin typeface="Meiryo UI" panose="020B0604030504040204" pitchFamily="50" charset="-128"/>
                          <a:ea typeface="Meiryo UI" panose="020B0604030504040204" pitchFamily="50" charset="-128"/>
                        </a:rPr>
                        <a:t>・・・</a:t>
                      </a:r>
                    </a:p>
                  </a:txBody>
                  <a:tcPr anchor="ctr">
                    <a:solidFill>
                      <a:schemeClr val="accent1">
                        <a:lumMod val="20000"/>
                        <a:lumOff val="80000"/>
                      </a:schemeClr>
                    </a:solidFill>
                  </a:tcPr>
                </a:tc>
                <a:extLst>
                  <a:ext uri="{0D108BD9-81ED-4DB2-BD59-A6C34878D82A}">
                    <a16:rowId xmlns:a16="http://schemas.microsoft.com/office/drawing/2014/main" val="3266550065"/>
                  </a:ext>
                </a:extLst>
              </a:tr>
              <a:tr h="429065">
                <a:tc>
                  <a:txBody>
                    <a:bodyPr/>
                    <a:lstStyle/>
                    <a:p>
                      <a:pPr algn="ctr"/>
                      <a:r>
                        <a:rPr kumimoji="1" lang="ja-JP" altLang="en-US" sz="1200" dirty="0">
                          <a:latin typeface="Meiryo UI" panose="020B0604030504040204" pitchFamily="50" charset="-128"/>
                          <a:ea typeface="Meiryo UI" panose="020B0604030504040204" pitchFamily="50" charset="-128"/>
                        </a:rPr>
                        <a:t>構造壁の軸組みの確認問い。構造図確認の結果、軸組みであることを案内完了</a:t>
                      </a:r>
                    </a:p>
                  </a:txBody>
                  <a:tcPr/>
                </a:tc>
                <a:tc>
                  <a:txBody>
                    <a:bodyPr/>
                    <a:lstStyle/>
                    <a:p>
                      <a:pPr algn="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algn="r"/>
                      <a:r>
                        <a:rPr kumimoji="1"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algn="r"/>
                      <a:r>
                        <a:rPr kumimoji="1" lang="en-US" altLang="ja-JP" sz="1200" dirty="0">
                          <a:latin typeface="Meiryo UI" panose="020B0604030504040204" pitchFamily="50" charset="-128"/>
                          <a:ea typeface="Meiryo UI" panose="020B0604030504040204" pitchFamily="50" charset="-128"/>
                        </a:rPr>
                        <a:t>0</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3388074113"/>
                  </a:ext>
                </a:extLst>
              </a:tr>
              <a:tr h="274320">
                <a:tc>
                  <a:txBody>
                    <a:bodyPr/>
                    <a:lstStyle/>
                    <a:p>
                      <a:pPr algn="ctr"/>
                      <a:r>
                        <a:rPr kumimoji="1" lang="ja-JP" altLang="en-US" sz="1200" dirty="0">
                          <a:latin typeface="Meiryo UI" panose="020B0604030504040204" pitchFamily="50" charset="-128"/>
                          <a:ea typeface="Meiryo UI"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3573347377"/>
                  </a:ext>
                </a:extLst>
              </a:tr>
              <a:tr h="597877">
                <a:tc>
                  <a:txBody>
                    <a:bodyPr/>
                    <a:lstStyle/>
                    <a:p>
                      <a:pPr algn="ctr"/>
                      <a:r>
                        <a:rPr kumimoji="1" lang="en-US" altLang="ja-JP" sz="1200" dirty="0">
                          <a:latin typeface="Meiryo UI" panose="020B0604030504040204" pitchFamily="50" charset="-128"/>
                          <a:ea typeface="Meiryo UI" panose="020B0604030504040204" pitchFamily="50" charset="-128"/>
                        </a:rPr>
                        <a:t>IH</a:t>
                      </a:r>
                      <a:r>
                        <a:rPr kumimoji="1" lang="ja-JP" altLang="en-US" sz="1200" dirty="0">
                          <a:latin typeface="Meiryo UI" panose="020B0604030504040204" pitchFamily="50" charset="-128"/>
                          <a:ea typeface="Meiryo UI" panose="020B0604030504040204" pitchFamily="50" charset="-128"/>
                        </a:rPr>
                        <a:t>ヒータの操作方法についてのお問合せ。こちらに説明書がありませんと案内完了、ご自身で説明書を見て対応しますとの事。</a:t>
                      </a:r>
                    </a:p>
                  </a:txBody>
                  <a:tcPr/>
                </a:tc>
                <a:tc>
                  <a:txBody>
                    <a:bodyPr/>
                    <a:lstStyle/>
                    <a:p>
                      <a:pPr algn="r"/>
                      <a:r>
                        <a:rPr lang="en-US" altLang="ja-JP" sz="1200" dirty="0">
                          <a:latin typeface="Meiryo UI" panose="020B0604030504040204" pitchFamily="50" charset="-128"/>
                          <a:ea typeface="Meiryo UI" panose="020B0604030504040204" pitchFamily="50" charset="-128"/>
                        </a:rPr>
                        <a:t>0</a:t>
                      </a:r>
                      <a:endParaRPr lang="ja-JP" altLang="en-US" sz="1200" dirty="0">
                        <a:latin typeface="Meiryo UI" panose="020B0604030504040204" pitchFamily="50" charset="-128"/>
                        <a:ea typeface="Meiryo UI" panose="020B0604030504040204" pitchFamily="50" charset="-128"/>
                      </a:endParaRPr>
                    </a:p>
                  </a:txBody>
                  <a:tcPr/>
                </a:tc>
                <a:tc>
                  <a:txBody>
                    <a:bodyPr/>
                    <a:lstStyle/>
                    <a:p>
                      <a:pPr algn="r"/>
                      <a:r>
                        <a:rPr lang="en-US" altLang="ja-JP" sz="1200" dirty="0">
                          <a:latin typeface="Meiryo UI" panose="020B0604030504040204" pitchFamily="50" charset="-128"/>
                          <a:ea typeface="Meiryo UI" panose="020B0604030504040204" pitchFamily="50" charset="-128"/>
                        </a:rPr>
                        <a:t>1</a:t>
                      </a:r>
                      <a:endParaRPr lang="ja-JP" altLang="en-US" sz="1200" dirty="0">
                        <a:latin typeface="Meiryo UI" panose="020B0604030504040204" pitchFamily="50" charset="-128"/>
                        <a:ea typeface="Meiryo UI" panose="020B0604030504040204" pitchFamily="50" charset="-128"/>
                      </a:endParaRPr>
                    </a:p>
                  </a:txBody>
                  <a:tcPr/>
                </a:tc>
                <a:tc>
                  <a:txBody>
                    <a:bodyPr/>
                    <a:lstStyle/>
                    <a:p>
                      <a:pPr algn="r"/>
                      <a:r>
                        <a:rPr lang="en-US" altLang="ja-JP" sz="1200" dirty="0">
                          <a:latin typeface="Meiryo UI" panose="020B0604030504040204" pitchFamily="50" charset="-128"/>
                          <a:ea typeface="Meiryo UI" panose="020B0604030504040204" pitchFamily="50" charset="-128"/>
                        </a:rPr>
                        <a:t>1</a:t>
                      </a:r>
                      <a:endParaRPr lang="ja-JP" altLang="en-US" sz="1200" dirty="0">
                        <a:latin typeface="Meiryo UI" panose="020B0604030504040204" pitchFamily="50" charset="-128"/>
                        <a:ea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p>
                  </a:txBody>
                  <a:tcPr/>
                </a:tc>
                <a:extLst>
                  <a:ext uri="{0D108BD9-81ED-4DB2-BD59-A6C34878D82A}">
                    <a16:rowId xmlns:a16="http://schemas.microsoft.com/office/drawing/2014/main" val="2908099387"/>
                  </a:ext>
                </a:extLst>
              </a:tr>
            </a:tbl>
          </a:graphicData>
        </a:graphic>
      </p:graphicFrame>
      <p:sp>
        <p:nvSpPr>
          <p:cNvPr id="5" name="スライド番号プレースホルダー 4">
            <a:extLst>
              <a:ext uri="{FF2B5EF4-FFF2-40B4-BE49-F238E27FC236}">
                <a16:creationId xmlns:a16="http://schemas.microsoft.com/office/drawing/2014/main" id="{014141E0-A115-4FAF-9769-8D2DDABA9E1E}"/>
              </a:ext>
            </a:extLst>
          </p:cNvPr>
          <p:cNvSpPr>
            <a:spLocks noGrp="1"/>
          </p:cNvSpPr>
          <p:nvPr>
            <p:ph type="sldNum" sz="quarter" idx="12"/>
          </p:nvPr>
        </p:nvSpPr>
        <p:spPr/>
        <p:txBody>
          <a:bodyPr/>
          <a:lstStyle/>
          <a:p>
            <a:fld id="{4A0ABA21-04CE-4531-99B2-420D29D6D622}" type="slidenum">
              <a:rPr lang="ja-JP" altLang="en-US" smtClean="0"/>
              <a:pPr/>
              <a:t>7</a:t>
            </a:fld>
            <a:endParaRPr lang="ja-JP" altLang="en-US" dirty="0"/>
          </a:p>
        </p:txBody>
      </p:sp>
      <p:sp>
        <p:nvSpPr>
          <p:cNvPr id="4" name="テキスト ボックス 3">
            <a:extLst>
              <a:ext uri="{FF2B5EF4-FFF2-40B4-BE49-F238E27FC236}">
                <a16:creationId xmlns:a16="http://schemas.microsoft.com/office/drawing/2014/main" id="{C65C8A8A-2023-49BF-BB7B-2C488462A42D}"/>
              </a:ext>
            </a:extLst>
          </p:cNvPr>
          <p:cNvSpPr txBox="1"/>
          <p:nvPr/>
        </p:nvSpPr>
        <p:spPr>
          <a:xfrm>
            <a:off x="5184000" y="4871588"/>
            <a:ext cx="4184963" cy="338554"/>
          </a:xfrm>
          <a:prstGeom prst="rect">
            <a:avLst/>
          </a:prstGeom>
          <a:noFill/>
        </p:spPr>
        <p:txBody>
          <a:bodyPr wrap="square" rtlCol="0">
            <a:spAutoFit/>
          </a:bodyPr>
          <a:lstStyle/>
          <a:p>
            <a:pPr algn="l"/>
            <a:r>
              <a:rPr kumimoji="1" lang="en-US" altLang="ja-JP" sz="1600" b="1" dirty="0">
                <a:latin typeface="Meiryo UI" panose="020B0604030504040204" pitchFamily="50" charset="-128"/>
                <a:ea typeface="Meiryo UI" panose="020B0604030504040204" pitchFamily="50" charset="-128"/>
              </a:rPr>
              <a:t>3</a:t>
            </a:r>
            <a:r>
              <a:rPr kumimoji="1" lang="ja-JP" altLang="en-US" sz="1600" b="1" dirty="0">
                <a:latin typeface="Meiryo UI" panose="020B0604030504040204" pitchFamily="50" charset="-128"/>
                <a:ea typeface="Meiryo UI" panose="020B0604030504040204" pitchFamily="50" charset="-128"/>
              </a:rPr>
              <a:t>つのグループへ文章を割り振る</a:t>
            </a:r>
          </a:p>
        </p:txBody>
      </p:sp>
    </p:spTree>
    <p:extLst>
      <p:ext uri="{BB962C8B-B14F-4D97-AF65-F5344CB8AC3E}">
        <p14:creationId xmlns:p14="http://schemas.microsoft.com/office/powerpoint/2010/main" val="486186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B95E1B-E990-41A8-8643-65F176E57CD8}"/>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クラスタリングの流れ</a:t>
            </a:r>
          </a:p>
        </p:txBody>
      </p:sp>
      <p:sp>
        <p:nvSpPr>
          <p:cNvPr id="41" name="テキスト プレースホルダー 40">
            <a:extLst>
              <a:ext uri="{FF2B5EF4-FFF2-40B4-BE49-F238E27FC236}">
                <a16:creationId xmlns:a16="http://schemas.microsoft.com/office/drawing/2014/main" id="{3C43482B-E8B5-4821-B38C-16767A484675}"/>
              </a:ext>
            </a:extLst>
          </p:cNvPr>
          <p:cNvSpPr>
            <a:spLocks noGrp="1"/>
          </p:cNvSpPr>
          <p:nvPr>
            <p:ph type="body" idx="4294967295"/>
          </p:nvPr>
        </p:nvSpPr>
        <p:spPr>
          <a:xfrm>
            <a:off x="540000" y="1080000"/>
            <a:ext cx="9144000" cy="900000"/>
          </a:xfrm>
          <a:prstGeom prst="rect">
            <a:avLst/>
          </a:prstGeom>
        </p:spPr>
        <p:txBody>
          <a:bodyPr lIns="72000" tIns="72000" rIns="72000" bIns="72000">
            <a:noAutofit/>
          </a:bodyPr>
          <a:lstStyle/>
          <a:p>
            <a:pPr marL="0" indent="0" rtl="0" eaLnBrk="1" latinLnBrk="0" hangingPunct="1">
              <a:buNone/>
            </a:pPr>
            <a:r>
              <a:rPr lang="ja-JP" altLang="en-US" sz="2000" b="1" dirty="0">
                <a:latin typeface="Meiryo UI" panose="020B0604030504040204" pitchFamily="50" charset="-128"/>
                <a:ea typeface="Meiryo UI" panose="020B0604030504040204" pitchFamily="50" charset="-128"/>
              </a:rPr>
              <a:t>分析の際は、</a:t>
            </a:r>
            <a:r>
              <a:rPr lang="en-US" altLang="ja-JP" sz="2000" b="1" dirty="0">
                <a:latin typeface="Meiryo UI" panose="020B0604030504040204" pitchFamily="50" charset="-128"/>
                <a:ea typeface="Meiryo UI" panose="020B0604030504040204" pitchFamily="50" charset="-128"/>
              </a:rPr>
              <a:t>Word Embedding</a:t>
            </a:r>
            <a:r>
              <a:rPr lang="ja-JP" altLang="en-US" sz="2000" b="1" dirty="0">
                <a:latin typeface="Meiryo UI" panose="020B0604030504040204" pitchFamily="50" charset="-128"/>
                <a:ea typeface="Meiryo UI" panose="020B0604030504040204" pitchFamily="50" charset="-128"/>
              </a:rPr>
              <a:t>アルゴリズム・クラスタリングアルゴリズムをそれぞれ選択する必要があります。</a:t>
            </a:r>
            <a:endParaRPr lang="ja-JP" altLang="ja-JP" sz="2000" b="1"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D72ABC17-C457-4BD4-B5A1-94074BEC3619}"/>
              </a:ext>
            </a:extLst>
          </p:cNvPr>
          <p:cNvSpPr txBox="1"/>
          <p:nvPr/>
        </p:nvSpPr>
        <p:spPr>
          <a:xfrm>
            <a:off x="2142151" y="1980000"/>
            <a:ext cx="5621698" cy="369332"/>
          </a:xfrm>
          <a:prstGeom prst="rect">
            <a:avLst/>
          </a:prstGeom>
          <a:noFill/>
        </p:spPr>
        <p:txBody>
          <a:bodyPr wrap="square" rtlCol="0">
            <a:spAutoFit/>
          </a:bodyPr>
          <a:lstStyle/>
          <a:p>
            <a:pPr algn="l"/>
            <a:r>
              <a:rPr lang="ja-JP" altLang="en-US" b="1" dirty="0">
                <a:latin typeface="Meiryo UI" panose="020B0604030504040204" pitchFamily="50" charset="-128"/>
                <a:ea typeface="Meiryo UI" panose="020B0604030504040204" pitchFamily="50" charset="-128"/>
              </a:rPr>
              <a:t>クラスタリングを行う場合の流れ（テキストデータの場合）</a:t>
            </a:r>
          </a:p>
        </p:txBody>
      </p:sp>
      <p:sp>
        <p:nvSpPr>
          <p:cNvPr id="36" name="コンテンツ プレースホルダー 2">
            <a:extLst>
              <a:ext uri="{FF2B5EF4-FFF2-40B4-BE49-F238E27FC236}">
                <a16:creationId xmlns:a16="http://schemas.microsoft.com/office/drawing/2014/main" id="{B67670B7-CA6A-4609-BACF-E36C35F6C7C5}"/>
              </a:ext>
            </a:extLst>
          </p:cNvPr>
          <p:cNvSpPr txBox="1">
            <a:spLocks/>
          </p:cNvSpPr>
          <p:nvPr/>
        </p:nvSpPr>
        <p:spPr>
          <a:xfrm>
            <a:off x="540000" y="5220000"/>
            <a:ext cx="9344025" cy="1235051"/>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Ø"/>
              <a:defRPr kumimoji="1" sz="32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defTabSz="914400" rtl="0" eaLnBrk="1" latinLnBrk="0" hangingPunct="1">
              <a:spcBef>
                <a:spcPct val="20000"/>
              </a:spcBef>
              <a:buFont typeface="Wingdings" panose="05000000000000000000" pitchFamily="2" charset="2"/>
              <a:buChar char="Ø"/>
              <a:defRPr kumimoji="1" sz="28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defTabSz="914400" rtl="0" eaLnBrk="1" latinLnBrk="0" hangingPunct="1">
              <a:spcBef>
                <a:spcPct val="20000"/>
              </a:spcBef>
              <a:buFont typeface="Wingdings" panose="05000000000000000000" pitchFamily="2" charset="2"/>
              <a:buChar char="Ø"/>
              <a:defRPr kumimoji="1" sz="24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defTabSz="914400" rtl="0" eaLnBrk="1" latinLnBrk="0" hangingPunct="1">
              <a:spcBef>
                <a:spcPct val="20000"/>
              </a:spcBef>
              <a:buFont typeface="Wingdings" panose="05000000000000000000" pitchFamily="2" charset="2"/>
              <a:buChar char="Ø"/>
              <a:defRPr kumimoji="1" sz="20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defTabSz="914400" rtl="0" eaLnBrk="1" latinLnBrk="0" hangingPunct="1">
              <a:spcBef>
                <a:spcPct val="20000"/>
              </a:spcBef>
              <a:buFont typeface="Wingdings" panose="05000000000000000000" pitchFamily="2" charset="2"/>
              <a:buChar char="Ø"/>
              <a:defRPr kumimoji="1" sz="20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marL="360000" indent="-360000">
              <a:spcBef>
                <a:spcPts val="0"/>
              </a:spcBef>
            </a:pPr>
            <a:r>
              <a:rPr lang="ja-JP" altLang="en-US" sz="1600" dirty="0">
                <a:solidFill>
                  <a:schemeClr val="tx1"/>
                </a:solidFill>
              </a:rPr>
              <a:t>クラスタリングは、学習用データへのカテゴリ付けが不要であり、客観的な基準に基づいて分類することが可能な教師無し手法です。</a:t>
            </a:r>
            <a:endParaRPr lang="en-US" altLang="ja-JP" sz="1600" dirty="0">
              <a:solidFill>
                <a:schemeClr val="tx1"/>
              </a:solidFill>
            </a:endParaRPr>
          </a:p>
          <a:p>
            <a:pPr marL="360000" indent="-360000">
              <a:spcBef>
                <a:spcPts val="0"/>
              </a:spcBef>
            </a:pPr>
            <a:r>
              <a:rPr lang="en-US" altLang="ja-JP" sz="1600" dirty="0">
                <a:solidFill>
                  <a:schemeClr val="tx1"/>
                </a:solidFill>
              </a:rPr>
              <a:t>Word Embedding</a:t>
            </a:r>
            <a:r>
              <a:rPr lang="ja-JP" altLang="en-US" sz="1600" dirty="0">
                <a:solidFill>
                  <a:schemeClr val="tx1"/>
                </a:solidFill>
              </a:rPr>
              <a:t>アルゴリズムは、分類を行うためにテキストデータをベクトルへ変換するアルゴリズムです。</a:t>
            </a:r>
            <a:endParaRPr lang="en-US" altLang="ja-JP" sz="1600" dirty="0">
              <a:solidFill>
                <a:schemeClr val="tx1"/>
              </a:solidFill>
            </a:endParaRPr>
          </a:p>
          <a:p>
            <a:pPr marL="360000" indent="-360000">
              <a:spcBef>
                <a:spcPts val="0"/>
              </a:spcBef>
            </a:pPr>
            <a:r>
              <a:rPr lang="ja-JP" altLang="en-US" sz="1600" dirty="0">
                <a:solidFill>
                  <a:schemeClr val="tx1"/>
                </a:solidFill>
              </a:rPr>
              <a:t>クラスタリングアルゴリズムは、ベクトルからデータの分類を行うアルゴリズムです。</a:t>
            </a:r>
          </a:p>
        </p:txBody>
      </p:sp>
      <p:sp>
        <p:nvSpPr>
          <p:cNvPr id="4" name="フローチャート: 組合せ 3">
            <a:extLst>
              <a:ext uri="{FF2B5EF4-FFF2-40B4-BE49-F238E27FC236}">
                <a16:creationId xmlns:a16="http://schemas.microsoft.com/office/drawing/2014/main" id="{911D70B6-17DA-4F1F-AF6F-896AE30D200C}"/>
              </a:ext>
            </a:extLst>
          </p:cNvPr>
          <p:cNvSpPr/>
          <p:nvPr/>
        </p:nvSpPr>
        <p:spPr>
          <a:xfrm rot="16200000">
            <a:off x="2942769" y="3600000"/>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pic>
        <p:nvPicPr>
          <p:cNvPr id="9" name="グラフィックス 8" descr="データベース">
            <a:extLst>
              <a:ext uri="{FF2B5EF4-FFF2-40B4-BE49-F238E27FC236}">
                <a16:creationId xmlns:a16="http://schemas.microsoft.com/office/drawing/2014/main" id="{78C4BD26-D6A6-4FCC-BF1B-A5CD4E89D3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45144" y="3054478"/>
            <a:ext cx="1555594" cy="1555594"/>
          </a:xfrm>
          <a:prstGeom prst="rect">
            <a:avLst/>
          </a:prstGeom>
        </p:spPr>
      </p:pic>
      <p:sp>
        <p:nvSpPr>
          <p:cNvPr id="10" name="矢印: 五方向 9">
            <a:extLst>
              <a:ext uri="{FF2B5EF4-FFF2-40B4-BE49-F238E27FC236}">
                <a16:creationId xmlns:a16="http://schemas.microsoft.com/office/drawing/2014/main" id="{E8F2FE42-D978-43B8-BF3E-57684A86D288}"/>
              </a:ext>
            </a:extLst>
          </p:cNvPr>
          <p:cNvSpPr/>
          <p:nvPr/>
        </p:nvSpPr>
        <p:spPr>
          <a:xfrm>
            <a:off x="1725626" y="2340000"/>
            <a:ext cx="1692000" cy="674806"/>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ja-JP" altLang="en-US" b="1" dirty="0">
                <a:solidFill>
                  <a:prstClr val="white"/>
                </a:solidFill>
                <a:latin typeface="Meiryo UI" panose="020B0604030504040204" pitchFamily="50" charset="-128"/>
                <a:ea typeface="Meiryo UI" panose="020B0604030504040204" pitchFamily="50" charset="-128"/>
              </a:rPr>
              <a:t>テキスト</a:t>
            </a:r>
            <a:endParaRPr lang="en-US" altLang="ja-JP" b="1" dirty="0">
              <a:solidFill>
                <a:prstClr val="white"/>
              </a:solidFill>
              <a:latin typeface="Meiryo UI" panose="020B0604030504040204" pitchFamily="50" charset="-128"/>
              <a:ea typeface="Meiryo UI" panose="020B0604030504040204" pitchFamily="50" charset="-128"/>
            </a:endParaRPr>
          </a:p>
          <a:p>
            <a:pPr algn="ctr">
              <a:defRPr/>
            </a:pPr>
            <a:r>
              <a:rPr lang="ja-JP" altLang="en-US" b="1" dirty="0">
                <a:solidFill>
                  <a:prstClr val="white"/>
                </a:solidFill>
                <a:latin typeface="Meiryo UI" panose="020B0604030504040204" pitchFamily="50" charset="-128"/>
                <a:ea typeface="Meiryo UI" panose="020B0604030504040204" pitchFamily="50" charset="-128"/>
              </a:rPr>
              <a:t>データ</a:t>
            </a:r>
          </a:p>
        </p:txBody>
      </p:sp>
      <p:sp>
        <p:nvSpPr>
          <p:cNvPr id="18" name="矢印: 五方向 17">
            <a:extLst>
              <a:ext uri="{FF2B5EF4-FFF2-40B4-BE49-F238E27FC236}">
                <a16:creationId xmlns:a16="http://schemas.microsoft.com/office/drawing/2014/main" id="{1B4FB506-2DE8-4CDB-8B29-8B241E15E29E}"/>
              </a:ext>
            </a:extLst>
          </p:cNvPr>
          <p:cNvSpPr/>
          <p:nvPr/>
        </p:nvSpPr>
        <p:spPr>
          <a:xfrm>
            <a:off x="4107806" y="2340000"/>
            <a:ext cx="1691117" cy="674806"/>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ja-JP" sz="1600" b="1" dirty="0">
                <a:latin typeface="Meiryo UI" panose="020B0604030504040204" pitchFamily="50" charset="-128"/>
                <a:ea typeface="Meiryo UI" panose="020B0604030504040204" pitchFamily="50" charset="-128"/>
              </a:rPr>
              <a:t>Word Embedding</a:t>
            </a:r>
            <a:r>
              <a:rPr lang="ja-JP" altLang="en-US" sz="1600" b="1" dirty="0">
                <a:latin typeface="Meiryo UI" panose="020B0604030504040204" pitchFamily="50" charset="-128"/>
                <a:ea typeface="Meiryo UI" panose="020B0604030504040204" pitchFamily="50" charset="-128"/>
              </a:rPr>
              <a:t>アルゴリズム</a:t>
            </a:r>
            <a:endParaRPr lang="ja-JP" altLang="en-US" sz="1600" b="1" dirty="0">
              <a:solidFill>
                <a:prstClr val="white"/>
              </a:solidFill>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E357D405-E992-4D9C-B80C-FF44FBE13D54}"/>
              </a:ext>
            </a:extLst>
          </p:cNvPr>
          <p:cNvSpPr/>
          <p:nvPr/>
        </p:nvSpPr>
        <p:spPr>
          <a:xfrm>
            <a:off x="4107806" y="3166111"/>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Bag of Words</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7D5BE4EF-D961-482B-B54D-1CC6DC1A585E}"/>
              </a:ext>
            </a:extLst>
          </p:cNvPr>
          <p:cNvSpPr/>
          <p:nvPr/>
        </p:nvSpPr>
        <p:spPr>
          <a:xfrm>
            <a:off x="4107806" y="3809611"/>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TF-IDF</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33" name="矢印: 五方向 32">
            <a:extLst>
              <a:ext uri="{FF2B5EF4-FFF2-40B4-BE49-F238E27FC236}">
                <a16:creationId xmlns:a16="http://schemas.microsoft.com/office/drawing/2014/main" id="{E5F7E42E-9066-431B-BF11-273DD807BDAA}"/>
              </a:ext>
            </a:extLst>
          </p:cNvPr>
          <p:cNvSpPr/>
          <p:nvPr/>
        </p:nvSpPr>
        <p:spPr>
          <a:xfrm>
            <a:off x="6489103" y="2340000"/>
            <a:ext cx="1691117" cy="674806"/>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クラスタリング</a:t>
            </a:r>
            <a:endParaRPr lang="en-US" altLang="ja-JP" b="1" dirty="0">
              <a:latin typeface="Meiryo UI" panose="020B0604030504040204" pitchFamily="50" charset="-128"/>
              <a:ea typeface="Meiryo UI" panose="020B0604030504040204" pitchFamily="50" charset="-128"/>
            </a:endParaRPr>
          </a:p>
          <a:p>
            <a:pPr algn="ctr"/>
            <a:r>
              <a:rPr lang="ja-JP" altLang="en-US" b="1" dirty="0">
                <a:latin typeface="Meiryo UI" panose="020B0604030504040204" pitchFamily="50" charset="-128"/>
                <a:ea typeface="Meiryo UI" panose="020B0604030504040204" pitchFamily="50" charset="-128"/>
              </a:rPr>
              <a:t>アルゴリズム</a:t>
            </a:r>
            <a:endParaRPr lang="ja-JP" altLang="en-US" b="1" baseline="30000" dirty="0">
              <a:latin typeface="Meiryo UI" panose="020B0604030504040204" pitchFamily="50" charset="-128"/>
              <a:ea typeface="Meiryo UI" panose="020B0604030504040204" pitchFamily="50" charset="-128"/>
            </a:endParaRPr>
          </a:p>
        </p:txBody>
      </p:sp>
      <p:sp>
        <p:nvSpPr>
          <p:cNvPr id="37" name="フローチャート: 組合せ 36">
            <a:extLst>
              <a:ext uri="{FF2B5EF4-FFF2-40B4-BE49-F238E27FC236}">
                <a16:creationId xmlns:a16="http://schemas.microsoft.com/office/drawing/2014/main" id="{5E2D76F3-53FF-457F-98D5-EB04E411509F}"/>
              </a:ext>
            </a:extLst>
          </p:cNvPr>
          <p:cNvSpPr/>
          <p:nvPr/>
        </p:nvSpPr>
        <p:spPr>
          <a:xfrm rot="16200000">
            <a:off x="5387076" y="3600000"/>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sp>
        <p:nvSpPr>
          <p:cNvPr id="45" name="四角形: 角を丸くする 44">
            <a:extLst>
              <a:ext uri="{FF2B5EF4-FFF2-40B4-BE49-F238E27FC236}">
                <a16:creationId xmlns:a16="http://schemas.microsoft.com/office/drawing/2014/main" id="{516F0E53-AAE9-4365-9757-0C2CE051C409}"/>
              </a:ext>
            </a:extLst>
          </p:cNvPr>
          <p:cNvSpPr/>
          <p:nvPr/>
        </p:nvSpPr>
        <p:spPr>
          <a:xfrm>
            <a:off x="6489103" y="3198174"/>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K-means</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46" name="四角形: 角を丸くする 45">
            <a:extLst>
              <a:ext uri="{FF2B5EF4-FFF2-40B4-BE49-F238E27FC236}">
                <a16:creationId xmlns:a16="http://schemas.microsoft.com/office/drawing/2014/main" id="{CF9AA60F-2F46-4670-B2A6-D47F64968A2C}"/>
              </a:ext>
            </a:extLst>
          </p:cNvPr>
          <p:cNvSpPr/>
          <p:nvPr/>
        </p:nvSpPr>
        <p:spPr>
          <a:xfrm>
            <a:off x="6489103" y="3841674"/>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PLSA</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49" name="テキスト ボックス 48">
            <a:extLst>
              <a:ext uri="{FF2B5EF4-FFF2-40B4-BE49-F238E27FC236}">
                <a16:creationId xmlns:a16="http://schemas.microsoft.com/office/drawing/2014/main" id="{F367E116-8E77-4D90-8FE7-70DE454F948E}"/>
              </a:ext>
            </a:extLst>
          </p:cNvPr>
          <p:cNvSpPr txBox="1"/>
          <p:nvPr/>
        </p:nvSpPr>
        <p:spPr>
          <a:xfrm>
            <a:off x="4737998" y="4392000"/>
            <a:ext cx="430887" cy="707886"/>
          </a:xfrm>
          <a:prstGeom prst="rect">
            <a:avLst/>
          </a:prstGeom>
          <a:noFill/>
        </p:spPr>
        <p:txBody>
          <a:bodyPr vert="eaVert" wrap="none" rtlCol="0">
            <a:spAutoFit/>
          </a:bodyPr>
          <a:lstStyle/>
          <a:p>
            <a:r>
              <a:rPr kumimoji="1" lang="ja-JP" altLang="en-US" sz="1600" dirty="0">
                <a:latin typeface="Meiryo UI" panose="020B0604030504040204" pitchFamily="50" charset="-128"/>
                <a:ea typeface="Meiryo UI" panose="020B0604030504040204" pitchFamily="50" charset="-128"/>
              </a:rPr>
              <a:t>・・・</a:t>
            </a:r>
          </a:p>
        </p:txBody>
      </p:sp>
      <p:sp>
        <p:nvSpPr>
          <p:cNvPr id="21" name="テキスト ボックス 20">
            <a:extLst>
              <a:ext uri="{FF2B5EF4-FFF2-40B4-BE49-F238E27FC236}">
                <a16:creationId xmlns:a16="http://schemas.microsoft.com/office/drawing/2014/main" id="{10ED9006-D093-4B0F-8BF9-30E3C82929BC}"/>
              </a:ext>
            </a:extLst>
          </p:cNvPr>
          <p:cNvSpPr txBox="1"/>
          <p:nvPr/>
        </p:nvSpPr>
        <p:spPr>
          <a:xfrm>
            <a:off x="7119217" y="4392000"/>
            <a:ext cx="430887" cy="707886"/>
          </a:xfrm>
          <a:prstGeom prst="rect">
            <a:avLst/>
          </a:prstGeom>
          <a:noFill/>
        </p:spPr>
        <p:txBody>
          <a:bodyPr vert="eaVert" wrap="none" rtlCol="0">
            <a:spAutoFit/>
          </a:bodyPr>
          <a:lstStyle/>
          <a:p>
            <a:r>
              <a:rPr kumimoji="1" lang="ja-JP" altLang="en-US" sz="1600" dirty="0">
                <a:latin typeface="Meiryo UI" panose="020B0604030504040204" pitchFamily="50" charset="-128"/>
                <a:ea typeface="Meiryo UI" panose="020B0604030504040204" pitchFamily="50" charset="-128"/>
              </a:rPr>
              <a:t>・・・</a:t>
            </a:r>
          </a:p>
        </p:txBody>
      </p:sp>
      <p:sp>
        <p:nvSpPr>
          <p:cNvPr id="5" name="スライド番号プレースホルダー 4">
            <a:extLst>
              <a:ext uri="{FF2B5EF4-FFF2-40B4-BE49-F238E27FC236}">
                <a16:creationId xmlns:a16="http://schemas.microsoft.com/office/drawing/2014/main" id="{DB38000D-076A-4061-A6C7-0D883FB47BD9}"/>
              </a:ext>
            </a:extLst>
          </p:cNvPr>
          <p:cNvSpPr>
            <a:spLocks noGrp="1"/>
          </p:cNvSpPr>
          <p:nvPr>
            <p:ph type="sldNum" sz="quarter" idx="12"/>
          </p:nvPr>
        </p:nvSpPr>
        <p:spPr/>
        <p:txBody>
          <a:bodyPr/>
          <a:lstStyle/>
          <a:p>
            <a:fld id="{4A0ABA21-04CE-4531-99B2-420D29D6D622}" type="slidenum">
              <a:rPr lang="ja-JP" altLang="en-US" smtClean="0"/>
              <a:pPr/>
              <a:t>8</a:t>
            </a:fld>
            <a:endParaRPr lang="ja-JP" altLang="en-US" dirty="0"/>
          </a:p>
        </p:txBody>
      </p:sp>
    </p:spTree>
    <p:extLst>
      <p:ext uri="{BB962C8B-B14F-4D97-AF65-F5344CB8AC3E}">
        <p14:creationId xmlns:p14="http://schemas.microsoft.com/office/powerpoint/2010/main" val="3195443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6160B2-23B1-485F-9B19-F9B5BA6CE6BC}"/>
              </a:ext>
            </a:extLst>
          </p:cNvPr>
          <p:cNvSpPr>
            <a:spLocks noGrp="1"/>
          </p:cNvSpPr>
          <p:nvPr>
            <p:ph type="title"/>
          </p:nvPr>
        </p:nvSpPr>
        <p:spPr>
          <a:xfrm>
            <a:off x="540000" y="360000"/>
            <a:ext cx="9022254" cy="720000"/>
          </a:xfrm>
        </p:spPr>
        <p:txBody>
          <a:bodyPr lIns="72000" tIns="72000" rIns="72000" bIns="72000">
            <a:normAutofit/>
          </a:bodyPr>
          <a:lstStyle/>
          <a:p>
            <a:r>
              <a:rPr lang="en-US" altLang="ja-JP" dirty="0"/>
              <a:t>Word Embedding</a:t>
            </a:r>
            <a:r>
              <a:rPr lang="ja-JP" altLang="en-US" dirty="0"/>
              <a:t>アルゴリズムの種類</a:t>
            </a:r>
            <a:endParaRPr kumimoji="1" lang="ja-JP" altLang="en-US" sz="3600" dirty="0">
              <a:latin typeface="Meiryo UI" panose="020B0604030504040204" pitchFamily="50" charset="-128"/>
              <a:ea typeface="Meiryo UI" panose="020B0604030504040204" pitchFamily="50" charset="-128"/>
            </a:endParaRPr>
          </a:p>
        </p:txBody>
      </p:sp>
      <p:sp>
        <p:nvSpPr>
          <p:cNvPr id="15" name="コンテンツ プレースホルダー 2">
            <a:extLst>
              <a:ext uri="{FF2B5EF4-FFF2-40B4-BE49-F238E27FC236}">
                <a16:creationId xmlns:a16="http://schemas.microsoft.com/office/drawing/2014/main" id="{003CE432-6201-4E1B-A9F1-160A56485A03}"/>
              </a:ext>
            </a:extLst>
          </p:cNvPr>
          <p:cNvSpPr>
            <a:spLocks noGrp="1"/>
          </p:cNvSpPr>
          <p:nvPr>
            <p:ph idx="4294967295"/>
          </p:nvPr>
        </p:nvSpPr>
        <p:spPr>
          <a:xfrm>
            <a:off x="540000" y="1080000"/>
            <a:ext cx="9144000" cy="652463"/>
          </a:xfrm>
          <a:prstGeom prst="rect">
            <a:avLst/>
          </a:prstGeom>
        </p:spPr>
        <p:txBody>
          <a:bodyPr lIns="72000" tIns="72000" rIns="72000" bIns="72000">
            <a:noAutofit/>
          </a:bodyPr>
          <a:lstStyle/>
          <a:p>
            <a:pPr marL="0" indent="0">
              <a:spcBef>
                <a:spcPts val="0"/>
              </a:spcBef>
              <a:buNone/>
            </a:pPr>
            <a:r>
              <a:rPr lang="en-US" altLang="ja-JP" sz="2000" b="1" dirty="0">
                <a:latin typeface="Meiryo UI" panose="020B0604030504040204" pitchFamily="50" charset="-128"/>
                <a:ea typeface="Meiryo UI" panose="020B0604030504040204" pitchFamily="50" charset="-128"/>
              </a:rPr>
              <a:t>Word Embedding</a:t>
            </a:r>
            <a:r>
              <a:rPr lang="ja-JP" altLang="en-US" sz="2000" b="1" dirty="0">
                <a:latin typeface="Meiryo UI" panose="020B0604030504040204" pitchFamily="50" charset="-128"/>
                <a:ea typeface="Meiryo UI" panose="020B0604030504040204" pitchFamily="50" charset="-128"/>
              </a:rPr>
              <a:t>アルゴリズムには、様々な種類が存在し</a:t>
            </a:r>
            <a:r>
              <a:rPr lang="ja-JP" altLang="ja-JP" sz="2000" b="1" dirty="0">
                <a:latin typeface="Meiryo UI" panose="020B0604030504040204" pitchFamily="50" charset="-128"/>
                <a:ea typeface="Meiryo UI" panose="020B0604030504040204" pitchFamily="50" charset="-128"/>
              </a:rPr>
              <a:t>、ベクトル化する計算方法が違います</a:t>
            </a:r>
            <a:r>
              <a:rPr lang="ja-JP" altLang="en-US" sz="2000" b="1" dirty="0">
                <a:latin typeface="Meiryo UI" panose="020B0604030504040204" pitchFamily="50" charset="-128"/>
                <a:ea typeface="Meiryo UI" panose="020B0604030504040204" pitchFamily="50" charset="-128"/>
              </a:rPr>
              <a:t>。主に単語頻度を利用した手法や推論ベースの手法が存在します。</a:t>
            </a:r>
            <a:endParaRPr lang="ja-JP" altLang="ja-JP" sz="2000" dirty="0">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D9B8162F-D3EE-41F5-826E-5B22049B61AF}"/>
              </a:ext>
            </a:extLst>
          </p:cNvPr>
          <p:cNvSpPr/>
          <p:nvPr/>
        </p:nvSpPr>
        <p:spPr>
          <a:xfrm>
            <a:off x="3404274" y="2340000"/>
            <a:ext cx="3097452" cy="360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latin typeface="Meiryo UI" panose="020B0604030504040204" pitchFamily="50" charset="-128"/>
                <a:ea typeface="Meiryo UI" panose="020B0604030504040204" pitchFamily="50" charset="-128"/>
              </a:rPr>
              <a:t>Word Embedding</a:t>
            </a:r>
            <a:r>
              <a:rPr lang="ja-JP" altLang="en-US" sz="1600" b="1" dirty="0">
                <a:solidFill>
                  <a:schemeClr val="tx1"/>
                </a:solidFill>
                <a:latin typeface="Meiryo UI" panose="020B0604030504040204" pitchFamily="50" charset="-128"/>
                <a:ea typeface="Meiryo UI" panose="020B0604030504040204" pitchFamily="50" charset="-128"/>
              </a:rPr>
              <a:t>アルゴリズム</a:t>
            </a:r>
            <a:endParaRPr kumimoji="1" lang="ja-JP" altLang="en-US" sz="1600" b="1" dirty="0">
              <a:solidFill>
                <a:schemeClr val="tx1"/>
              </a:solidFill>
              <a:latin typeface="Meiryo UI" panose="020B0604030504040204" pitchFamily="50" charset="-128"/>
              <a:ea typeface="Meiryo UI" panose="020B0604030504040204" pitchFamily="50" charset="-128"/>
            </a:endParaRPr>
          </a:p>
        </p:txBody>
      </p:sp>
      <p:cxnSp>
        <p:nvCxnSpPr>
          <p:cNvPr id="17" name="コネクタ: カギ線 16">
            <a:extLst>
              <a:ext uri="{FF2B5EF4-FFF2-40B4-BE49-F238E27FC236}">
                <a16:creationId xmlns:a16="http://schemas.microsoft.com/office/drawing/2014/main" id="{52C58DDD-A1EE-40D7-9BCB-3D1891458730}"/>
              </a:ext>
            </a:extLst>
          </p:cNvPr>
          <p:cNvCxnSpPr>
            <a:cxnSpLocks/>
            <a:stCxn id="16" idx="2"/>
            <a:endCxn id="31" idx="0"/>
          </p:cNvCxnSpPr>
          <p:nvPr/>
        </p:nvCxnSpPr>
        <p:spPr>
          <a:xfrm rot="16200000" flipH="1">
            <a:off x="5941500" y="1711500"/>
            <a:ext cx="540000" cy="251700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コネクタ: カギ線 19">
            <a:extLst>
              <a:ext uri="{FF2B5EF4-FFF2-40B4-BE49-F238E27FC236}">
                <a16:creationId xmlns:a16="http://schemas.microsoft.com/office/drawing/2014/main" id="{7736ACA3-401F-4763-8984-EBA25D2CFD4F}"/>
              </a:ext>
            </a:extLst>
          </p:cNvPr>
          <p:cNvCxnSpPr>
            <a:cxnSpLocks/>
            <a:stCxn id="16" idx="2"/>
            <a:endCxn id="27" idx="0"/>
          </p:cNvCxnSpPr>
          <p:nvPr/>
        </p:nvCxnSpPr>
        <p:spPr>
          <a:xfrm rot="5400000">
            <a:off x="3420575" y="1707575"/>
            <a:ext cx="540000" cy="252485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コネクタ: カギ線 20">
            <a:extLst>
              <a:ext uri="{FF2B5EF4-FFF2-40B4-BE49-F238E27FC236}">
                <a16:creationId xmlns:a16="http://schemas.microsoft.com/office/drawing/2014/main" id="{5572145F-0F5A-4339-B151-9BF6B446A158}"/>
              </a:ext>
            </a:extLst>
          </p:cNvPr>
          <p:cNvCxnSpPr>
            <a:cxnSpLocks/>
            <a:stCxn id="31" idx="2"/>
            <a:endCxn id="33" idx="0"/>
          </p:cNvCxnSpPr>
          <p:nvPr/>
        </p:nvCxnSpPr>
        <p:spPr>
          <a:xfrm rot="16200000" flipH="1">
            <a:off x="7536548" y="4602548"/>
            <a:ext cx="550904" cy="68400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7260628A-08CD-4325-9A72-8FA7DC6B1ACA}"/>
              </a:ext>
            </a:extLst>
          </p:cNvPr>
          <p:cNvCxnSpPr>
            <a:cxnSpLocks/>
            <a:stCxn id="31" idx="2"/>
            <a:endCxn id="32" idx="0"/>
          </p:cNvCxnSpPr>
          <p:nvPr/>
        </p:nvCxnSpPr>
        <p:spPr>
          <a:xfrm rot="5400000">
            <a:off x="5925086" y="3675086"/>
            <a:ext cx="550904" cy="2538925"/>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表 31">
            <a:extLst>
              <a:ext uri="{FF2B5EF4-FFF2-40B4-BE49-F238E27FC236}">
                <a16:creationId xmlns:a16="http://schemas.microsoft.com/office/drawing/2014/main" id="{2334E68A-B5AA-4E61-B260-B980DA76A71A}"/>
              </a:ext>
            </a:extLst>
          </p:cNvPr>
          <p:cNvGraphicFramePr>
            <a:graphicFrameLocks noGrp="1"/>
          </p:cNvGraphicFramePr>
          <p:nvPr>
            <p:extLst>
              <p:ext uri="{D42A27DB-BD31-4B8C-83A1-F6EECF244321}">
                <p14:modId xmlns:p14="http://schemas.microsoft.com/office/powerpoint/2010/main" val="3415592548"/>
              </p:ext>
            </p:extLst>
          </p:nvPr>
        </p:nvGraphicFramePr>
        <p:xfrm>
          <a:off x="5220000" y="3240000"/>
          <a:ext cx="4500000" cy="1429096"/>
        </p:xfrm>
        <a:graphic>
          <a:graphicData uri="http://schemas.openxmlformats.org/drawingml/2006/table">
            <a:tbl>
              <a:tblPr firstRow="1" bandRow="1">
                <a:tableStyleId>{5940675A-B579-460E-94D1-54222C63F5DA}</a:tableStyleId>
              </a:tblPr>
              <a:tblGrid>
                <a:gridCol w="4500000">
                  <a:extLst>
                    <a:ext uri="{9D8B030D-6E8A-4147-A177-3AD203B41FA5}">
                      <a16:colId xmlns:a16="http://schemas.microsoft.com/office/drawing/2014/main" val="3360979933"/>
                    </a:ext>
                  </a:extLst>
                </a:gridCol>
              </a:tblGrid>
              <a:tr h="288000">
                <a:tc>
                  <a:txBody>
                    <a:bodyPr/>
                    <a:lstStyle/>
                    <a:p>
                      <a:pPr algn="ctr"/>
                      <a:r>
                        <a:rPr kumimoji="1" lang="ja-JP" altLang="en-US" sz="1400" b="1" dirty="0">
                          <a:latin typeface="Meiryo UI" panose="020B0604030504040204" pitchFamily="50" charset="-128"/>
                          <a:ea typeface="Meiryo UI" panose="020B0604030504040204" pitchFamily="50" charset="-128"/>
                        </a:rPr>
                        <a:t>推論ベースの手法</a:t>
                      </a:r>
                    </a:p>
                  </a:txBody>
                  <a:tcPr marL="74295" marR="74295" marT="37148" marB="37148"/>
                </a:tc>
                <a:extLst>
                  <a:ext uri="{0D108BD9-81ED-4DB2-BD59-A6C34878D82A}">
                    <a16:rowId xmlns:a16="http://schemas.microsoft.com/office/drawing/2014/main" val="1626573259"/>
                  </a:ext>
                </a:extLst>
              </a:tr>
              <a:tr h="965835">
                <a:tc>
                  <a:txBody>
                    <a:bodyPr/>
                    <a:lstStyle/>
                    <a:p>
                      <a:r>
                        <a:rPr kumimoji="1" lang="ja-JP" altLang="en-US" sz="1400" dirty="0">
                          <a:latin typeface="Meiryo UI" panose="020B0604030504040204" pitchFamily="50" charset="-128"/>
                          <a:ea typeface="Meiryo UI" panose="020B0604030504040204" pitchFamily="50" charset="-128"/>
                        </a:rPr>
                        <a:t>文章中の単語から学習モデルによって文章の</a:t>
                      </a:r>
                      <a:r>
                        <a:rPr lang="ja-JP" altLang="en-US" sz="1400" dirty="0">
                          <a:latin typeface="Meiryo UI" panose="020B0604030504040204" pitchFamily="50" charset="-128"/>
                          <a:ea typeface="Meiryo UI" panose="020B0604030504040204" pitchFamily="50" charset="-128"/>
                        </a:rPr>
                        <a:t>分散表現を得る手法。</a:t>
                      </a:r>
                      <a:endParaRPr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一般的</a:t>
                      </a:r>
                      <a:r>
                        <a:rPr lang="ja-JP" altLang="en-US" sz="1400" dirty="0">
                          <a:latin typeface="Meiryo UI" panose="020B0604030504040204" pitchFamily="50" charset="-128"/>
                          <a:ea typeface="Meiryo UI" panose="020B0604030504040204" pitchFamily="50" charset="-128"/>
                        </a:rPr>
                        <a:t>に単語頻度の手法に比べて、</a:t>
                      </a:r>
                      <a:r>
                        <a:rPr kumimoji="1" lang="ja-JP" altLang="en-US" sz="1400" dirty="0">
                          <a:latin typeface="Meiryo UI" panose="020B0604030504040204" pitchFamily="50" charset="-128"/>
                          <a:ea typeface="Meiryo UI" panose="020B0604030504040204" pitchFamily="50" charset="-128"/>
                        </a:rPr>
                        <a:t>分類タスク等で精度が良く、</a:t>
                      </a:r>
                      <a:r>
                        <a:rPr lang="ja-JP" altLang="en-US" sz="1400" dirty="0">
                          <a:latin typeface="Meiryo UI" panose="020B0604030504040204" pitchFamily="50" charset="-128"/>
                          <a:ea typeface="Meiryo UI" panose="020B0604030504040204" pitchFamily="50" charset="-128"/>
                        </a:rPr>
                        <a:t>次元を小さくできる</a:t>
                      </a:r>
                      <a:r>
                        <a:rPr kumimoji="1" lang="ja-JP" altLang="en-US" sz="1400" dirty="0">
                          <a:latin typeface="Meiryo UI" panose="020B0604030504040204" pitchFamily="50" charset="-128"/>
                          <a:ea typeface="Meiryo UI" panose="020B0604030504040204" pitchFamily="50" charset="-128"/>
                        </a:rPr>
                        <a:t>が、ベクトル化の過程がブラックボックスである。</a:t>
                      </a:r>
                      <a:endParaRPr lang="en-US" altLang="ja-JP" sz="1400" dirty="0">
                        <a:latin typeface="Meiryo UI" panose="020B0604030504040204" pitchFamily="50" charset="-128"/>
                        <a:ea typeface="Meiryo UI" panose="020B0604030504040204" pitchFamily="50" charset="-128"/>
                      </a:endParaRPr>
                    </a:p>
                  </a:txBody>
                  <a:tcPr marL="74295" marR="74295" marT="37148" marB="37148" anchor="ctr"/>
                </a:tc>
                <a:extLst>
                  <a:ext uri="{0D108BD9-81ED-4DB2-BD59-A6C34878D82A}">
                    <a16:rowId xmlns:a16="http://schemas.microsoft.com/office/drawing/2014/main" val="1431820442"/>
                  </a:ext>
                </a:extLst>
              </a:tr>
            </a:tbl>
          </a:graphicData>
        </a:graphic>
      </p:graphicFrame>
      <p:sp>
        <p:nvSpPr>
          <p:cNvPr id="25" name="テキスト ボックス 24">
            <a:extLst>
              <a:ext uri="{FF2B5EF4-FFF2-40B4-BE49-F238E27FC236}">
                <a16:creationId xmlns:a16="http://schemas.microsoft.com/office/drawing/2014/main" id="{3D22A0C5-C424-4B96-873C-FA6CE251A87A}"/>
              </a:ext>
            </a:extLst>
          </p:cNvPr>
          <p:cNvSpPr txBox="1"/>
          <p:nvPr/>
        </p:nvSpPr>
        <p:spPr>
          <a:xfrm>
            <a:off x="2959346" y="1980000"/>
            <a:ext cx="4080156" cy="369332"/>
          </a:xfrm>
          <a:prstGeom prst="rect">
            <a:avLst/>
          </a:prstGeom>
          <a:noFill/>
        </p:spPr>
        <p:txBody>
          <a:bodyPr wrap="none" rtlCol="0">
            <a:spAutoFit/>
          </a:bodyPr>
          <a:lstStyle/>
          <a:p>
            <a:r>
              <a:rPr lang="en-US" altLang="ja-JP" b="1" dirty="0">
                <a:solidFill>
                  <a:prstClr val="black"/>
                </a:solidFill>
                <a:latin typeface="Meiryo UI" panose="020B0604030504040204" pitchFamily="50" charset="-128"/>
                <a:ea typeface="Meiryo UI" panose="020B0604030504040204" pitchFamily="50" charset="-128"/>
              </a:rPr>
              <a:t>Word Embedding</a:t>
            </a:r>
            <a:r>
              <a:rPr lang="ja-JP" altLang="en-US" b="1" dirty="0">
                <a:solidFill>
                  <a:prstClr val="black"/>
                </a:solidFill>
                <a:latin typeface="Meiryo UI" panose="020B0604030504040204" pitchFamily="50" charset="-128"/>
                <a:ea typeface="Meiryo UI" panose="020B0604030504040204" pitchFamily="50" charset="-128"/>
              </a:rPr>
              <a:t>アルゴリズムの種類</a:t>
            </a:r>
          </a:p>
        </p:txBody>
      </p:sp>
      <p:graphicFrame>
        <p:nvGraphicFramePr>
          <p:cNvPr id="27" name="表 31">
            <a:extLst>
              <a:ext uri="{FF2B5EF4-FFF2-40B4-BE49-F238E27FC236}">
                <a16:creationId xmlns:a16="http://schemas.microsoft.com/office/drawing/2014/main" id="{5CD0E761-26BA-40C8-B507-932EA3593B83}"/>
              </a:ext>
            </a:extLst>
          </p:cNvPr>
          <p:cNvGraphicFramePr>
            <a:graphicFrameLocks noGrp="1"/>
          </p:cNvGraphicFramePr>
          <p:nvPr>
            <p:extLst>
              <p:ext uri="{D42A27DB-BD31-4B8C-83A1-F6EECF244321}">
                <p14:modId xmlns:p14="http://schemas.microsoft.com/office/powerpoint/2010/main" val="1950981411"/>
              </p:ext>
            </p:extLst>
          </p:nvPr>
        </p:nvGraphicFramePr>
        <p:xfrm>
          <a:off x="178150" y="3240000"/>
          <a:ext cx="4500000" cy="1476720"/>
        </p:xfrm>
        <a:graphic>
          <a:graphicData uri="http://schemas.openxmlformats.org/drawingml/2006/table">
            <a:tbl>
              <a:tblPr firstRow="1" bandRow="1">
                <a:tableStyleId>{5940675A-B579-460E-94D1-54222C63F5DA}</a:tableStyleId>
              </a:tblPr>
              <a:tblGrid>
                <a:gridCol w="4500000">
                  <a:extLst>
                    <a:ext uri="{9D8B030D-6E8A-4147-A177-3AD203B41FA5}">
                      <a16:colId xmlns:a16="http://schemas.microsoft.com/office/drawing/2014/main" val="3360979933"/>
                    </a:ext>
                  </a:extLst>
                </a:gridCol>
              </a:tblGrid>
              <a:tr h="288000">
                <a:tc>
                  <a:txBody>
                    <a:bodyPr/>
                    <a:lstStyle/>
                    <a:p>
                      <a:pPr algn="ctr"/>
                      <a:r>
                        <a:rPr lang="ja-JP" altLang="en-US" sz="1400" b="1" dirty="0">
                          <a:solidFill>
                            <a:schemeClr val="tx1"/>
                          </a:solidFill>
                          <a:latin typeface="Meiryo UI" panose="020B0604030504040204" pitchFamily="50" charset="-128"/>
                          <a:ea typeface="Meiryo UI" panose="020B0604030504040204" pitchFamily="50" charset="-128"/>
                        </a:rPr>
                        <a:t>単語頻度を利用した手法</a:t>
                      </a:r>
                      <a:endParaRPr kumimoji="1" lang="ja-JP" altLang="en-US" sz="1400" b="1" dirty="0">
                        <a:solidFill>
                          <a:schemeClr val="tx1"/>
                        </a:solidFill>
                        <a:latin typeface="Meiryo UI" panose="020B0604030504040204" pitchFamily="50" charset="-128"/>
                        <a:ea typeface="Meiryo UI" panose="020B0604030504040204" pitchFamily="50" charset="-128"/>
                      </a:endParaRPr>
                    </a:p>
                  </a:txBody>
                  <a:tcPr marL="74295" marR="74295" marT="37148" marB="37148"/>
                </a:tc>
                <a:extLst>
                  <a:ext uri="{0D108BD9-81ED-4DB2-BD59-A6C34878D82A}">
                    <a16:rowId xmlns:a16="http://schemas.microsoft.com/office/drawing/2014/main" val="1626573259"/>
                  </a:ext>
                </a:extLst>
              </a:tr>
              <a:tr h="1188720">
                <a:tc>
                  <a:txBody>
                    <a:bodyPr/>
                    <a:lstStyle/>
                    <a:p>
                      <a:r>
                        <a:rPr kumimoji="1" lang="ja-JP" altLang="en-US" sz="1400" dirty="0">
                          <a:latin typeface="Meiryo UI" panose="020B0604030504040204" pitchFamily="50" charset="-128"/>
                          <a:ea typeface="Meiryo UI" panose="020B0604030504040204" pitchFamily="50" charset="-128"/>
                        </a:rPr>
                        <a:t>語彙リストを作成し、その語彙が出現するか否かでベクトル化する手法。</a:t>
                      </a:r>
                      <a:endParaRPr kumimoji="1"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未知語が扱えず、次元が膨大になるが、解釈がしやすい。</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例）</a:t>
                      </a:r>
                      <a:r>
                        <a:rPr lang="en-US" altLang="ja-JP" sz="1400" dirty="0" err="1">
                          <a:latin typeface="Meiryo UI" panose="020B0604030504040204" pitchFamily="50" charset="-128"/>
                          <a:ea typeface="Meiryo UI" panose="020B0604030504040204" pitchFamily="50" charset="-128"/>
                        </a:rPr>
                        <a:t>BoW</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TF-IDF</a:t>
                      </a:r>
                    </a:p>
                  </a:txBody>
                  <a:tcPr marL="74295" marR="74295" marT="37148" marB="37148" anchor="ctr"/>
                </a:tc>
                <a:extLst>
                  <a:ext uri="{0D108BD9-81ED-4DB2-BD59-A6C34878D82A}">
                    <a16:rowId xmlns:a16="http://schemas.microsoft.com/office/drawing/2014/main" val="369605381"/>
                  </a:ext>
                </a:extLst>
              </a:tr>
            </a:tbl>
          </a:graphicData>
        </a:graphic>
      </p:graphicFrame>
      <p:graphicFrame>
        <p:nvGraphicFramePr>
          <p:cNvPr id="32" name="表 31">
            <a:extLst>
              <a:ext uri="{FF2B5EF4-FFF2-40B4-BE49-F238E27FC236}">
                <a16:creationId xmlns:a16="http://schemas.microsoft.com/office/drawing/2014/main" id="{57B3725B-6860-41B4-9F10-A8B7D7FCD06B}"/>
              </a:ext>
            </a:extLst>
          </p:cNvPr>
          <p:cNvGraphicFramePr>
            <a:graphicFrameLocks noGrp="1"/>
          </p:cNvGraphicFramePr>
          <p:nvPr>
            <p:extLst>
              <p:ext uri="{D42A27DB-BD31-4B8C-83A1-F6EECF244321}">
                <p14:modId xmlns:p14="http://schemas.microsoft.com/office/powerpoint/2010/main" val="3952601230"/>
              </p:ext>
            </p:extLst>
          </p:nvPr>
        </p:nvGraphicFramePr>
        <p:xfrm>
          <a:off x="3401075" y="5220000"/>
          <a:ext cx="3060000" cy="1224000"/>
        </p:xfrm>
        <a:graphic>
          <a:graphicData uri="http://schemas.openxmlformats.org/drawingml/2006/table">
            <a:tbl>
              <a:tblPr firstRow="1" bandRow="1">
                <a:tableStyleId>{5940675A-B579-460E-94D1-54222C63F5DA}</a:tableStyleId>
              </a:tblPr>
              <a:tblGrid>
                <a:gridCol w="3060000">
                  <a:extLst>
                    <a:ext uri="{9D8B030D-6E8A-4147-A177-3AD203B41FA5}">
                      <a16:colId xmlns:a16="http://schemas.microsoft.com/office/drawing/2014/main" val="3360979933"/>
                    </a:ext>
                  </a:extLst>
                </a:gridCol>
              </a:tblGrid>
              <a:tr h="288000">
                <a:tc>
                  <a:txBody>
                    <a:bodyPr/>
                    <a:lstStyle/>
                    <a:p>
                      <a:pPr algn="ctr"/>
                      <a:r>
                        <a:rPr lang="en-US" altLang="ja-JP" sz="1400" b="1" dirty="0">
                          <a:solidFill>
                            <a:schemeClr val="tx1"/>
                          </a:solidFill>
                        </a:rPr>
                        <a:t>RNN</a:t>
                      </a:r>
                      <a:r>
                        <a:rPr lang="ja-JP" altLang="en-US" sz="1400" b="1" dirty="0">
                          <a:solidFill>
                            <a:schemeClr val="tx1"/>
                          </a:solidFill>
                        </a:rPr>
                        <a:t>系</a:t>
                      </a:r>
                      <a:endParaRPr kumimoji="1" lang="ja-JP" altLang="en-US" sz="1400" b="1" dirty="0">
                        <a:solidFill>
                          <a:schemeClr val="tx1"/>
                        </a:solidFill>
                      </a:endParaRPr>
                    </a:p>
                  </a:txBody>
                  <a:tcPr marL="74295" marR="74295" marT="37148" marB="37148"/>
                </a:tc>
                <a:extLst>
                  <a:ext uri="{0D108BD9-81ED-4DB2-BD59-A6C34878D82A}">
                    <a16:rowId xmlns:a16="http://schemas.microsoft.com/office/drawing/2014/main" val="1626573259"/>
                  </a:ext>
                </a:extLst>
              </a:tr>
              <a:tr h="936000">
                <a:tc>
                  <a:txBody>
                    <a:bodyPr/>
                    <a:lstStyle/>
                    <a:p>
                      <a:r>
                        <a:rPr lang="ja-JP" altLang="en-US" sz="1400" dirty="0">
                          <a:latin typeface="Meiryo UI" panose="020B0604030504040204" pitchFamily="50" charset="-128"/>
                          <a:ea typeface="Meiryo UI" panose="020B0604030504040204" pitchFamily="50" charset="-128"/>
                        </a:rPr>
                        <a:t>文章を単語の系列データとして扱うことで、長文における単語の分散表現を得る手法。</a:t>
                      </a:r>
                      <a:endParaRPr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例）</a:t>
                      </a:r>
                      <a:r>
                        <a:rPr kumimoji="1" lang="en-US" altLang="ja-JP" sz="1400" dirty="0">
                          <a:latin typeface="Meiryo UI" panose="020B0604030504040204" pitchFamily="50" charset="-128"/>
                          <a:ea typeface="Meiryo UI" panose="020B0604030504040204" pitchFamily="50" charset="-128"/>
                        </a:rPr>
                        <a:t>RNNLM</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seq2seq</a:t>
                      </a:r>
                    </a:p>
                  </a:txBody>
                  <a:tcPr marL="74295" marR="74295" marT="37148" marB="37148" anchor="ctr"/>
                </a:tc>
                <a:extLst>
                  <a:ext uri="{0D108BD9-81ED-4DB2-BD59-A6C34878D82A}">
                    <a16:rowId xmlns:a16="http://schemas.microsoft.com/office/drawing/2014/main" val="876308223"/>
                  </a:ext>
                </a:extLst>
              </a:tr>
            </a:tbl>
          </a:graphicData>
        </a:graphic>
      </p:graphicFrame>
      <p:graphicFrame>
        <p:nvGraphicFramePr>
          <p:cNvPr id="33" name="表 31">
            <a:extLst>
              <a:ext uri="{FF2B5EF4-FFF2-40B4-BE49-F238E27FC236}">
                <a16:creationId xmlns:a16="http://schemas.microsoft.com/office/drawing/2014/main" id="{57ADF9DD-485D-4CFB-BF28-62EBC49FE363}"/>
              </a:ext>
            </a:extLst>
          </p:cNvPr>
          <p:cNvGraphicFramePr>
            <a:graphicFrameLocks noGrp="1"/>
          </p:cNvGraphicFramePr>
          <p:nvPr>
            <p:extLst>
              <p:ext uri="{D42A27DB-BD31-4B8C-83A1-F6EECF244321}">
                <p14:modId xmlns:p14="http://schemas.microsoft.com/office/powerpoint/2010/main" val="1006714502"/>
              </p:ext>
            </p:extLst>
          </p:nvPr>
        </p:nvGraphicFramePr>
        <p:xfrm>
          <a:off x="6624000" y="5220000"/>
          <a:ext cx="3060000" cy="1224000"/>
        </p:xfrm>
        <a:graphic>
          <a:graphicData uri="http://schemas.openxmlformats.org/drawingml/2006/table">
            <a:tbl>
              <a:tblPr firstRow="1" bandRow="1">
                <a:tableStyleId>{5940675A-B579-460E-94D1-54222C63F5DA}</a:tableStyleId>
              </a:tblPr>
              <a:tblGrid>
                <a:gridCol w="3060000">
                  <a:extLst>
                    <a:ext uri="{9D8B030D-6E8A-4147-A177-3AD203B41FA5}">
                      <a16:colId xmlns:a16="http://schemas.microsoft.com/office/drawing/2014/main" val="3360979933"/>
                    </a:ext>
                  </a:extLst>
                </a:gridCol>
              </a:tblGrid>
              <a:tr h="288000">
                <a:tc>
                  <a:txBody>
                    <a:bodyPr/>
                    <a:lstStyle/>
                    <a:p>
                      <a:pPr algn="ctr"/>
                      <a:r>
                        <a:rPr lang="en-US" altLang="ja-JP" sz="1400" b="1" dirty="0">
                          <a:solidFill>
                            <a:schemeClr val="tx1"/>
                          </a:solidFill>
                        </a:rPr>
                        <a:t>Attention</a:t>
                      </a:r>
                      <a:r>
                        <a:rPr lang="ja-JP" altLang="en-US" sz="1400" b="1" dirty="0">
                          <a:solidFill>
                            <a:schemeClr val="tx1"/>
                          </a:solidFill>
                        </a:rPr>
                        <a:t>系</a:t>
                      </a:r>
                      <a:endParaRPr kumimoji="1" lang="ja-JP" altLang="en-US" sz="1400" b="1" dirty="0">
                        <a:solidFill>
                          <a:schemeClr val="tx1"/>
                        </a:solidFill>
                      </a:endParaRPr>
                    </a:p>
                  </a:txBody>
                  <a:tcPr marL="74295" marR="74295" marT="37148" marB="37148"/>
                </a:tc>
                <a:extLst>
                  <a:ext uri="{0D108BD9-81ED-4DB2-BD59-A6C34878D82A}">
                    <a16:rowId xmlns:a16="http://schemas.microsoft.com/office/drawing/2014/main" val="1626573259"/>
                  </a:ext>
                </a:extLst>
              </a:tr>
              <a:tr h="936000">
                <a:tc>
                  <a:txBody>
                    <a:bodyPr/>
                    <a:lstStyle/>
                    <a:p>
                      <a:r>
                        <a:rPr lang="en-US" altLang="ja-JP" sz="1400" dirty="0">
                          <a:latin typeface="Meiryo UI" panose="020B0604030504040204" pitchFamily="50" charset="-128"/>
                          <a:ea typeface="Meiryo UI" panose="020B0604030504040204" pitchFamily="50" charset="-128"/>
                        </a:rPr>
                        <a:t>Attention</a:t>
                      </a:r>
                      <a:r>
                        <a:rPr lang="ja-JP" altLang="en-US" sz="1400" dirty="0">
                          <a:latin typeface="Meiryo UI" panose="020B0604030504040204" pitchFamily="50" charset="-128"/>
                          <a:ea typeface="Meiryo UI" panose="020B0604030504040204" pitchFamily="50" charset="-128"/>
                        </a:rPr>
                        <a:t>機構により、より長い文章の分散表現を精度良く得る手法。</a:t>
                      </a:r>
                      <a:endParaRPr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例）</a:t>
                      </a:r>
                      <a:r>
                        <a:rPr lang="en-US" altLang="ja-JP" sz="1400" dirty="0">
                          <a:latin typeface="Meiryo UI" panose="020B0604030504040204" pitchFamily="50" charset="-128"/>
                          <a:ea typeface="Meiryo UI" panose="020B0604030504040204" pitchFamily="50" charset="-128"/>
                        </a:rPr>
                        <a:t>transformer</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BERT</a:t>
                      </a:r>
                      <a:r>
                        <a:rPr lang="ja-JP" altLang="en-US"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XLnet</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T5</a:t>
                      </a:r>
                    </a:p>
                  </a:txBody>
                  <a:tcPr marL="74295" marR="74295" marT="37148" marB="37148" anchor="ctr"/>
                </a:tc>
                <a:extLst>
                  <a:ext uri="{0D108BD9-81ED-4DB2-BD59-A6C34878D82A}">
                    <a16:rowId xmlns:a16="http://schemas.microsoft.com/office/drawing/2014/main" val="315646438"/>
                  </a:ext>
                </a:extLst>
              </a:tr>
            </a:tbl>
          </a:graphicData>
        </a:graphic>
      </p:graphicFrame>
      <p:graphicFrame>
        <p:nvGraphicFramePr>
          <p:cNvPr id="63" name="表 62">
            <a:extLst>
              <a:ext uri="{FF2B5EF4-FFF2-40B4-BE49-F238E27FC236}">
                <a16:creationId xmlns:a16="http://schemas.microsoft.com/office/drawing/2014/main" id="{761EEC18-1EE1-4F6B-B340-E2CBB5E84C38}"/>
              </a:ext>
            </a:extLst>
          </p:cNvPr>
          <p:cNvGraphicFramePr>
            <a:graphicFrameLocks noGrp="1"/>
          </p:cNvGraphicFramePr>
          <p:nvPr>
            <p:extLst>
              <p:ext uri="{D42A27DB-BD31-4B8C-83A1-F6EECF244321}">
                <p14:modId xmlns:p14="http://schemas.microsoft.com/office/powerpoint/2010/main" val="578189733"/>
              </p:ext>
            </p:extLst>
          </p:nvPr>
        </p:nvGraphicFramePr>
        <p:xfrm>
          <a:off x="178150" y="5220000"/>
          <a:ext cx="3060000" cy="1224000"/>
        </p:xfrm>
        <a:graphic>
          <a:graphicData uri="http://schemas.openxmlformats.org/drawingml/2006/table">
            <a:tbl>
              <a:tblPr firstRow="1" bandRow="1">
                <a:tableStyleId>{5940675A-B579-460E-94D1-54222C63F5DA}</a:tableStyleId>
              </a:tblPr>
              <a:tblGrid>
                <a:gridCol w="3060000">
                  <a:extLst>
                    <a:ext uri="{9D8B030D-6E8A-4147-A177-3AD203B41FA5}">
                      <a16:colId xmlns:a16="http://schemas.microsoft.com/office/drawing/2014/main" val="3360979933"/>
                    </a:ext>
                  </a:extLst>
                </a:gridCol>
              </a:tblGrid>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b="1" dirty="0">
                          <a:solidFill>
                            <a:schemeClr val="tx1"/>
                          </a:solidFill>
                        </a:rPr>
                        <a:t>ニューラルネットワーク系</a:t>
                      </a:r>
                      <a:endParaRPr kumimoji="1" lang="ja-JP" altLang="en-US" sz="1400" b="1" dirty="0">
                        <a:solidFill>
                          <a:schemeClr val="tx1"/>
                        </a:solidFill>
                      </a:endParaRPr>
                    </a:p>
                  </a:txBody>
                  <a:tcPr marL="74295" marR="74295" marT="37148" marB="37148"/>
                </a:tc>
                <a:extLst>
                  <a:ext uri="{0D108BD9-81ED-4DB2-BD59-A6C34878D82A}">
                    <a16:rowId xmlns:a16="http://schemas.microsoft.com/office/drawing/2014/main" val="1626573259"/>
                  </a:ext>
                </a:extLst>
              </a:tr>
              <a:tr h="936000">
                <a:tc>
                  <a:txBody>
                    <a:bodyPr/>
                    <a:lstStyle/>
                    <a:p>
                      <a:r>
                        <a:rPr kumimoji="1" lang="ja-JP" altLang="en-US" sz="1400" dirty="0">
                          <a:latin typeface="Meiryo UI" panose="020B0604030504040204" pitchFamily="50" charset="-128"/>
                          <a:ea typeface="Meiryo UI" panose="020B0604030504040204" pitchFamily="50" charset="-128"/>
                        </a:rPr>
                        <a:t>周辺単語から</a:t>
                      </a:r>
                      <a:r>
                        <a:rPr lang="ja-JP" altLang="en-US" sz="1400" dirty="0">
                          <a:latin typeface="Meiryo UI" panose="020B0604030504040204" pitchFamily="50" charset="-128"/>
                          <a:ea typeface="Meiryo UI" panose="020B0604030504040204" pitchFamily="50" charset="-128"/>
                        </a:rPr>
                        <a:t>対象の単語の分散表現を得る（またはその逆）手法。</a:t>
                      </a:r>
                      <a:endParaRPr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例）</a:t>
                      </a:r>
                      <a:r>
                        <a:rPr lang="en-US" altLang="ja-JP" sz="1400" dirty="0">
                          <a:latin typeface="Meiryo UI" panose="020B0604030504040204" pitchFamily="50" charset="-128"/>
                          <a:ea typeface="Meiryo UI" panose="020B0604030504040204" pitchFamily="50" charset="-128"/>
                        </a:rPr>
                        <a:t>word2vec</a:t>
                      </a:r>
                      <a:r>
                        <a:rPr lang="ja-JP" altLang="en-US"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GloVe</a:t>
                      </a:r>
                      <a:r>
                        <a:rPr lang="ja-JP" altLang="en-US" sz="1400" dirty="0">
                          <a:latin typeface="Meiryo UI" panose="020B0604030504040204" pitchFamily="50" charset="-128"/>
                          <a:ea typeface="Meiryo UI" panose="020B0604030504040204" pitchFamily="50" charset="-128"/>
                        </a:rPr>
                        <a:t>、</a:t>
                      </a:r>
                      <a:r>
                        <a:rPr lang="en-US" altLang="ja-JP" sz="1400" dirty="0" err="1">
                          <a:latin typeface="Meiryo UI" panose="020B0604030504040204" pitchFamily="50" charset="-128"/>
                          <a:ea typeface="Meiryo UI" panose="020B0604030504040204" pitchFamily="50" charset="-128"/>
                        </a:rPr>
                        <a:t>fastText</a:t>
                      </a:r>
                      <a:endParaRPr lang="en-US" altLang="ja-JP" sz="1400" dirty="0">
                        <a:latin typeface="Meiryo UI" panose="020B0604030504040204" pitchFamily="50" charset="-128"/>
                        <a:ea typeface="Meiryo UI" panose="020B0604030504040204" pitchFamily="50" charset="-128"/>
                      </a:endParaRPr>
                    </a:p>
                  </a:txBody>
                  <a:tcPr marL="74295" marR="74295" marT="37148" marB="37148" anchor="ctr"/>
                </a:tc>
                <a:extLst>
                  <a:ext uri="{0D108BD9-81ED-4DB2-BD59-A6C34878D82A}">
                    <a16:rowId xmlns:a16="http://schemas.microsoft.com/office/drawing/2014/main" val="876308223"/>
                  </a:ext>
                </a:extLst>
              </a:tr>
            </a:tbl>
          </a:graphicData>
        </a:graphic>
      </p:graphicFrame>
      <p:cxnSp>
        <p:nvCxnSpPr>
          <p:cNvPr id="64" name="コネクタ: カギ線 63">
            <a:extLst>
              <a:ext uri="{FF2B5EF4-FFF2-40B4-BE49-F238E27FC236}">
                <a16:creationId xmlns:a16="http://schemas.microsoft.com/office/drawing/2014/main" id="{B6628495-E9A5-4EA6-8C6C-E371744D3D34}"/>
              </a:ext>
            </a:extLst>
          </p:cNvPr>
          <p:cNvCxnSpPr>
            <a:cxnSpLocks/>
            <a:stCxn id="31" idx="2"/>
            <a:endCxn id="63" idx="0"/>
          </p:cNvCxnSpPr>
          <p:nvPr/>
        </p:nvCxnSpPr>
        <p:spPr>
          <a:xfrm rot="5400000">
            <a:off x="4313623" y="2063623"/>
            <a:ext cx="550904" cy="576185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D29F73C8-762F-44C6-ADED-691D36991164}"/>
              </a:ext>
            </a:extLst>
          </p:cNvPr>
          <p:cNvSpPr>
            <a:spLocks noGrp="1"/>
          </p:cNvSpPr>
          <p:nvPr>
            <p:ph type="sldNum" sz="quarter" idx="12"/>
          </p:nvPr>
        </p:nvSpPr>
        <p:spPr/>
        <p:txBody>
          <a:bodyPr/>
          <a:lstStyle/>
          <a:p>
            <a:fld id="{4A0ABA21-04CE-4531-99B2-420D29D6D622}" type="slidenum">
              <a:rPr lang="ja-JP" altLang="en-US" smtClean="0"/>
              <a:pPr/>
              <a:t>9</a:t>
            </a:fld>
            <a:endParaRPr lang="ja-JP" altLang="en-US" dirty="0"/>
          </a:p>
        </p:txBody>
      </p:sp>
    </p:spTree>
    <p:extLst>
      <p:ext uri="{BB962C8B-B14F-4D97-AF65-F5344CB8AC3E}">
        <p14:creationId xmlns:p14="http://schemas.microsoft.com/office/powerpoint/2010/main" val="2048860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2CF4E6-88EA-4F71-B29C-7D3028A55C45}"/>
              </a:ext>
            </a:extLst>
          </p:cNvPr>
          <p:cNvSpPr>
            <a:spLocks noGrp="1"/>
          </p:cNvSpPr>
          <p:nvPr>
            <p:ph type="title"/>
          </p:nvPr>
        </p:nvSpPr>
        <p:spPr>
          <a:xfrm>
            <a:off x="540000" y="360000"/>
            <a:ext cx="9480300" cy="720000"/>
          </a:xfrm>
        </p:spPr>
        <p:txBody>
          <a:bodyPr lIns="72000" tIns="72000" rIns="72000" bIns="72000">
            <a:noAutofit/>
          </a:bodyPr>
          <a:lstStyle/>
          <a:p>
            <a:r>
              <a:rPr kumimoji="1" lang="en-US" altLang="ja-JP" sz="3600" dirty="0">
                <a:latin typeface="Meiryo UI" panose="020B0604030504040204" pitchFamily="50" charset="-128"/>
                <a:ea typeface="Meiryo UI" panose="020B0604030504040204" pitchFamily="50" charset="-128"/>
              </a:rPr>
              <a:t>Word Embedding</a:t>
            </a:r>
            <a:r>
              <a:rPr kumimoji="1" lang="ja-JP" altLang="en-US" sz="3600" dirty="0">
                <a:latin typeface="Meiryo UI" panose="020B0604030504040204" pitchFamily="50" charset="-128"/>
                <a:ea typeface="Meiryo UI" panose="020B0604030504040204" pitchFamily="50" charset="-128"/>
              </a:rPr>
              <a:t>アルゴリズムの代表アルゴリズム</a:t>
            </a:r>
          </a:p>
        </p:txBody>
      </p:sp>
      <p:sp>
        <p:nvSpPr>
          <p:cNvPr id="40" name="テキスト プレースホルダー 39">
            <a:extLst>
              <a:ext uri="{FF2B5EF4-FFF2-40B4-BE49-F238E27FC236}">
                <a16:creationId xmlns:a16="http://schemas.microsoft.com/office/drawing/2014/main" id="{C3364E24-C842-40A7-B700-F0CC095B44FE}"/>
              </a:ext>
            </a:extLst>
          </p:cNvPr>
          <p:cNvSpPr>
            <a:spLocks noGrp="1"/>
          </p:cNvSpPr>
          <p:nvPr>
            <p:ph type="body" idx="4294967295"/>
          </p:nvPr>
        </p:nvSpPr>
        <p:spPr>
          <a:xfrm>
            <a:off x="540000" y="1080000"/>
            <a:ext cx="9144000" cy="684213"/>
          </a:xfrm>
          <a:prstGeom prst="rect">
            <a:avLst/>
          </a:prstGeom>
        </p:spPr>
        <p:txBody>
          <a:bodyPr lIns="72000" tIns="72000" rIns="72000" bIns="72000">
            <a:noAutofit/>
          </a:bodyPr>
          <a:lstStyle/>
          <a:p>
            <a:pPr marL="0" indent="0" rtl="0" eaLnBrk="1" latinLnBrk="0" hangingPunct="1">
              <a:spcBef>
                <a:spcPts val="0"/>
              </a:spcBef>
              <a:buNone/>
            </a:pPr>
            <a:r>
              <a:rPr lang="en-US" altLang="ja-JP" sz="2000" b="1" dirty="0">
                <a:latin typeface="Meiryo UI" panose="020B0604030504040204" pitchFamily="50" charset="-128"/>
                <a:ea typeface="Meiryo UI" panose="020B0604030504040204" pitchFamily="50" charset="-128"/>
              </a:rPr>
              <a:t>Word Embedding</a:t>
            </a:r>
            <a:r>
              <a:rPr lang="ja-JP" altLang="en-US" sz="2000" b="1" dirty="0">
                <a:latin typeface="Meiryo UI" panose="020B0604030504040204" pitchFamily="50" charset="-128"/>
                <a:ea typeface="Meiryo UI" panose="020B0604030504040204" pitchFamily="50" charset="-128"/>
              </a:rPr>
              <a:t>アルゴリズムの種類の中で、現在よく使われるアルゴリズムの特徴です。</a:t>
            </a:r>
            <a:endParaRPr lang="ja-JP" altLang="ja-JP" sz="2000" dirty="0">
              <a:latin typeface="Meiryo UI" panose="020B0604030504040204" pitchFamily="50" charset="-128"/>
              <a:ea typeface="Meiryo UI" panose="020B0604030504040204" pitchFamily="50" charset="-128"/>
            </a:endParaRPr>
          </a:p>
        </p:txBody>
      </p:sp>
      <p:graphicFrame>
        <p:nvGraphicFramePr>
          <p:cNvPr id="34" name="表 6">
            <a:extLst>
              <a:ext uri="{FF2B5EF4-FFF2-40B4-BE49-F238E27FC236}">
                <a16:creationId xmlns:a16="http://schemas.microsoft.com/office/drawing/2014/main" id="{B286636D-4D8D-42CD-ABD4-4D9C82204DF1}"/>
              </a:ext>
            </a:extLst>
          </p:cNvPr>
          <p:cNvGraphicFramePr>
            <a:graphicFrameLocks noGrp="1"/>
          </p:cNvGraphicFramePr>
          <p:nvPr>
            <p:extLst>
              <p:ext uri="{D42A27DB-BD31-4B8C-83A1-F6EECF244321}">
                <p14:modId xmlns:p14="http://schemas.microsoft.com/office/powerpoint/2010/main" val="787149578"/>
              </p:ext>
            </p:extLst>
          </p:nvPr>
        </p:nvGraphicFramePr>
        <p:xfrm>
          <a:off x="257344" y="2340000"/>
          <a:ext cx="9391312" cy="3870960"/>
        </p:xfrm>
        <a:graphic>
          <a:graphicData uri="http://schemas.openxmlformats.org/drawingml/2006/table">
            <a:tbl>
              <a:tblPr firstRow="1" bandRow="1">
                <a:tableStyleId>{5940675A-B579-460E-94D1-54222C63F5DA}</a:tableStyleId>
              </a:tblPr>
              <a:tblGrid>
                <a:gridCol w="1810258">
                  <a:extLst>
                    <a:ext uri="{9D8B030D-6E8A-4147-A177-3AD203B41FA5}">
                      <a16:colId xmlns:a16="http://schemas.microsoft.com/office/drawing/2014/main" val="1724887299"/>
                    </a:ext>
                  </a:extLst>
                </a:gridCol>
                <a:gridCol w="2940424">
                  <a:extLst>
                    <a:ext uri="{9D8B030D-6E8A-4147-A177-3AD203B41FA5}">
                      <a16:colId xmlns:a16="http://schemas.microsoft.com/office/drawing/2014/main" val="690651609"/>
                    </a:ext>
                  </a:extLst>
                </a:gridCol>
                <a:gridCol w="2330823">
                  <a:extLst>
                    <a:ext uri="{9D8B030D-6E8A-4147-A177-3AD203B41FA5}">
                      <a16:colId xmlns:a16="http://schemas.microsoft.com/office/drawing/2014/main" val="3913595004"/>
                    </a:ext>
                  </a:extLst>
                </a:gridCol>
                <a:gridCol w="2309807">
                  <a:extLst>
                    <a:ext uri="{9D8B030D-6E8A-4147-A177-3AD203B41FA5}">
                      <a16:colId xmlns:a16="http://schemas.microsoft.com/office/drawing/2014/main" val="3930285014"/>
                    </a:ext>
                  </a:extLst>
                </a:gridCol>
              </a:tblGrid>
              <a:tr h="172236">
                <a:tc>
                  <a:txBody>
                    <a:bodyPr/>
                    <a:lstStyle/>
                    <a:p>
                      <a:pPr algn="ctr"/>
                      <a:r>
                        <a:rPr kumimoji="1" lang="ja-JP" altLang="en-US" sz="1400" b="1" dirty="0">
                          <a:latin typeface="Meiryo UI" panose="020B0604030504040204" pitchFamily="50" charset="-128"/>
                          <a:ea typeface="Meiryo UI" panose="020B0604030504040204" pitchFamily="50" charset="-128"/>
                        </a:rPr>
                        <a:t>アルゴリズム名</a:t>
                      </a:r>
                    </a:p>
                  </a:txBody>
                  <a:tcPr/>
                </a:tc>
                <a:tc>
                  <a:txBody>
                    <a:bodyPr/>
                    <a:lstStyle/>
                    <a:p>
                      <a:pPr algn="ctr"/>
                      <a:r>
                        <a:rPr kumimoji="1" lang="ja-JP" altLang="en-US" sz="1400" b="1" dirty="0">
                          <a:latin typeface="Meiryo UI" panose="020B0604030504040204" pitchFamily="50" charset="-128"/>
                          <a:ea typeface="Meiryo UI" panose="020B0604030504040204" pitchFamily="50" charset="-128"/>
                        </a:rPr>
                        <a:t>特徴</a:t>
                      </a:r>
                    </a:p>
                  </a:txBody>
                  <a:tcPr/>
                </a:tc>
                <a:tc>
                  <a:txBody>
                    <a:bodyPr/>
                    <a:lstStyle/>
                    <a:p>
                      <a:pPr algn="ctr"/>
                      <a:r>
                        <a:rPr kumimoji="1" lang="ja-JP" altLang="en-US" sz="1400" b="1" dirty="0">
                          <a:latin typeface="Meiryo UI" panose="020B0604030504040204" pitchFamily="50" charset="-128"/>
                          <a:ea typeface="Meiryo UI" panose="020B0604030504040204" pitchFamily="50" charset="-128"/>
                        </a:rPr>
                        <a:t>強み</a:t>
                      </a:r>
                    </a:p>
                  </a:txBody>
                  <a:tcPr/>
                </a:tc>
                <a:tc>
                  <a:txBody>
                    <a:bodyPr/>
                    <a:lstStyle/>
                    <a:p>
                      <a:pPr algn="ctr"/>
                      <a:r>
                        <a:rPr kumimoji="1" lang="ja-JP" altLang="en-US" sz="1400" b="1" dirty="0">
                          <a:latin typeface="Meiryo UI" panose="020B0604030504040204" pitchFamily="50" charset="-128"/>
                          <a:ea typeface="Meiryo UI" panose="020B0604030504040204" pitchFamily="50" charset="-128"/>
                        </a:rPr>
                        <a:t>弱み</a:t>
                      </a:r>
                    </a:p>
                  </a:txBody>
                  <a:tcPr/>
                </a:tc>
                <a:extLst>
                  <a:ext uri="{0D108BD9-81ED-4DB2-BD59-A6C34878D82A}">
                    <a16:rowId xmlns:a16="http://schemas.microsoft.com/office/drawing/2014/main" val="3464568074"/>
                  </a:ext>
                </a:extLst>
              </a:tr>
              <a:tr h="455666">
                <a:tc>
                  <a:txBody>
                    <a:bodyPr/>
                    <a:lstStyle/>
                    <a:p>
                      <a:pPr marL="0" indent="0">
                        <a:buFont typeface="Arial" panose="020B0604020202020204" pitchFamily="34" charset="0"/>
                        <a:buNone/>
                      </a:pPr>
                      <a:r>
                        <a:rPr lang="en-US" altLang="ja-JP" sz="1400" b="1" dirty="0" err="1">
                          <a:latin typeface="Meiryo UI" panose="020B0604030504040204" pitchFamily="50" charset="-128"/>
                          <a:ea typeface="Meiryo UI" panose="020B0604030504040204" pitchFamily="50" charset="-128"/>
                        </a:rPr>
                        <a:t>BoW</a:t>
                      </a:r>
                      <a:r>
                        <a:rPr kumimoji="1" lang="en-US" altLang="ja-JP" sz="1400" b="1" dirty="0">
                          <a:latin typeface="Meiryo UI" panose="020B0604030504040204" pitchFamily="50" charset="-128"/>
                          <a:ea typeface="Meiryo UI" panose="020B0604030504040204" pitchFamily="50" charset="-128"/>
                        </a:rPr>
                        <a:t>(1954)</a:t>
                      </a: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文章をある単語が出現するか否かという</a:t>
                      </a:r>
                      <a:r>
                        <a:rPr kumimoji="1" lang="en-US" altLang="ja-JP" sz="1200" dirty="0">
                          <a:latin typeface="Meiryo UI" panose="020B0604030504040204" pitchFamily="50" charset="-128"/>
                          <a:ea typeface="Meiryo UI" panose="020B0604030504040204" pitchFamily="50" charset="-128"/>
                        </a:rPr>
                        <a:t>one-hot</a:t>
                      </a:r>
                      <a:r>
                        <a:rPr kumimoji="1" lang="ja-JP" altLang="en-US" sz="1200" dirty="0">
                          <a:latin typeface="Meiryo UI" panose="020B0604030504040204" pitchFamily="50" charset="-128"/>
                          <a:ea typeface="Meiryo UI" panose="020B0604030504040204" pitchFamily="50" charset="-128"/>
                        </a:rPr>
                        <a:t>表現に変換する手法。</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単純な変換のため、解釈がしやすい。</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未知語を扱うことができない。</a:t>
                      </a:r>
                      <a:endParaRPr kumimoji="1"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全単語数が次元になり、次元の呪いが起こりやすい。</a:t>
                      </a:r>
                    </a:p>
                  </a:txBody>
                  <a:tcPr/>
                </a:tc>
                <a:extLst>
                  <a:ext uri="{0D108BD9-81ED-4DB2-BD59-A6C34878D82A}">
                    <a16:rowId xmlns:a16="http://schemas.microsoft.com/office/drawing/2014/main" val="2654479467"/>
                  </a:ext>
                </a:extLst>
              </a:tr>
              <a:tr h="455666">
                <a:tc>
                  <a:txBody>
                    <a:bodyPr/>
                    <a:lstStyle/>
                    <a:p>
                      <a:pPr marL="0" indent="0">
                        <a:buFont typeface="Arial" panose="020B0604020202020204" pitchFamily="34" charset="0"/>
                        <a:buNone/>
                      </a:pPr>
                      <a:r>
                        <a:rPr kumimoji="1" lang="en-US" altLang="ja-JP" sz="1400" b="1" dirty="0">
                          <a:latin typeface="Meiryo UI" panose="020B0604030504040204" pitchFamily="50" charset="-128"/>
                          <a:ea typeface="Meiryo UI" panose="020B0604030504040204" pitchFamily="50" charset="-128"/>
                        </a:rPr>
                        <a:t>TF-IDF(1972)</a:t>
                      </a: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ある文章における単語の頻度と、他の文章におけるその単語の現れなさを指標に文章を数値データに変換する手法。</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解釈がしやすい。</a:t>
                      </a:r>
                      <a:endParaRPr kumimoji="1"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他の文章に共通する単語を重要でないと見なすことができる。</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未知語を扱うことができない。</a:t>
                      </a:r>
                      <a:endParaRPr kumimoji="1"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全単語数が次元になり、次元の呪いが起こりやすい。</a:t>
                      </a:r>
                    </a:p>
                  </a:txBody>
                  <a:tcPr/>
                </a:tc>
                <a:extLst>
                  <a:ext uri="{0D108BD9-81ED-4DB2-BD59-A6C34878D82A}">
                    <a16:rowId xmlns:a16="http://schemas.microsoft.com/office/drawing/2014/main" val="1976909393"/>
                  </a:ext>
                </a:extLst>
              </a:tr>
              <a:tr h="465036">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dirty="0">
                          <a:latin typeface="Meiryo UI" panose="020B0604030504040204" pitchFamily="50" charset="-128"/>
                          <a:ea typeface="Meiryo UI" panose="020B0604030504040204" pitchFamily="50" charset="-128"/>
                        </a:rPr>
                        <a:t>word2vec(2013)</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dirty="0">
                          <a:latin typeface="Meiryo UI" panose="020B0604030504040204" pitchFamily="50" charset="-128"/>
                          <a:ea typeface="Meiryo UI" panose="020B0604030504040204" pitchFamily="50" charset="-128"/>
                        </a:rPr>
                        <a:t>同じ文脈で用いられる単語は似た意味を持つという前提のもと、周辺単語から</a:t>
                      </a:r>
                      <a:r>
                        <a:rPr lang="ja-JP" altLang="en-US" sz="1200" dirty="0">
                          <a:latin typeface="Meiryo UI" panose="020B0604030504040204" pitchFamily="50" charset="-128"/>
                          <a:ea typeface="Meiryo UI" panose="020B0604030504040204" pitchFamily="50" charset="-128"/>
                        </a:rPr>
                        <a:t>対象の単語の分散表現を得る（またはその逆）手法。</a:t>
                      </a:r>
                      <a:endParaRPr lang="en-US" altLang="ja-JP" sz="1200" dirty="0">
                        <a:latin typeface="Meiryo UI" panose="020B0604030504040204" pitchFamily="50" charset="-128"/>
                        <a:ea typeface="Meiryo UI" panose="020B0604030504040204" pitchFamily="50" charset="-128"/>
                      </a:endParaRP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単語の意味を考慮したベクトル化が可能。</a:t>
                      </a:r>
                      <a:endParaRPr kumimoji="1"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次元数を調整できるため、次元の呪いを抑えられる。</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可読性が低く解釈が困難。</a:t>
                      </a:r>
                      <a:endParaRPr kumimoji="1"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広範囲の依存関係を考慮できない。</a:t>
                      </a:r>
                      <a:endParaRPr kumimoji="1" lang="en-US" altLang="ja-JP" sz="12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667180417"/>
                  </a:ext>
                </a:extLst>
              </a:tr>
              <a:tr h="431322">
                <a:tc>
                  <a:txBody>
                    <a:bodyPr/>
                    <a:lstStyle/>
                    <a:p>
                      <a:pPr marL="0" indent="0">
                        <a:buFont typeface="Arial" panose="020B0604020202020204" pitchFamily="34" charset="0"/>
                        <a:buNone/>
                      </a:pPr>
                      <a:r>
                        <a:rPr kumimoji="1" lang="en-US" altLang="ja-JP" sz="1400" b="1" dirty="0">
                          <a:latin typeface="Meiryo UI" panose="020B0604030504040204" pitchFamily="50" charset="-128"/>
                          <a:ea typeface="Meiryo UI" panose="020B0604030504040204" pitchFamily="50" charset="-128"/>
                        </a:rPr>
                        <a:t>seq2seq(2014)</a:t>
                      </a: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様々な入手力に対応できる</a:t>
                      </a:r>
                      <a:r>
                        <a:rPr kumimoji="1" lang="en-US" altLang="ja-JP" sz="1200" dirty="0">
                          <a:latin typeface="Meiryo UI" panose="020B0604030504040204" pitchFamily="50" charset="-128"/>
                          <a:ea typeface="Meiryo UI" panose="020B0604030504040204" pitchFamily="50" charset="-128"/>
                        </a:rPr>
                        <a:t>RNN Encoder-</a:t>
                      </a:r>
                      <a:r>
                        <a:rPr kumimoji="1" lang="en-US" altLang="ja-JP" sz="1200" dirty="0" err="1">
                          <a:latin typeface="Meiryo UI" panose="020B0604030504040204" pitchFamily="50" charset="-128"/>
                          <a:ea typeface="Meiryo UI" panose="020B0604030504040204" pitchFamily="50" charset="-128"/>
                        </a:rPr>
                        <a:t>Decorder</a:t>
                      </a:r>
                      <a:r>
                        <a:rPr kumimoji="1" lang="ja-JP" altLang="en-US" sz="1200" dirty="0">
                          <a:latin typeface="Meiryo UI" panose="020B0604030504040204" pitchFamily="50" charset="-128"/>
                          <a:ea typeface="Meiryo UI" panose="020B0604030504040204" pitchFamily="50" charset="-128"/>
                        </a:rPr>
                        <a:t>を用いることにより、特に翻訳タスクにおいて良い精度が報告されている手法。</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精度良く文章生成を行うことができる。</a:t>
                      </a:r>
                      <a:endParaRPr kumimoji="1"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dirty="0">
                          <a:latin typeface="Meiryo UI" panose="020B0604030504040204" pitchFamily="50" charset="-128"/>
                          <a:ea typeface="Meiryo UI" panose="020B0604030504040204" pitchFamily="50" charset="-128"/>
                        </a:rPr>
                        <a:t>広範囲の依存関係を考慮できる。</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dirty="0">
                          <a:latin typeface="Meiryo UI" panose="020B0604030504040204" pitchFamily="50" charset="-128"/>
                          <a:ea typeface="Meiryo UI" panose="020B0604030504040204" pitchFamily="50" charset="-128"/>
                        </a:rPr>
                        <a:t>可読性が低く解釈が困難。</a:t>
                      </a:r>
                      <a:endParaRPr kumimoji="1"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dirty="0">
                          <a:latin typeface="Meiryo UI" panose="020B0604030504040204" pitchFamily="50" charset="-128"/>
                          <a:ea typeface="Meiryo UI" panose="020B0604030504040204" pitchFamily="50" charset="-128"/>
                        </a:rPr>
                        <a:t>広範囲の依存関係を学習するため、時間がかかる。</a:t>
                      </a:r>
                      <a:endParaRPr kumimoji="1" lang="en-US" altLang="ja-JP" sz="12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819069681"/>
                  </a:ext>
                </a:extLst>
              </a:tr>
              <a:tr h="465036">
                <a:tc>
                  <a:txBody>
                    <a:bodyPr/>
                    <a:lstStyle/>
                    <a:p>
                      <a:pPr marL="0" indent="0">
                        <a:buFont typeface="Arial" panose="020B0604020202020204" pitchFamily="34" charset="0"/>
                        <a:buNone/>
                      </a:pPr>
                      <a:r>
                        <a:rPr kumimoji="1" lang="en-US" altLang="ja-JP" sz="1400" b="1" dirty="0">
                          <a:latin typeface="Meiryo UI" panose="020B0604030504040204" pitchFamily="50" charset="-128"/>
                          <a:ea typeface="Meiryo UI" panose="020B0604030504040204" pitchFamily="50" charset="-128"/>
                        </a:rPr>
                        <a:t>BERT(2018)</a:t>
                      </a:r>
                    </a:p>
                  </a:txBody>
                  <a:tcPr/>
                </a:tc>
                <a:tc>
                  <a:txBody>
                    <a:bodyPr/>
                    <a:lstStyle/>
                    <a:p>
                      <a:pPr marL="0" indent="0">
                        <a:buFont typeface="Arial" panose="020B0604020202020204" pitchFamily="34" charset="0"/>
                        <a:buNone/>
                      </a:pPr>
                      <a:r>
                        <a:rPr kumimoji="1" lang="en-US" altLang="ja-JP" sz="1200" dirty="0">
                          <a:latin typeface="Meiryo UI" panose="020B0604030504040204" pitchFamily="50" charset="-128"/>
                          <a:ea typeface="Meiryo UI" panose="020B0604030504040204" pitchFamily="50" charset="-128"/>
                        </a:rPr>
                        <a:t>Encoder-</a:t>
                      </a:r>
                      <a:r>
                        <a:rPr kumimoji="1" lang="en-US" altLang="ja-JP" sz="1200" dirty="0" err="1">
                          <a:latin typeface="Meiryo UI" panose="020B0604030504040204" pitchFamily="50" charset="-128"/>
                          <a:ea typeface="Meiryo UI" panose="020B0604030504040204" pitchFamily="50" charset="-128"/>
                        </a:rPr>
                        <a:t>Decorder</a:t>
                      </a:r>
                      <a:r>
                        <a:rPr kumimoji="1" lang="ja-JP" altLang="en-US" sz="1200" dirty="0">
                          <a:latin typeface="Meiryo UI" panose="020B0604030504040204" pitchFamily="50" charset="-128"/>
                          <a:ea typeface="Meiryo UI" panose="020B0604030504040204" pitchFamily="50" charset="-128"/>
                        </a:rPr>
                        <a:t>モデルに</a:t>
                      </a:r>
                      <a:r>
                        <a:rPr kumimoji="1" lang="en-US" altLang="ja-JP" sz="1200" dirty="0">
                          <a:latin typeface="Meiryo UI" panose="020B0604030504040204" pitchFamily="50" charset="-128"/>
                          <a:ea typeface="Meiryo UI" panose="020B0604030504040204" pitchFamily="50" charset="-128"/>
                        </a:rPr>
                        <a:t>Attention</a:t>
                      </a:r>
                      <a:r>
                        <a:rPr kumimoji="1" lang="ja-JP" altLang="en-US" sz="1200" dirty="0">
                          <a:latin typeface="Meiryo UI" panose="020B0604030504040204" pitchFamily="50" charset="-128"/>
                          <a:ea typeface="Meiryo UI" panose="020B0604030504040204" pitchFamily="50" charset="-128"/>
                        </a:rPr>
                        <a:t>を用いた</a:t>
                      </a:r>
                      <a:r>
                        <a:rPr kumimoji="1" lang="en-US" altLang="ja-JP" sz="1200" dirty="0">
                          <a:latin typeface="Meiryo UI" panose="020B0604030504040204" pitchFamily="50" charset="-128"/>
                          <a:ea typeface="Meiryo UI" panose="020B0604030504040204" pitchFamily="50" charset="-128"/>
                        </a:rPr>
                        <a:t>transformer</a:t>
                      </a:r>
                      <a:r>
                        <a:rPr kumimoji="1" lang="ja-JP" altLang="en-US" sz="1200" dirty="0">
                          <a:latin typeface="Meiryo UI" panose="020B0604030504040204" pitchFamily="50" charset="-128"/>
                          <a:ea typeface="Meiryo UI" panose="020B0604030504040204" pitchFamily="50" charset="-128"/>
                        </a:rPr>
                        <a:t>に、双方向での学習を行う機構を用いることにより、長文における文脈理解が可能となった手法。</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長文において精度良く文脈理解が可能。</a:t>
                      </a:r>
                      <a:endParaRPr kumimoji="1"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kumimoji="1" lang="ja-JP" altLang="en-US" sz="1200" dirty="0">
                          <a:latin typeface="Meiryo UI" panose="020B0604030504040204" pitchFamily="50" charset="-128"/>
                          <a:ea typeface="Meiryo UI" panose="020B0604030504040204" pitchFamily="50" charset="-128"/>
                        </a:rPr>
                        <a:t>転移学習ができるため、汎用性が高い。</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dirty="0">
                          <a:latin typeface="Meiryo UI" panose="020B0604030504040204" pitchFamily="50" charset="-128"/>
                          <a:ea typeface="Meiryo UI" panose="020B0604030504040204" pitchFamily="50" charset="-128"/>
                        </a:rPr>
                        <a:t>可読性が低く解釈が困難。</a:t>
                      </a:r>
                      <a:endParaRPr kumimoji="1"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dirty="0">
                          <a:latin typeface="Meiryo UI" panose="020B0604030504040204" pitchFamily="50" charset="-128"/>
                          <a:ea typeface="Meiryo UI" panose="020B0604030504040204" pitchFamily="50" charset="-128"/>
                        </a:rPr>
                        <a:t>分散表現の次元数や入力できるトークン数は事前学習したモデル構造に依存する。</a:t>
                      </a:r>
                      <a:endParaRPr kumimoji="1" lang="en-US" altLang="ja-JP" sz="12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244227419"/>
                  </a:ext>
                </a:extLst>
              </a:tr>
            </a:tbl>
          </a:graphicData>
        </a:graphic>
      </p:graphicFrame>
      <p:sp>
        <p:nvSpPr>
          <p:cNvPr id="3" name="テキスト ボックス 2">
            <a:extLst>
              <a:ext uri="{FF2B5EF4-FFF2-40B4-BE49-F238E27FC236}">
                <a16:creationId xmlns:a16="http://schemas.microsoft.com/office/drawing/2014/main" id="{B76357B0-8C5C-47A3-922A-786D22B0A6BB}"/>
              </a:ext>
            </a:extLst>
          </p:cNvPr>
          <p:cNvSpPr txBox="1"/>
          <p:nvPr/>
        </p:nvSpPr>
        <p:spPr>
          <a:xfrm>
            <a:off x="4064000" y="1989138"/>
            <a:ext cx="1778000" cy="369332"/>
          </a:xfrm>
          <a:prstGeom prst="rect">
            <a:avLst/>
          </a:prstGeom>
          <a:noFill/>
        </p:spPr>
        <p:txBody>
          <a:bodyPr wrap="square" rtlCol="0">
            <a:spAutoFit/>
          </a:bodyPr>
          <a:lstStyle/>
          <a:p>
            <a:r>
              <a:rPr kumimoji="1" lang="ja-JP" altLang="en-US" b="1" dirty="0">
                <a:latin typeface="Meiryo UI" panose="020B0604030504040204" pitchFamily="50" charset="-128"/>
                <a:ea typeface="Meiryo UI" panose="020B0604030504040204" pitchFamily="50" charset="-128"/>
              </a:rPr>
              <a:t>代表アルゴリズム</a:t>
            </a:r>
          </a:p>
        </p:txBody>
      </p:sp>
      <p:sp>
        <p:nvSpPr>
          <p:cNvPr id="4" name="スライド番号プレースホルダー 3">
            <a:extLst>
              <a:ext uri="{FF2B5EF4-FFF2-40B4-BE49-F238E27FC236}">
                <a16:creationId xmlns:a16="http://schemas.microsoft.com/office/drawing/2014/main" id="{AA881E86-AB63-42DE-9A4E-160A69E0DFF8}"/>
              </a:ext>
            </a:extLst>
          </p:cNvPr>
          <p:cNvSpPr>
            <a:spLocks noGrp="1"/>
          </p:cNvSpPr>
          <p:nvPr>
            <p:ph type="sldNum" sz="quarter" idx="12"/>
          </p:nvPr>
        </p:nvSpPr>
        <p:spPr/>
        <p:txBody>
          <a:bodyPr/>
          <a:lstStyle/>
          <a:p>
            <a:fld id="{4A0ABA21-04CE-4531-99B2-420D29D6D622}" type="slidenum">
              <a:rPr lang="ja-JP" altLang="en-US" smtClean="0"/>
              <a:pPr/>
              <a:t>10</a:t>
            </a:fld>
            <a:endParaRPr lang="ja-JP" altLang="en-US"/>
          </a:p>
        </p:txBody>
      </p:sp>
    </p:spTree>
    <p:extLst>
      <p:ext uri="{BB962C8B-B14F-4D97-AF65-F5344CB8AC3E}">
        <p14:creationId xmlns:p14="http://schemas.microsoft.com/office/powerpoint/2010/main" val="1953516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6160B2-23B1-485F-9B19-F9B5BA6CE6BC}"/>
              </a:ext>
            </a:extLst>
          </p:cNvPr>
          <p:cNvSpPr>
            <a:spLocks noGrp="1"/>
          </p:cNvSpPr>
          <p:nvPr>
            <p:ph type="title"/>
          </p:nvPr>
        </p:nvSpPr>
        <p:spPr>
          <a:xfrm>
            <a:off x="540000" y="360000"/>
            <a:ext cx="9252000" cy="720000"/>
          </a:xfrm>
        </p:spPr>
        <p:txBody>
          <a:bodyPr lIns="72000" tIns="72000" rIns="72000" bIns="72000">
            <a:noAutofit/>
          </a:bodyPr>
          <a:lstStyle/>
          <a:p>
            <a:r>
              <a:rPr kumimoji="1" lang="ja-JP" altLang="en-US" dirty="0">
                <a:latin typeface="Meiryo UI" panose="020B0604030504040204" pitchFamily="50" charset="-128"/>
                <a:ea typeface="Meiryo UI" panose="020B0604030504040204" pitchFamily="50" charset="-128"/>
              </a:rPr>
              <a:t>クラスタリングアルゴリズムの種類と代表アルゴリズム</a:t>
            </a:r>
          </a:p>
        </p:txBody>
      </p:sp>
      <p:sp>
        <p:nvSpPr>
          <p:cNvPr id="15" name="コンテンツ プレースホルダー 2">
            <a:extLst>
              <a:ext uri="{FF2B5EF4-FFF2-40B4-BE49-F238E27FC236}">
                <a16:creationId xmlns:a16="http://schemas.microsoft.com/office/drawing/2014/main" id="{003CE432-6201-4E1B-A9F1-160A56485A03}"/>
              </a:ext>
            </a:extLst>
          </p:cNvPr>
          <p:cNvSpPr>
            <a:spLocks noGrp="1"/>
          </p:cNvSpPr>
          <p:nvPr>
            <p:ph idx="4294967295"/>
          </p:nvPr>
        </p:nvSpPr>
        <p:spPr>
          <a:xfrm>
            <a:off x="540000" y="1080000"/>
            <a:ext cx="9144000" cy="652463"/>
          </a:xfrm>
          <a:prstGeom prst="rect">
            <a:avLst/>
          </a:prstGeom>
        </p:spPr>
        <p:txBody>
          <a:bodyPr lIns="72000" tIns="72000" rIns="72000" bIns="72000">
            <a:noAutofit/>
          </a:bodyPr>
          <a:lstStyle/>
          <a:p>
            <a:pPr marL="0" indent="0">
              <a:buNone/>
            </a:pPr>
            <a:r>
              <a:rPr lang="ja-JP" altLang="en-US" sz="2000" b="1" dirty="0">
                <a:latin typeface="Meiryo UI" panose="020B0604030504040204" pitchFamily="50" charset="-128"/>
                <a:ea typeface="Meiryo UI" panose="020B0604030504040204" pitchFamily="50" charset="-128"/>
              </a:rPr>
              <a:t>クラスタリングアルゴリズムには、様々な種類が存在し</a:t>
            </a:r>
            <a:r>
              <a:rPr lang="ja-JP" altLang="ja-JP" sz="2000" b="1" dirty="0">
                <a:latin typeface="Meiryo UI" panose="020B0604030504040204" pitchFamily="50" charset="-128"/>
                <a:ea typeface="Meiryo UI" panose="020B0604030504040204" pitchFamily="50" charset="-128"/>
              </a:rPr>
              <a:t>、</a:t>
            </a:r>
            <a:r>
              <a:rPr lang="ja-JP" altLang="en-US" sz="2000" b="1" dirty="0">
                <a:latin typeface="Meiryo UI" panose="020B0604030504040204" pitchFamily="50" charset="-128"/>
                <a:ea typeface="Meiryo UI" panose="020B0604030504040204" pitchFamily="50" charset="-128"/>
              </a:rPr>
              <a:t>分類</a:t>
            </a:r>
            <a:r>
              <a:rPr lang="ja-JP" altLang="ja-JP" sz="2000" b="1" dirty="0">
                <a:latin typeface="Meiryo UI" panose="020B0604030504040204" pitchFamily="50" charset="-128"/>
                <a:ea typeface="Meiryo UI" panose="020B0604030504040204" pitchFamily="50" charset="-128"/>
              </a:rPr>
              <a:t>する方法が違います</a:t>
            </a:r>
            <a:r>
              <a:rPr lang="ja-JP" altLang="en-US" sz="2000" b="1" dirty="0">
                <a:latin typeface="Meiryo UI" panose="020B0604030504040204" pitchFamily="50" charset="-128"/>
                <a:ea typeface="Meiryo UI" panose="020B0604030504040204" pitchFamily="50" charset="-128"/>
              </a:rPr>
              <a:t>。主に階層クラスタリングと非階層クラスタリングの手法が存在します。</a:t>
            </a:r>
            <a:endParaRPr lang="en-US" altLang="ja-JP" sz="2000" b="1" dirty="0">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D9B8162F-D3EE-41F5-826E-5B22049B61AF}"/>
              </a:ext>
            </a:extLst>
          </p:cNvPr>
          <p:cNvSpPr/>
          <p:nvPr/>
        </p:nvSpPr>
        <p:spPr>
          <a:xfrm>
            <a:off x="3405000" y="2340000"/>
            <a:ext cx="3096000" cy="360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solidFill>
                  <a:schemeClr val="tx1"/>
                </a:solidFill>
                <a:latin typeface="Meiryo UI" panose="020B0604030504040204" pitchFamily="50" charset="-128"/>
                <a:ea typeface="Meiryo UI" panose="020B0604030504040204" pitchFamily="50" charset="-128"/>
              </a:rPr>
              <a:t>クラスタリングアルゴリズム</a:t>
            </a:r>
          </a:p>
        </p:txBody>
      </p:sp>
      <p:cxnSp>
        <p:nvCxnSpPr>
          <p:cNvPr id="17" name="コネクタ: カギ線 16">
            <a:extLst>
              <a:ext uri="{FF2B5EF4-FFF2-40B4-BE49-F238E27FC236}">
                <a16:creationId xmlns:a16="http://schemas.microsoft.com/office/drawing/2014/main" id="{52C58DDD-A1EE-40D7-9BCB-3D1891458730}"/>
              </a:ext>
            </a:extLst>
          </p:cNvPr>
          <p:cNvCxnSpPr>
            <a:cxnSpLocks/>
            <a:stCxn id="16" idx="2"/>
            <a:endCxn id="31" idx="0"/>
          </p:cNvCxnSpPr>
          <p:nvPr/>
        </p:nvCxnSpPr>
        <p:spPr>
          <a:xfrm rot="16200000" flipH="1">
            <a:off x="5941500" y="1711500"/>
            <a:ext cx="540000" cy="251700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コネクタ: カギ線 19">
            <a:extLst>
              <a:ext uri="{FF2B5EF4-FFF2-40B4-BE49-F238E27FC236}">
                <a16:creationId xmlns:a16="http://schemas.microsoft.com/office/drawing/2014/main" id="{7736ACA3-401F-4763-8984-EBA25D2CFD4F}"/>
              </a:ext>
            </a:extLst>
          </p:cNvPr>
          <p:cNvCxnSpPr>
            <a:cxnSpLocks/>
            <a:stCxn id="16" idx="2"/>
            <a:endCxn id="27" idx="0"/>
          </p:cNvCxnSpPr>
          <p:nvPr/>
        </p:nvCxnSpPr>
        <p:spPr>
          <a:xfrm rot="5400000">
            <a:off x="3420575" y="1707575"/>
            <a:ext cx="540000" cy="252485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コネクタ: カギ線 20">
            <a:extLst>
              <a:ext uri="{FF2B5EF4-FFF2-40B4-BE49-F238E27FC236}">
                <a16:creationId xmlns:a16="http://schemas.microsoft.com/office/drawing/2014/main" id="{5572145F-0F5A-4339-B151-9BF6B446A158}"/>
              </a:ext>
            </a:extLst>
          </p:cNvPr>
          <p:cNvCxnSpPr>
            <a:cxnSpLocks/>
            <a:stCxn id="31" idx="2"/>
            <a:endCxn id="33" idx="0"/>
          </p:cNvCxnSpPr>
          <p:nvPr/>
        </p:nvCxnSpPr>
        <p:spPr>
          <a:xfrm rot="16200000" flipH="1">
            <a:off x="7875000" y="4095000"/>
            <a:ext cx="360000" cy="117000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7260628A-08CD-4325-9A72-8FA7DC6B1ACA}"/>
              </a:ext>
            </a:extLst>
          </p:cNvPr>
          <p:cNvCxnSpPr>
            <a:cxnSpLocks/>
            <a:stCxn id="31" idx="2"/>
            <a:endCxn id="32" idx="0"/>
          </p:cNvCxnSpPr>
          <p:nvPr/>
        </p:nvCxnSpPr>
        <p:spPr>
          <a:xfrm rot="5400000">
            <a:off x="6705000" y="4095000"/>
            <a:ext cx="360000" cy="117000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表 31">
            <a:extLst>
              <a:ext uri="{FF2B5EF4-FFF2-40B4-BE49-F238E27FC236}">
                <a16:creationId xmlns:a16="http://schemas.microsoft.com/office/drawing/2014/main" id="{2334E68A-B5AA-4E61-B260-B980DA76A71A}"/>
              </a:ext>
            </a:extLst>
          </p:cNvPr>
          <p:cNvGraphicFramePr>
            <a:graphicFrameLocks noGrp="1"/>
          </p:cNvGraphicFramePr>
          <p:nvPr>
            <p:extLst>
              <p:ext uri="{D42A27DB-BD31-4B8C-83A1-F6EECF244321}">
                <p14:modId xmlns:p14="http://schemas.microsoft.com/office/powerpoint/2010/main" val="4237377746"/>
              </p:ext>
            </p:extLst>
          </p:nvPr>
        </p:nvGraphicFramePr>
        <p:xfrm>
          <a:off x="5220000" y="3240000"/>
          <a:ext cx="4500000" cy="1260000"/>
        </p:xfrm>
        <a:graphic>
          <a:graphicData uri="http://schemas.openxmlformats.org/drawingml/2006/table">
            <a:tbl>
              <a:tblPr firstRow="1" bandRow="1">
                <a:tableStyleId>{5940675A-B579-460E-94D1-54222C63F5DA}</a:tableStyleId>
              </a:tblPr>
              <a:tblGrid>
                <a:gridCol w="4500000">
                  <a:extLst>
                    <a:ext uri="{9D8B030D-6E8A-4147-A177-3AD203B41FA5}">
                      <a16:colId xmlns:a16="http://schemas.microsoft.com/office/drawing/2014/main" val="3360979933"/>
                    </a:ext>
                  </a:extLst>
                </a:gridCol>
              </a:tblGrid>
              <a:tr h="288000">
                <a:tc>
                  <a:txBody>
                    <a:bodyPr/>
                    <a:lstStyle/>
                    <a:p>
                      <a:pPr algn="ctr"/>
                      <a:r>
                        <a:rPr kumimoji="1" lang="ja-JP" altLang="en-US" sz="1400" b="1" dirty="0">
                          <a:latin typeface="Meiryo UI" panose="020B0604030504040204" pitchFamily="50" charset="-128"/>
                          <a:ea typeface="Meiryo UI" panose="020B0604030504040204" pitchFamily="50" charset="-128"/>
                        </a:rPr>
                        <a:t>非階層クラスタリング（</a:t>
                      </a:r>
                      <a:r>
                        <a:rPr kumimoji="1" lang="ja-JP" altLang="en-US" sz="1400" b="1" i="0" kern="1200" dirty="0">
                          <a:solidFill>
                            <a:schemeClr val="tx1"/>
                          </a:solidFill>
                          <a:effectLst/>
                          <a:latin typeface="Meiryo UI" panose="020B0604030504040204" pitchFamily="50" charset="-128"/>
                          <a:ea typeface="Meiryo UI" panose="020B0604030504040204" pitchFamily="50" charset="-128"/>
                          <a:cs typeface="+mn-cs"/>
                        </a:rPr>
                        <a:t>分割最適化クラスタリング</a:t>
                      </a:r>
                      <a:r>
                        <a:rPr kumimoji="1" lang="ja-JP" altLang="en-US" sz="1400" b="1" dirty="0">
                          <a:latin typeface="Meiryo UI" panose="020B0604030504040204" pitchFamily="50" charset="-128"/>
                          <a:ea typeface="Meiryo UI" panose="020B0604030504040204" pitchFamily="50" charset="-128"/>
                        </a:rPr>
                        <a:t>）</a:t>
                      </a:r>
                    </a:p>
                  </a:txBody>
                  <a:tcPr marL="74295" marR="74295" marT="37148" marB="37148"/>
                </a:tc>
                <a:extLst>
                  <a:ext uri="{0D108BD9-81ED-4DB2-BD59-A6C34878D82A}">
                    <a16:rowId xmlns:a16="http://schemas.microsoft.com/office/drawing/2014/main" val="1626573259"/>
                  </a:ext>
                </a:extLst>
              </a:tr>
              <a:tr h="972000">
                <a:tc>
                  <a:txBody>
                    <a:bodyPr/>
                    <a:lstStyle/>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決められたクラスター数で分割していく手法</a:t>
                      </a:r>
                      <a:br>
                        <a:rPr lang="ja-JP" altLang="en-US" sz="1400" dirty="0">
                          <a:latin typeface="Meiryo UI" panose="020B0604030504040204" pitchFamily="50" charset="-128"/>
                          <a:ea typeface="Meiryo UI" panose="020B0604030504040204" pitchFamily="50" charset="-128"/>
                        </a:rPr>
                      </a:b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作成するクラスタの数を決める必要がある</a:t>
                      </a:r>
                      <a:endPar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endParaRPr>
                    </a:p>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初期値依存性があるため、結果が同じにならない場合が存在する</a:t>
                      </a:r>
                      <a:endParaRPr kumimoji="1" lang="ja-JP" altLang="en-US" sz="1400" dirty="0">
                        <a:latin typeface="Meiryo UI" panose="020B0604030504040204" pitchFamily="50" charset="-128"/>
                        <a:ea typeface="Meiryo UI" panose="020B0604030504040204" pitchFamily="50" charset="-128"/>
                      </a:endParaRPr>
                    </a:p>
                  </a:txBody>
                  <a:tcPr marL="74295" marR="74295" marT="37148" marB="37148" anchor="ctr"/>
                </a:tc>
                <a:extLst>
                  <a:ext uri="{0D108BD9-81ED-4DB2-BD59-A6C34878D82A}">
                    <a16:rowId xmlns:a16="http://schemas.microsoft.com/office/drawing/2014/main" val="1431820442"/>
                  </a:ext>
                </a:extLst>
              </a:tr>
            </a:tbl>
          </a:graphicData>
        </a:graphic>
      </p:graphicFrame>
      <p:sp>
        <p:nvSpPr>
          <p:cNvPr id="25" name="テキスト ボックス 24">
            <a:extLst>
              <a:ext uri="{FF2B5EF4-FFF2-40B4-BE49-F238E27FC236}">
                <a16:creationId xmlns:a16="http://schemas.microsoft.com/office/drawing/2014/main" id="{3D22A0C5-C424-4B96-873C-FA6CE251A87A}"/>
              </a:ext>
            </a:extLst>
          </p:cNvPr>
          <p:cNvSpPr txBox="1"/>
          <p:nvPr/>
        </p:nvSpPr>
        <p:spPr>
          <a:xfrm>
            <a:off x="3319379" y="1980000"/>
            <a:ext cx="3267241"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クラスタリングアルゴリズムの種類</a:t>
            </a:r>
          </a:p>
        </p:txBody>
      </p:sp>
      <p:graphicFrame>
        <p:nvGraphicFramePr>
          <p:cNvPr id="27" name="表 31">
            <a:extLst>
              <a:ext uri="{FF2B5EF4-FFF2-40B4-BE49-F238E27FC236}">
                <a16:creationId xmlns:a16="http://schemas.microsoft.com/office/drawing/2014/main" id="{5CD0E761-26BA-40C8-B507-932EA3593B83}"/>
              </a:ext>
            </a:extLst>
          </p:cNvPr>
          <p:cNvGraphicFramePr>
            <a:graphicFrameLocks noGrp="1"/>
          </p:cNvGraphicFramePr>
          <p:nvPr>
            <p:extLst>
              <p:ext uri="{D42A27DB-BD31-4B8C-83A1-F6EECF244321}">
                <p14:modId xmlns:p14="http://schemas.microsoft.com/office/powerpoint/2010/main" val="2575028278"/>
              </p:ext>
            </p:extLst>
          </p:nvPr>
        </p:nvGraphicFramePr>
        <p:xfrm>
          <a:off x="178150" y="3240000"/>
          <a:ext cx="4500000" cy="1259656"/>
        </p:xfrm>
        <a:graphic>
          <a:graphicData uri="http://schemas.openxmlformats.org/drawingml/2006/table">
            <a:tbl>
              <a:tblPr firstRow="1" bandRow="1">
                <a:tableStyleId>{5940675A-B579-460E-94D1-54222C63F5DA}</a:tableStyleId>
              </a:tblPr>
              <a:tblGrid>
                <a:gridCol w="4500000">
                  <a:extLst>
                    <a:ext uri="{9D8B030D-6E8A-4147-A177-3AD203B41FA5}">
                      <a16:colId xmlns:a16="http://schemas.microsoft.com/office/drawing/2014/main" val="3360979933"/>
                    </a:ext>
                  </a:extLst>
                </a:gridCol>
              </a:tblGrid>
              <a:tr h="127248">
                <a:tc>
                  <a:txBody>
                    <a:bodyPr/>
                    <a:lstStyle/>
                    <a:p>
                      <a:pPr algn="ctr"/>
                      <a:r>
                        <a:rPr kumimoji="1" lang="ja-JP" altLang="en-US" sz="1400" b="1" dirty="0">
                          <a:latin typeface="Meiryo UI" panose="020B0604030504040204" pitchFamily="50" charset="-128"/>
                          <a:ea typeface="Meiryo UI" panose="020B0604030504040204" pitchFamily="50" charset="-128"/>
                        </a:rPr>
                        <a:t>階層クラスタリング</a:t>
                      </a:r>
                    </a:p>
                  </a:txBody>
                  <a:tcPr marL="74295" marR="74295" marT="37148" marB="37148"/>
                </a:tc>
                <a:extLst>
                  <a:ext uri="{0D108BD9-81ED-4DB2-BD59-A6C34878D82A}">
                    <a16:rowId xmlns:a16="http://schemas.microsoft.com/office/drawing/2014/main" val="1626573259"/>
                  </a:ext>
                </a:extLst>
              </a:tr>
              <a:tr h="972000">
                <a:tc>
                  <a:txBody>
                    <a:bodyPr/>
                    <a:lstStyle/>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データ数が多いデータの場合は、計算量が膨大になり処理時間の問題が発生することや、結果が複雑になってしまう</a:t>
                      </a:r>
                      <a:endPar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endParaRPr>
                    </a:p>
                  </a:txBody>
                  <a:tcPr marL="74295" marR="74295" marT="37148" marB="37148" anchor="ctr"/>
                </a:tc>
                <a:extLst>
                  <a:ext uri="{0D108BD9-81ED-4DB2-BD59-A6C34878D82A}">
                    <a16:rowId xmlns:a16="http://schemas.microsoft.com/office/drawing/2014/main" val="369605381"/>
                  </a:ext>
                </a:extLst>
              </a:tr>
            </a:tbl>
          </a:graphicData>
        </a:graphic>
      </p:graphicFrame>
      <p:graphicFrame>
        <p:nvGraphicFramePr>
          <p:cNvPr id="32" name="表 31">
            <a:extLst>
              <a:ext uri="{FF2B5EF4-FFF2-40B4-BE49-F238E27FC236}">
                <a16:creationId xmlns:a16="http://schemas.microsoft.com/office/drawing/2014/main" id="{57B3725B-6860-41B4-9F10-A8B7D7FCD06B}"/>
              </a:ext>
            </a:extLst>
          </p:cNvPr>
          <p:cNvGraphicFramePr>
            <a:graphicFrameLocks noGrp="1"/>
          </p:cNvGraphicFramePr>
          <p:nvPr>
            <p:extLst>
              <p:ext uri="{D42A27DB-BD31-4B8C-83A1-F6EECF244321}">
                <p14:modId xmlns:p14="http://schemas.microsoft.com/office/powerpoint/2010/main" val="2247567888"/>
              </p:ext>
            </p:extLst>
          </p:nvPr>
        </p:nvGraphicFramePr>
        <p:xfrm>
          <a:off x="5220000" y="4860000"/>
          <a:ext cx="2160000" cy="1002376"/>
        </p:xfrm>
        <a:graphic>
          <a:graphicData uri="http://schemas.openxmlformats.org/drawingml/2006/table">
            <a:tbl>
              <a:tblPr firstRow="1" bandRow="1">
                <a:tableStyleId>{5940675A-B579-460E-94D1-54222C63F5DA}</a:tableStyleId>
              </a:tblPr>
              <a:tblGrid>
                <a:gridCol w="2160000">
                  <a:extLst>
                    <a:ext uri="{9D8B030D-6E8A-4147-A177-3AD203B41FA5}">
                      <a16:colId xmlns:a16="http://schemas.microsoft.com/office/drawing/2014/main" val="3360979933"/>
                    </a:ext>
                  </a:extLst>
                </a:gridCol>
              </a:tblGrid>
              <a:tr h="288000">
                <a:tc>
                  <a:txBody>
                    <a:bodyPr/>
                    <a:lstStyle/>
                    <a:p>
                      <a:pPr algn="ctr"/>
                      <a:r>
                        <a:rPr kumimoji="1" lang="ja-JP" altLang="en-US" sz="1400" b="1" dirty="0">
                          <a:latin typeface="Meiryo UI" panose="020B0604030504040204" pitchFamily="50" charset="-128"/>
                          <a:ea typeface="Meiryo UI" panose="020B0604030504040204" pitchFamily="50" charset="-128"/>
                        </a:rPr>
                        <a:t>ハードクラスタリング</a:t>
                      </a:r>
                    </a:p>
                  </a:txBody>
                  <a:tcPr marL="74295" marR="74295" marT="37148" marB="37148"/>
                </a:tc>
                <a:extLst>
                  <a:ext uri="{0D108BD9-81ED-4DB2-BD59-A6C34878D82A}">
                    <a16:rowId xmlns:a16="http://schemas.microsoft.com/office/drawing/2014/main" val="1626573259"/>
                  </a:ext>
                </a:extLst>
              </a:tr>
              <a:tr h="426465">
                <a:tc>
                  <a:txBody>
                    <a:bodyPr/>
                    <a:lstStyle/>
                    <a:p>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1</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つの要素が</a:t>
                      </a:r>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1</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つの</a:t>
                      </a:r>
                      <a:r>
                        <a:rPr kumimoji="1" lang="ja-JP" altLang="en-US" sz="1400" b="0" i="0" u="none" strike="noStrike" kern="1200" dirty="0">
                          <a:solidFill>
                            <a:schemeClr val="tx1"/>
                          </a:solidFill>
                          <a:effectLst/>
                          <a:latin typeface="Meiryo UI" panose="020B0604030504040204" pitchFamily="50" charset="-128"/>
                          <a:ea typeface="Meiryo UI" panose="020B0604030504040204" pitchFamily="50" charset="-128"/>
                          <a:cs typeface="+mn-cs"/>
                        </a:rPr>
                        <a:t>クラスタ</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にのみ属するクラスタリング</a:t>
                      </a:r>
                      <a:endPar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endParaRPr>
                    </a:p>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例）</a:t>
                      </a:r>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k-means</a:t>
                      </a:r>
                      <a:endParaRPr kumimoji="1" lang="ja-JP" altLang="en-US" sz="1400" dirty="0">
                        <a:latin typeface="Meiryo UI" panose="020B0604030504040204" pitchFamily="50" charset="-128"/>
                        <a:ea typeface="Meiryo UI" panose="020B0604030504040204" pitchFamily="50" charset="-128"/>
                      </a:endParaRPr>
                    </a:p>
                  </a:txBody>
                  <a:tcPr marL="74295" marR="74295" marT="37148" marB="37148" anchor="ctr"/>
                </a:tc>
                <a:extLst>
                  <a:ext uri="{0D108BD9-81ED-4DB2-BD59-A6C34878D82A}">
                    <a16:rowId xmlns:a16="http://schemas.microsoft.com/office/drawing/2014/main" val="876308223"/>
                  </a:ext>
                </a:extLst>
              </a:tr>
            </a:tbl>
          </a:graphicData>
        </a:graphic>
      </p:graphicFrame>
      <p:graphicFrame>
        <p:nvGraphicFramePr>
          <p:cNvPr id="33" name="表 31">
            <a:extLst>
              <a:ext uri="{FF2B5EF4-FFF2-40B4-BE49-F238E27FC236}">
                <a16:creationId xmlns:a16="http://schemas.microsoft.com/office/drawing/2014/main" id="{57ADF9DD-485D-4CFB-BF28-62EBC49FE363}"/>
              </a:ext>
            </a:extLst>
          </p:cNvPr>
          <p:cNvGraphicFramePr>
            <a:graphicFrameLocks noGrp="1"/>
          </p:cNvGraphicFramePr>
          <p:nvPr>
            <p:extLst>
              <p:ext uri="{D42A27DB-BD31-4B8C-83A1-F6EECF244321}">
                <p14:modId xmlns:p14="http://schemas.microsoft.com/office/powerpoint/2010/main" val="577323829"/>
              </p:ext>
            </p:extLst>
          </p:nvPr>
        </p:nvGraphicFramePr>
        <p:xfrm>
          <a:off x="7560000" y="4860000"/>
          <a:ext cx="2160000" cy="1002376"/>
        </p:xfrm>
        <a:graphic>
          <a:graphicData uri="http://schemas.openxmlformats.org/drawingml/2006/table">
            <a:tbl>
              <a:tblPr firstRow="1" bandRow="1">
                <a:tableStyleId>{5940675A-B579-460E-94D1-54222C63F5DA}</a:tableStyleId>
              </a:tblPr>
              <a:tblGrid>
                <a:gridCol w="2160000">
                  <a:extLst>
                    <a:ext uri="{9D8B030D-6E8A-4147-A177-3AD203B41FA5}">
                      <a16:colId xmlns:a16="http://schemas.microsoft.com/office/drawing/2014/main" val="3360979933"/>
                    </a:ext>
                  </a:extLst>
                </a:gridCol>
              </a:tblGrid>
              <a:tr h="288000">
                <a:tc>
                  <a:txBody>
                    <a:bodyPr/>
                    <a:lstStyle/>
                    <a:p>
                      <a:pPr algn="ctr"/>
                      <a:r>
                        <a:rPr kumimoji="1" lang="ja-JP" altLang="en-US" sz="1400" b="1" dirty="0">
                          <a:latin typeface="Meiryo UI" panose="020B0604030504040204" pitchFamily="50" charset="-128"/>
                          <a:ea typeface="Meiryo UI" panose="020B0604030504040204" pitchFamily="50" charset="-128"/>
                        </a:rPr>
                        <a:t>ソフトクラスタリング</a:t>
                      </a:r>
                    </a:p>
                  </a:txBody>
                  <a:tcPr marL="74295" marR="74295" marT="37148" marB="37148"/>
                </a:tc>
                <a:extLst>
                  <a:ext uri="{0D108BD9-81ED-4DB2-BD59-A6C34878D82A}">
                    <a16:rowId xmlns:a16="http://schemas.microsoft.com/office/drawing/2014/main" val="1626573259"/>
                  </a:ext>
                </a:extLst>
              </a:tr>
              <a:tr h="520065">
                <a:tc>
                  <a:txBody>
                    <a:bodyPr/>
                    <a:lstStyle/>
                    <a:p>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1</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つの要素が</a:t>
                      </a:r>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1</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つ以上の</a:t>
                      </a:r>
                      <a:r>
                        <a:rPr kumimoji="1" lang="ja-JP" altLang="en-US" sz="1400" b="0" i="0" u="none" strike="noStrike" kern="1200" dirty="0">
                          <a:solidFill>
                            <a:schemeClr val="tx1"/>
                          </a:solidFill>
                          <a:effectLst/>
                          <a:latin typeface="Meiryo UI" panose="020B0604030504040204" pitchFamily="50" charset="-128"/>
                          <a:ea typeface="Meiryo UI" panose="020B0604030504040204" pitchFamily="50" charset="-128"/>
                          <a:cs typeface="+mn-cs"/>
                        </a:rPr>
                        <a:t>クラスタ</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に属するクラスタリング</a:t>
                      </a:r>
                      <a:endPar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endParaRPr>
                    </a:p>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例）</a:t>
                      </a:r>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PLSA</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a:t>
                      </a:r>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LSA</a:t>
                      </a:r>
                    </a:p>
                  </a:txBody>
                  <a:tcPr marL="74295" marR="74295" marT="37148" marB="37148" anchor="ctr"/>
                </a:tc>
                <a:extLst>
                  <a:ext uri="{0D108BD9-81ED-4DB2-BD59-A6C34878D82A}">
                    <a16:rowId xmlns:a16="http://schemas.microsoft.com/office/drawing/2014/main" val="315646438"/>
                  </a:ext>
                </a:extLst>
              </a:tr>
            </a:tbl>
          </a:graphicData>
        </a:graphic>
      </p:graphicFrame>
      <p:graphicFrame>
        <p:nvGraphicFramePr>
          <p:cNvPr id="18" name="表 17">
            <a:extLst>
              <a:ext uri="{FF2B5EF4-FFF2-40B4-BE49-F238E27FC236}">
                <a16:creationId xmlns:a16="http://schemas.microsoft.com/office/drawing/2014/main" id="{E9BCD3CB-83A0-4305-A067-45BA15B3204C}"/>
              </a:ext>
            </a:extLst>
          </p:cNvPr>
          <p:cNvGraphicFramePr>
            <a:graphicFrameLocks noGrp="1"/>
          </p:cNvGraphicFramePr>
          <p:nvPr>
            <p:extLst>
              <p:ext uri="{D42A27DB-BD31-4B8C-83A1-F6EECF244321}">
                <p14:modId xmlns:p14="http://schemas.microsoft.com/office/powerpoint/2010/main" val="2186575448"/>
              </p:ext>
            </p:extLst>
          </p:nvPr>
        </p:nvGraphicFramePr>
        <p:xfrm>
          <a:off x="178150" y="4860000"/>
          <a:ext cx="2160000" cy="1855816"/>
        </p:xfrm>
        <a:graphic>
          <a:graphicData uri="http://schemas.openxmlformats.org/drawingml/2006/table">
            <a:tbl>
              <a:tblPr firstRow="1" bandRow="1">
                <a:tableStyleId>{5940675A-B579-460E-94D1-54222C63F5DA}</a:tableStyleId>
              </a:tblPr>
              <a:tblGrid>
                <a:gridCol w="2160000">
                  <a:extLst>
                    <a:ext uri="{9D8B030D-6E8A-4147-A177-3AD203B41FA5}">
                      <a16:colId xmlns:a16="http://schemas.microsoft.com/office/drawing/2014/main" val="3360979933"/>
                    </a:ext>
                  </a:extLst>
                </a:gridCol>
              </a:tblGrid>
              <a:tr h="288000">
                <a:tc>
                  <a:txBody>
                    <a:bodyPr/>
                    <a:lstStyle/>
                    <a:p>
                      <a:pPr algn="ctr"/>
                      <a:r>
                        <a:rPr kumimoji="1" lang="ja-JP" altLang="en-US" sz="1400" b="1" dirty="0">
                          <a:latin typeface="Meiryo UI" panose="020B0604030504040204" pitchFamily="50" charset="-128"/>
                          <a:ea typeface="Meiryo UI" panose="020B0604030504040204" pitchFamily="50" charset="-128"/>
                        </a:rPr>
                        <a:t>凝集型クラスタリング</a:t>
                      </a:r>
                    </a:p>
                  </a:txBody>
                  <a:tcPr marL="74295" marR="74295" marT="37148" marB="37148"/>
                </a:tc>
                <a:extLst>
                  <a:ext uri="{0D108BD9-81ED-4DB2-BD59-A6C34878D82A}">
                    <a16:rowId xmlns:a16="http://schemas.microsoft.com/office/drawing/2014/main" val="1626573259"/>
                  </a:ext>
                </a:extLst>
              </a:tr>
              <a:tr h="426465">
                <a:tc>
                  <a:txBody>
                    <a:bodyPr/>
                    <a:lstStyle/>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最も似ている</a:t>
                      </a:r>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2</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つのグループをまとめることを繰り返しグループの階層を作り、最終的に木構造のデンドログラムが完成する</a:t>
                      </a:r>
                      <a:endPar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例）</a:t>
                      </a:r>
                      <a:r>
                        <a:rPr kumimoji="1" lang="ja-JP" altLang="en-US" sz="1400" dirty="0">
                          <a:latin typeface="Meiryo UI" panose="020B0604030504040204" pitchFamily="50" charset="-128"/>
                          <a:ea typeface="Meiryo UI" panose="020B0604030504040204" pitchFamily="50" charset="-128"/>
                        </a:rPr>
                        <a:t>最短距離法、最長距離法、群平均法</a:t>
                      </a:r>
                      <a:endParaRPr kumimoji="1" lang="en-US" altLang="ja-JP" sz="1400" dirty="0">
                        <a:latin typeface="Meiryo UI" panose="020B0604030504040204" pitchFamily="50" charset="-128"/>
                        <a:ea typeface="Meiryo UI" panose="020B0604030504040204" pitchFamily="50" charset="-128"/>
                      </a:endParaRPr>
                    </a:p>
                  </a:txBody>
                  <a:tcPr marL="74295" marR="74295" marT="37148" marB="37148" anchor="ctr"/>
                </a:tc>
                <a:extLst>
                  <a:ext uri="{0D108BD9-81ED-4DB2-BD59-A6C34878D82A}">
                    <a16:rowId xmlns:a16="http://schemas.microsoft.com/office/drawing/2014/main" val="876308223"/>
                  </a:ext>
                </a:extLst>
              </a:tr>
            </a:tbl>
          </a:graphicData>
        </a:graphic>
      </p:graphicFrame>
      <p:graphicFrame>
        <p:nvGraphicFramePr>
          <p:cNvPr id="19" name="表 31">
            <a:extLst>
              <a:ext uri="{FF2B5EF4-FFF2-40B4-BE49-F238E27FC236}">
                <a16:creationId xmlns:a16="http://schemas.microsoft.com/office/drawing/2014/main" id="{4F5F84F2-793D-49B9-BFF2-24F4CE3495E3}"/>
              </a:ext>
            </a:extLst>
          </p:cNvPr>
          <p:cNvGraphicFramePr>
            <a:graphicFrameLocks noGrp="1"/>
          </p:cNvGraphicFramePr>
          <p:nvPr>
            <p:extLst>
              <p:ext uri="{D42A27DB-BD31-4B8C-83A1-F6EECF244321}">
                <p14:modId xmlns:p14="http://schemas.microsoft.com/office/powerpoint/2010/main" val="3808425770"/>
              </p:ext>
            </p:extLst>
          </p:nvPr>
        </p:nvGraphicFramePr>
        <p:xfrm>
          <a:off x="2518150" y="4860000"/>
          <a:ext cx="2160000" cy="1642456"/>
        </p:xfrm>
        <a:graphic>
          <a:graphicData uri="http://schemas.openxmlformats.org/drawingml/2006/table">
            <a:tbl>
              <a:tblPr firstRow="1" bandRow="1">
                <a:tableStyleId>{5940675A-B579-460E-94D1-54222C63F5DA}</a:tableStyleId>
              </a:tblPr>
              <a:tblGrid>
                <a:gridCol w="2160000">
                  <a:extLst>
                    <a:ext uri="{9D8B030D-6E8A-4147-A177-3AD203B41FA5}">
                      <a16:colId xmlns:a16="http://schemas.microsoft.com/office/drawing/2014/main" val="3360979933"/>
                    </a:ext>
                  </a:extLst>
                </a:gridCol>
              </a:tblGrid>
              <a:tr h="288000">
                <a:tc>
                  <a:txBody>
                    <a:bodyPr/>
                    <a:lstStyle/>
                    <a:p>
                      <a:pPr algn="ctr"/>
                      <a:r>
                        <a:rPr kumimoji="1" lang="ja-JP" altLang="en-US" sz="1400" b="1" dirty="0">
                          <a:latin typeface="Meiryo UI" panose="020B0604030504040204" pitchFamily="50" charset="-128"/>
                          <a:ea typeface="Meiryo UI" panose="020B0604030504040204" pitchFamily="50" charset="-128"/>
                        </a:rPr>
                        <a:t>分割型クラスタリング</a:t>
                      </a:r>
                    </a:p>
                  </a:txBody>
                  <a:tcPr marL="74295" marR="74295" marT="37148" marB="37148"/>
                </a:tc>
                <a:extLst>
                  <a:ext uri="{0D108BD9-81ED-4DB2-BD59-A6C34878D82A}">
                    <a16:rowId xmlns:a16="http://schemas.microsoft.com/office/drawing/2014/main" val="1626573259"/>
                  </a:ext>
                </a:extLst>
              </a:tr>
              <a:tr h="520065">
                <a:tc>
                  <a:txBody>
                    <a:bodyPr/>
                    <a:lstStyle/>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データ全体が一つのクラスタとして、順次クラスタを分割し、クラスタの階層を生成する</a:t>
                      </a:r>
                      <a:endPar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endParaRPr>
                    </a:p>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現在はあまり使用されていない</a:t>
                      </a:r>
                    </a:p>
                    <a:p>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例）</a:t>
                      </a:r>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Diana</a:t>
                      </a:r>
                      <a:r>
                        <a:rPr kumimoji="1" lang="ja-JP" altLang="en-US" sz="1400" b="0" i="0" kern="1200" dirty="0">
                          <a:solidFill>
                            <a:schemeClr val="tx1"/>
                          </a:solidFill>
                          <a:effectLst/>
                          <a:latin typeface="Meiryo UI" panose="020B0604030504040204" pitchFamily="50" charset="-128"/>
                          <a:ea typeface="Meiryo UI" panose="020B0604030504040204" pitchFamily="50" charset="-128"/>
                          <a:cs typeface="+mn-cs"/>
                        </a:rPr>
                        <a:t>法</a:t>
                      </a:r>
                      <a:endPar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endParaRPr>
                    </a:p>
                  </a:txBody>
                  <a:tcPr marL="74295" marR="74295" marT="37148" marB="37148" anchor="ctr"/>
                </a:tc>
                <a:extLst>
                  <a:ext uri="{0D108BD9-81ED-4DB2-BD59-A6C34878D82A}">
                    <a16:rowId xmlns:a16="http://schemas.microsoft.com/office/drawing/2014/main" val="315646438"/>
                  </a:ext>
                </a:extLst>
              </a:tr>
            </a:tbl>
          </a:graphicData>
        </a:graphic>
      </p:graphicFrame>
      <p:cxnSp>
        <p:nvCxnSpPr>
          <p:cNvPr id="22" name="コネクタ: カギ線 21">
            <a:extLst>
              <a:ext uri="{FF2B5EF4-FFF2-40B4-BE49-F238E27FC236}">
                <a16:creationId xmlns:a16="http://schemas.microsoft.com/office/drawing/2014/main" id="{8F975C37-8E57-41AD-8597-4622F37023B2}"/>
              </a:ext>
            </a:extLst>
          </p:cNvPr>
          <p:cNvCxnSpPr>
            <a:cxnSpLocks/>
            <a:stCxn id="27" idx="2"/>
            <a:endCxn id="18" idx="0"/>
          </p:cNvCxnSpPr>
          <p:nvPr/>
        </p:nvCxnSpPr>
        <p:spPr>
          <a:xfrm rot="5400000">
            <a:off x="1662978" y="4094828"/>
            <a:ext cx="360344" cy="117000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コネクタ: カギ線 25">
            <a:extLst>
              <a:ext uri="{FF2B5EF4-FFF2-40B4-BE49-F238E27FC236}">
                <a16:creationId xmlns:a16="http://schemas.microsoft.com/office/drawing/2014/main" id="{B65CDFAF-12A1-4830-8B5F-D97EB6BE6794}"/>
              </a:ext>
            </a:extLst>
          </p:cNvPr>
          <p:cNvCxnSpPr>
            <a:cxnSpLocks/>
            <a:stCxn id="27" idx="2"/>
            <a:endCxn id="19" idx="0"/>
          </p:cNvCxnSpPr>
          <p:nvPr/>
        </p:nvCxnSpPr>
        <p:spPr>
          <a:xfrm rot="16200000" flipH="1">
            <a:off x="2832978" y="4094828"/>
            <a:ext cx="360344" cy="117000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スライド番号プレースホルダー 47">
            <a:extLst>
              <a:ext uri="{FF2B5EF4-FFF2-40B4-BE49-F238E27FC236}">
                <a16:creationId xmlns:a16="http://schemas.microsoft.com/office/drawing/2014/main" id="{1BDCC2A9-7024-48AB-9923-EC7A7EB932C0}"/>
              </a:ext>
            </a:extLst>
          </p:cNvPr>
          <p:cNvSpPr>
            <a:spLocks noGrp="1"/>
          </p:cNvSpPr>
          <p:nvPr>
            <p:ph type="sldNum" sz="quarter" idx="12"/>
          </p:nvPr>
        </p:nvSpPr>
        <p:spPr/>
        <p:txBody>
          <a:bodyPr/>
          <a:lstStyle/>
          <a:p>
            <a:fld id="{4A0ABA21-04CE-4531-99B2-420D29D6D622}" type="slidenum">
              <a:rPr lang="ja-JP" altLang="en-US" smtClean="0"/>
              <a:pPr/>
              <a:t>11</a:t>
            </a:fld>
            <a:endParaRPr lang="ja-JP" altLang="en-US" dirty="0"/>
          </a:p>
        </p:txBody>
      </p:sp>
    </p:spTree>
    <p:extLst>
      <p:ext uri="{BB962C8B-B14F-4D97-AF65-F5344CB8AC3E}">
        <p14:creationId xmlns:p14="http://schemas.microsoft.com/office/powerpoint/2010/main" val="4281635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r>
              <a:rPr lang="ja-JP" altLang="en-US" dirty="0"/>
              <a:t>研究内容の全体像</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プレースホルダー 5">
            <a:extLst>
              <a:ext uri="{FF2B5EF4-FFF2-40B4-BE49-F238E27FC236}">
                <a16:creationId xmlns:a16="http://schemas.microsoft.com/office/drawing/2014/main" id="{0CB07FDD-3042-45F8-A8FB-2044EAACAD59}"/>
              </a:ext>
            </a:extLst>
          </p:cNvPr>
          <p:cNvSpPr>
            <a:spLocks noGrp="1"/>
          </p:cNvSpPr>
          <p:nvPr>
            <p:ph type="body" idx="4294967295"/>
          </p:nvPr>
        </p:nvSpPr>
        <p:spPr>
          <a:xfrm>
            <a:off x="540000" y="1080000"/>
            <a:ext cx="9216000" cy="823913"/>
          </a:xfrm>
          <a:prstGeom prst="rect">
            <a:avLst/>
          </a:prstGeom>
        </p:spPr>
        <p:txBody>
          <a:bodyPr lIns="72000" tIns="72000" rIns="72000" bIns="72000">
            <a:noAutofit/>
          </a:bodyPr>
          <a:lstStyle/>
          <a:p>
            <a:pPr marL="0" indent="0" rtl="0" eaLnBrk="1" latinLnBrk="0" hangingPunct="1">
              <a:spcBef>
                <a:spcPts val="0"/>
              </a:spcBef>
              <a:buNone/>
            </a:pPr>
            <a:r>
              <a:rPr lang="ja-JP" altLang="ja-JP" sz="2000" b="1" dirty="0">
                <a:latin typeface="Meiryo UI" panose="020B0604030504040204" pitchFamily="50" charset="-128"/>
                <a:ea typeface="Meiryo UI" panose="020B0604030504040204" pitchFamily="50" charset="-128"/>
              </a:rPr>
              <a:t>本研究は、</a:t>
            </a:r>
            <a:r>
              <a:rPr lang="ja-JP" altLang="en-US" sz="2000" b="1" dirty="0">
                <a:latin typeface="Meiryo UI" panose="020B0604030504040204" pitchFamily="50" charset="-128"/>
                <a:ea typeface="Meiryo UI" panose="020B0604030504040204" pitchFamily="50" charset="-128"/>
              </a:rPr>
              <a:t>アルゴリズム</a:t>
            </a:r>
            <a:r>
              <a:rPr lang="ja-JP" altLang="ja-JP" sz="2000" b="1" dirty="0">
                <a:latin typeface="Meiryo UI" panose="020B0604030504040204" pitchFamily="50" charset="-128"/>
                <a:ea typeface="Meiryo UI" panose="020B0604030504040204" pitchFamily="50" charset="-128"/>
              </a:rPr>
              <a:t>別に特徴を</a:t>
            </a:r>
            <a:r>
              <a:rPr lang="ja-JP" altLang="en-US" sz="2000" b="1" dirty="0">
                <a:latin typeface="Meiryo UI" panose="020B0604030504040204" pitchFamily="50" charset="-128"/>
                <a:ea typeface="Meiryo UI" panose="020B0604030504040204" pitchFamily="50" charset="-128"/>
              </a:rPr>
              <a:t>確認</a:t>
            </a:r>
            <a:r>
              <a:rPr lang="ja-JP" altLang="ja-JP" sz="2000" b="1" dirty="0">
                <a:latin typeface="Meiryo UI" panose="020B0604030504040204" pitchFamily="50" charset="-128"/>
                <a:ea typeface="Meiryo UI" panose="020B0604030504040204" pitchFamily="50" charset="-128"/>
              </a:rPr>
              <a:t>す</a:t>
            </a:r>
            <a:r>
              <a:rPr lang="ja-JP" altLang="en-US" sz="2000" b="1" dirty="0">
                <a:latin typeface="Meiryo UI" panose="020B0604030504040204" pitchFamily="50" charset="-128"/>
                <a:ea typeface="Meiryo UI" panose="020B0604030504040204" pitchFamily="50" charset="-128"/>
              </a:rPr>
              <a:t>ることが目的のため、</a:t>
            </a:r>
            <a:r>
              <a:rPr lang="en-US" altLang="ja-JP" sz="2000" b="1" dirty="0">
                <a:latin typeface="Meiryo UI" panose="020B0604030504040204" pitchFamily="50" charset="-128"/>
                <a:ea typeface="Meiryo UI" panose="020B0604030504040204" pitchFamily="50" charset="-128"/>
              </a:rPr>
              <a:t>Word Embedding</a:t>
            </a:r>
            <a:r>
              <a:rPr lang="ja-JP" altLang="en-US" sz="2000" b="1" dirty="0">
                <a:latin typeface="Meiryo UI" panose="020B0604030504040204" pitchFamily="50" charset="-128"/>
                <a:ea typeface="Meiryo UI" panose="020B0604030504040204" pitchFamily="50" charset="-128"/>
              </a:rPr>
              <a:t>アルゴリズム・クラスタリングアルゴリズムのそれぞれについて、調査研究を実施</a:t>
            </a:r>
            <a:r>
              <a:rPr lang="ja-JP" altLang="ja-JP" sz="2000" b="1" dirty="0">
                <a:latin typeface="Meiryo UI" panose="020B0604030504040204" pitchFamily="50" charset="-128"/>
                <a:ea typeface="Meiryo UI" panose="020B0604030504040204" pitchFamily="50" charset="-128"/>
              </a:rPr>
              <a:t>します。</a:t>
            </a:r>
            <a:endParaRPr lang="ja-JP" altLang="ja-JP" sz="2000"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9B49A1D8-82E5-450C-918F-C5A52754060D}"/>
              </a:ext>
            </a:extLst>
          </p:cNvPr>
          <p:cNvSpPr txBox="1"/>
          <p:nvPr/>
        </p:nvSpPr>
        <p:spPr>
          <a:xfrm>
            <a:off x="3832939" y="1980000"/>
            <a:ext cx="2240122" cy="369332"/>
          </a:xfrm>
          <a:prstGeom prst="rect">
            <a:avLst/>
          </a:prstGeom>
          <a:noFill/>
        </p:spPr>
        <p:txBody>
          <a:bodyPr wrap="square" rtlCol="0">
            <a:spAutoFit/>
          </a:bodyPr>
          <a:lstStyle/>
          <a:p>
            <a:r>
              <a:rPr lang="ja-JP" altLang="en-US" b="1" dirty="0">
                <a:solidFill>
                  <a:prstClr val="black"/>
                </a:solidFill>
                <a:latin typeface="Meiryo UI" panose="020B0604030504040204" pitchFamily="50" charset="-128"/>
                <a:ea typeface="Meiryo UI" panose="020B0604030504040204" pitchFamily="50" charset="-128"/>
              </a:rPr>
              <a:t>研究内容と研究対象</a:t>
            </a:r>
          </a:p>
        </p:txBody>
      </p:sp>
      <p:graphicFrame>
        <p:nvGraphicFramePr>
          <p:cNvPr id="8" name="表 31">
            <a:extLst>
              <a:ext uri="{FF2B5EF4-FFF2-40B4-BE49-F238E27FC236}">
                <a16:creationId xmlns:a16="http://schemas.microsoft.com/office/drawing/2014/main" id="{82ED8B57-7A06-4784-A258-C81E654C1CBD}"/>
              </a:ext>
            </a:extLst>
          </p:cNvPr>
          <p:cNvGraphicFramePr>
            <a:graphicFrameLocks noGrp="1"/>
          </p:cNvGraphicFramePr>
          <p:nvPr>
            <p:extLst>
              <p:ext uri="{D42A27DB-BD31-4B8C-83A1-F6EECF244321}">
                <p14:modId xmlns:p14="http://schemas.microsoft.com/office/powerpoint/2010/main" val="1962017069"/>
              </p:ext>
            </p:extLst>
          </p:nvPr>
        </p:nvGraphicFramePr>
        <p:xfrm>
          <a:off x="1464076" y="2343954"/>
          <a:ext cx="6977847" cy="954408"/>
        </p:xfrm>
        <a:graphic>
          <a:graphicData uri="http://schemas.openxmlformats.org/drawingml/2006/table">
            <a:tbl>
              <a:tblPr firstRow="1" bandRow="1">
                <a:tableStyleId>{5940675A-B579-460E-94D1-54222C63F5DA}</a:tableStyleId>
              </a:tblPr>
              <a:tblGrid>
                <a:gridCol w="772356">
                  <a:extLst>
                    <a:ext uri="{9D8B030D-6E8A-4147-A177-3AD203B41FA5}">
                      <a16:colId xmlns:a16="http://schemas.microsoft.com/office/drawing/2014/main" val="2254968443"/>
                    </a:ext>
                  </a:extLst>
                </a:gridCol>
                <a:gridCol w="2902998">
                  <a:extLst>
                    <a:ext uri="{9D8B030D-6E8A-4147-A177-3AD203B41FA5}">
                      <a16:colId xmlns:a16="http://schemas.microsoft.com/office/drawing/2014/main" val="3815941026"/>
                    </a:ext>
                  </a:extLst>
                </a:gridCol>
                <a:gridCol w="3302493">
                  <a:extLst>
                    <a:ext uri="{9D8B030D-6E8A-4147-A177-3AD203B41FA5}">
                      <a16:colId xmlns:a16="http://schemas.microsoft.com/office/drawing/2014/main" val="4259376503"/>
                    </a:ext>
                  </a:extLst>
                </a:gridCol>
              </a:tblGrid>
              <a:tr h="301308">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研究</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内容</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対象</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247608"/>
                  </a:ext>
                </a:extLst>
              </a:tr>
              <a:tr h="301308">
                <a:tc>
                  <a:txBody>
                    <a:bodyPr/>
                    <a:lstStyle/>
                    <a:p>
                      <a:pPr algn="ctr"/>
                      <a:r>
                        <a:rPr kumimoji="1" lang="ja-JP" altLang="en-US" sz="1600" b="0" dirty="0">
                          <a:solidFill>
                            <a:schemeClr val="tx1"/>
                          </a:solidFill>
                          <a:latin typeface="Meiryo UI" panose="020B0604030504040204" pitchFamily="50" charset="-128"/>
                          <a:ea typeface="Meiryo UI" panose="020B0604030504040204" pitchFamily="50" charset="-128"/>
                        </a:rPr>
                        <a:t>①</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Font typeface="Arial" panose="020B0604020202020204" pitchFamily="34" charset="0"/>
                        <a:buNone/>
                      </a:pPr>
                      <a:r>
                        <a:rPr kumimoji="1" lang="en-US" altLang="ja-JP" sz="1600" b="0" dirty="0">
                          <a:solidFill>
                            <a:schemeClr val="tx1"/>
                          </a:solidFill>
                          <a:latin typeface="Meiryo UI" panose="020B0604030504040204" pitchFamily="50" charset="-128"/>
                          <a:ea typeface="Meiryo UI" panose="020B0604030504040204" pitchFamily="50" charset="-128"/>
                        </a:rPr>
                        <a:t>Word Embedding</a:t>
                      </a:r>
                      <a:r>
                        <a:rPr kumimoji="1" lang="ja-JP" altLang="en-US" sz="1600" b="0" dirty="0">
                          <a:solidFill>
                            <a:schemeClr val="tx1"/>
                          </a:solidFill>
                          <a:latin typeface="Meiryo UI" panose="020B0604030504040204" pitchFamily="50" charset="-128"/>
                          <a:ea typeface="Meiryo UI" panose="020B0604030504040204" pitchFamily="50" charset="-128"/>
                        </a:rPr>
                        <a:t>アルゴリズム</a:t>
                      </a:r>
                      <a:endParaRPr kumimoji="1" lang="en-US" altLang="ja-JP"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Font typeface="Arial" panose="020B0604020202020204" pitchFamily="34" charset="0"/>
                        <a:buNone/>
                      </a:pPr>
                      <a:r>
                        <a:rPr kumimoji="1" lang="en-US" altLang="ja-JP" sz="1600" b="0" dirty="0" err="1">
                          <a:solidFill>
                            <a:schemeClr val="tx1"/>
                          </a:solidFill>
                          <a:latin typeface="Meiryo UI" panose="020B0604030504040204" pitchFamily="50" charset="-128"/>
                          <a:ea typeface="Meiryo UI" panose="020B0604030504040204" pitchFamily="50" charset="-128"/>
                        </a:rPr>
                        <a:t>BoW</a:t>
                      </a:r>
                      <a:r>
                        <a:rPr kumimoji="1" lang="ja-JP" altLang="en-US" sz="1600" b="0" dirty="0">
                          <a:solidFill>
                            <a:schemeClr val="tx1"/>
                          </a:solidFill>
                          <a:latin typeface="Meiryo UI" panose="020B0604030504040204" pitchFamily="50" charset="-128"/>
                          <a:ea typeface="Meiryo UI" panose="020B0604030504040204" pitchFamily="50" charset="-128"/>
                        </a:rPr>
                        <a:t>、</a:t>
                      </a:r>
                      <a:r>
                        <a:rPr kumimoji="1" lang="en-US" altLang="ja-JP" sz="1600" b="0" dirty="0" err="1">
                          <a:solidFill>
                            <a:schemeClr val="tx1"/>
                          </a:solidFill>
                          <a:latin typeface="Meiryo UI" panose="020B0604030504040204" pitchFamily="50" charset="-128"/>
                          <a:ea typeface="Meiryo UI" panose="020B0604030504040204" pitchFamily="50" charset="-128"/>
                        </a:rPr>
                        <a:t>tf-idf</a:t>
                      </a:r>
                      <a:r>
                        <a:rPr kumimoji="1" lang="ja-JP" altLang="en-US" sz="1600" b="0" dirty="0">
                          <a:solidFill>
                            <a:schemeClr val="tx1"/>
                          </a:solidFill>
                          <a:latin typeface="Meiryo UI" panose="020B0604030504040204" pitchFamily="50" charset="-128"/>
                          <a:ea typeface="Meiryo UI" panose="020B0604030504040204" pitchFamily="50" charset="-128"/>
                        </a:rPr>
                        <a:t>、</a:t>
                      </a:r>
                      <a:r>
                        <a:rPr kumimoji="1" lang="en-US" altLang="ja-JP" sz="1600" b="0" dirty="0">
                          <a:solidFill>
                            <a:schemeClr val="tx1"/>
                          </a:solidFill>
                          <a:latin typeface="Meiryo UI" panose="020B0604030504040204" pitchFamily="50" charset="-128"/>
                          <a:ea typeface="Meiryo UI" panose="020B0604030504040204" pitchFamily="50" charset="-128"/>
                        </a:rPr>
                        <a:t>word2vec</a:t>
                      </a:r>
                      <a:r>
                        <a:rPr kumimoji="1" lang="ja-JP" altLang="en-US" sz="1600" b="0" dirty="0">
                          <a:solidFill>
                            <a:schemeClr val="tx1"/>
                          </a:solidFill>
                          <a:latin typeface="Meiryo UI" panose="020B0604030504040204" pitchFamily="50" charset="-128"/>
                          <a:ea typeface="Meiryo UI" panose="020B0604030504040204" pitchFamily="50" charset="-128"/>
                        </a:rPr>
                        <a:t>、</a:t>
                      </a:r>
                      <a:r>
                        <a:rPr kumimoji="1" lang="en-US" altLang="ja-JP" sz="1600" b="0" dirty="0">
                          <a:solidFill>
                            <a:schemeClr val="tx1"/>
                          </a:solidFill>
                          <a:latin typeface="Meiryo UI" panose="020B0604030504040204" pitchFamily="50" charset="-128"/>
                          <a:ea typeface="Meiryo UI" panose="020B0604030504040204" pitchFamily="50" charset="-128"/>
                        </a:rPr>
                        <a:t>BERT</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6992549"/>
                  </a:ext>
                </a:extLst>
              </a:tr>
              <a:tr h="301308">
                <a:tc>
                  <a:txBody>
                    <a:bodyPr/>
                    <a:lstStyle/>
                    <a:p>
                      <a:pPr algn="ctr"/>
                      <a:r>
                        <a:rPr kumimoji="1" lang="ja-JP" altLang="en-US" sz="1600" b="0" dirty="0">
                          <a:solidFill>
                            <a:schemeClr val="tx1"/>
                          </a:solidFill>
                          <a:latin typeface="Meiryo UI" panose="020B0604030504040204" pitchFamily="50" charset="-128"/>
                          <a:ea typeface="Meiryo UI" panose="020B0604030504040204" pitchFamily="50" charset="-128"/>
                        </a:rPr>
                        <a:t>②</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Font typeface="Arial" panose="020B0604020202020204" pitchFamily="34" charset="0"/>
                        <a:buNone/>
                      </a:pPr>
                      <a:r>
                        <a:rPr kumimoji="1" lang="ja-JP" altLang="en-US" sz="1600" b="0" dirty="0">
                          <a:solidFill>
                            <a:schemeClr val="tx1"/>
                          </a:solidFill>
                          <a:latin typeface="Meiryo UI" panose="020B0604030504040204" pitchFamily="50" charset="-128"/>
                          <a:ea typeface="Meiryo UI" panose="020B0604030504040204" pitchFamily="50" charset="-128"/>
                        </a:rPr>
                        <a:t>クラスタリングアルゴリズム</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K-means</a:t>
                      </a: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PLSA</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1670525"/>
                  </a:ext>
                </a:extLst>
              </a:tr>
            </a:tbl>
          </a:graphicData>
        </a:graphic>
      </p:graphicFrame>
      <p:sp>
        <p:nvSpPr>
          <p:cNvPr id="9" name="テキスト ボックス 8">
            <a:extLst>
              <a:ext uri="{FF2B5EF4-FFF2-40B4-BE49-F238E27FC236}">
                <a16:creationId xmlns:a16="http://schemas.microsoft.com/office/drawing/2014/main" id="{3C2C010C-42CC-4D43-8E2A-056ADF8384DD}"/>
              </a:ext>
            </a:extLst>
          </p:cNvPr>
          <p:cNvSpPr txBox="1"/>
          <p:nvPr/>
        </p:nvSpPr>
        <p:spPr>
          <a:xfrm>
            <a:off x="540000" y="4122275"/>
            <a:ext cx="9124700" cy="2062103"/>
          </a:xfrm>
          <a:prstGeom prst="rect">
            <a:avLst/>
          </a:prstGeom>
          <a:noFill/>
        </p:spPr>
        <p:txBody>
          <a:bodyPr wrap="square" rtlCol="0">
            <a:spAutoFit/>
          </a:bodyPr>
          <a:lstStyle/>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研究①</a:t>
            </a:r>
            <a:r>
              <a:rPr lang="en-US" altLang="ja-JP" sz="1600" dirty="0">
                <a:latin typeface="Meiryo UI" panose="020B0604030504040204" pitchFamily="50" charset="-128"/>
                <a:ea typeface="Meiryo UI" panose="020B0604030504040204" pitchFamily="50" charset="-128"/>
              </a:rPr>
              <a:t>Word Embedding</a:t>
            </a:r>
            <a:r>
              <a:rPr lang="ja-JP" altLang="en-US" sz="1600" dirty="0">
                <a:latin typeface="Meiryo UI" panose="020B0604030504040204" pitchFamily="50" charset="-128"/>
                <a:ea typeface="Meiryo UI" panose="020B0604030504040204" pitchFamily="50" charset="-128"/>
              </a:rPr>
              <a:t>アルゴリズムについて、様々な手法の基礎となっている代表的な</a:t>
            </a:r>
            <a:r>
              <a:rPr lang="en-US" altLang="ja-JP" sz="1600" dirty="0">
                <a:latin typeface="Meiryo UI" panose="020B0604030504040204" pitchFamily="50" charset="-128"/>
                <a:ea typeface="Meiryo UI" panose="020B0604030504040204" pitchFamily="50" charset="-128"/>
              </a:rPr>
              <a:t>4</a:t>
            </a:r>
            <a:r>
              <a:rPr lang="ja-JP" altLang="en-US" sz="1600" dirty="0">
                <a:latin typeface="Meiryo UI" panose="020B0604030504040204" pitchFamily="50" charset="-128"/>
                <a:ea typeface="Meiryo UI" panose="020B0604030504040204" pitchFamily="50" charset="-128"/>
              </a:rPr>
              <a:t>種類の手法について、調査研究を実施します。</a:t>
            </a:r>
            <a:r>
              <a:rPr lang="en-US" altLang="ja-JP" sz="1600" dirty="0">
                <a:latin typeface="Meiryo UI" panose="020B0604030504040204" pitchFamily="50" charset="-128"/>
                <a:ea typeface="Meiryo UI" panose="020B0604030504040204" pitchFamily="50" charset="-128"/>
              </a:rPr>
              <a:t>Seq2seq</a:t>
            </a:r>
            <a:r>
              <a:rPr lang="ja-JP" altLang="en-US" sz="1600" dirty="0">
                <a:latin typeface="Meiryo UI" panose="020B0604030504040204" pitchFamily="50" charset="-128"/>
                <a:ea typeface="Meiryo UI" panose="020B0604030504040204" pitchFamily="50" charset="-128"/>
              </a:rPr>
              <a:t>も代表的な</a:t>
            </a:r>
            <a:r>
              <a:rPr lang="en-US" altLang="ja-JP" sz="1600" dirty="0">
                <a:latin typeface="Meiryo UI" panose="020B0604030504040204" pitchFamily="50" charset="-128"/>
                <a:ea typeface="Meiryo UI" panose="020B0604030504040204" pitchFamily="50" charset="-128"/>
              </a:rPr>
              <a:t>Word Embedding</a:t>
            </a:r>
            <a:r>
              <a:rPr lang="ja-JP" altLang="en-US" sz="1600" dirty="0">
                <a:latin typeface="Meiryo UI" panose="020B0604030504040204" pitchFamily="50" charset="-128"/>
                <a:ea typeface="Meiryo UI" panose="020B0604030504040204" pitchFamily="50" charset="-128"/>
              </a:rPr>
              <a:t>アルゴリズムですが、文章生成によく使われることから、クラスタリングにはあまり応用されないと考え、今回は検証対象から除外しています。</a:t>
            </a:r>
            <a:endParaRPr lang="en-US" altLang="ja-JP" sz="1600" dirty="0">
              <a:latin typeface="Meiryo UI" panose="020B0604030504040204" pitchFamily="50" charset="-128"/>
              <a:ea typeface="Meiryo UI" panose="020B0604030504040204" pitchFamily="50" charset="-128"/>
            </a:endParaRPr>
          </a:p>
          <a:p>
            <a:pPr marL="360000" indent="-360000" algn="l">
              <a:buFont typeface="Wingdings" panose="05000000000000000000" pitchFamily="2" charset="2"/>
              <a:buChar char="Ø"/>
            </a:pP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研究②クラスタリングアルゴリズムについて、非階層クラスタリングで一般的によく使われる</a:t>
            </a:r>
            <a:r>
              <a:rPr lang="en-US" altLang="ja-JP" sz="1600" dirty="0">
                <a:latin typeface="Meiryo UI" panose="020B0604030504040204" pitchFamily="50" charset="-128"/>
                <a:ea typeface="Meiryo UI" panose="020B0604030504040204" pitchFamily="50" charset="-128"/>
              </a:rPr>
              <a:t>k-means</a:t>
            </a:r>
            <a:r>
              <a:rPr lang="ja-JP" altLang="en-US" sz="1600" dirty="0">
                <a:latin typeface="Meiryo UI" panose="020B0604030504040204" pitchFamily="50" charset="-128"/>
                <a:ea typeface="Meiryo UI" panose="020B0604030504040204" pitchFamily="50" charset="-128"/>
              </a:rPr>
              <a:t>とテキストデータのクラスタリングに相性が良いと思われる</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に対して、調査研究を実施します。階層クラスタリングは大量データの場合に結果が複雑になることや計算量が膨大になることから、あまり使用されないことが多いため、今回は検証対象から除外しています。</a:t>
            </a:r>
            <a:endParaRPr lang="en-US" altLang="ja-JP" sz="1600"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392D330F-0B36-4F9B-819B-8B9E4C30D55C}"/>
              </a:ext>
            </a:extLst>
          </p:cNvPr>
          <p:cNvSpPr>
            <a:spLocks noGrp="1"/>
          </p:cNvSpPr>
          <p:nvPr>
            <p:ph type="sldNum" sz="quarter" idx="12"/>
          </p:nvPr>
        </p:nvSpPr>
        <p:spPr/>
        <p:txBody>
          <a:bodyPr/>
          <a:lstStyle/>
          <a:p>
            <a:fld id="{4A0ABA21-04CE-4531-99B2-420D29D6D622}" type="slidenum">
              <a:rPr lang="ja-JP" altLang="en-US" smtClean="0"/>
              <a:pPr/>
              <a:t>12</a:t>
            </a:fld>
            <a:endParaRPr lang="ja-JP" altLang="en-US" dirty="0"/>
          </a:p>
        </p:txBody>
      </p:sp>
    </p:spTree>
    <p:extLst>
      <p:ext uri="{BB962C8B-B14F-4D97-AF65-F5344CB8AC3E}">
        <p14:creationId xmlns:p14="http://schemas.microsoft.com/office/powerpoint/2010/main" val="3326379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検証データ</a:t>
            </a: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検証に使用するデータです。今回は実案件を想定したクラスタリングの検証を行うため、オープンデータではなく、実案件で使用した問合せ内容と特許のデータを使用します。</a:t>
            </a:r>
            <a:endParaRPr lang="en-US" altLang="ja-JP" sz="2000" b="1"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9B49A1D8-82E5-450C-918F-C5A52754060D}"/>
              </a:ext>
            </a:extLst>
          </p:cNvPr>
          <p:cNvSpPr txBox="1"/>
          <p:nvPr/>
        </p:nvSpPr>
        <p:spPr>
          <a:xfrm>
            <a:off x="3781846" y="1980000"/>
            <a:ext cx="2342308"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住林問合せ内容データ</a:t>
            </a:r>
          </a:p>
        </p:txBody>
      </p:sp>
      <p:sp>
        <p:nvSpPr>
          <p:cNvPr id="9" name="テキスト ボックス 8">
            <a:extLst>
              <a:ext uri="{FF2B5EF4-FFF2-40B4-BE49-F238E27FC236}">
                <a16:creationId xmlns:a16="http://schemas.microsoft.com/office/drawing/2014/main" id="{3C2C010C-42CC-4D43-8E2A-056ADF8384DD}"/>
              </a:ext>
            </a:extLst>
          </p:cNvPr>
          <p:cNvSpPr txBox="1"/>
          <p:nvPr/>
        </p:nvSpPr>
        <p:spPr>
          <a:xfrm>
            <a:off x="540000" y="3600000"/>
            <a:ext cx="9216000" cy="830997"/>
          </a:xfrm>
          <a:prstGeom prst="rect">
            <a:avLst/>
          </a:prstGeom>
          <a:noFill/>
        </p:spPr>
        <p:txBody>
          <a:bodyPr wrap="square" rtlCol="0">
            <a:spAutoFit/>
          </a:bodyPr>
          <a:lstStyle/>
          <a:p>
            <a:pPr marL="360000" indent="-360000" algn="l">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コールセンターに問合せがあった内容が記載されている問合せ内容データです。</a:t>
            </a:r>
            <a:endParaRPr lang="en-US" altLang="ja-JP" sz="1600" dirty="0">
              <a:latin typeface="Meiryo UI" panose="020B0604030504040204" pitchFamily="50" charset="-128"/>
              <a:ea typeface="Meiryo UI" panose="020B0604030504040204" pitchFamily="50" charset="-128"/>
            </a:endParaRPr>
          </a:p>
          <a:p>
            <a:pPr marL="360000" indent="-360000" algn="l">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元々存在していたカテゴリに対して、森さんが集約した大カテゴリを正解データとして、正解率を確認します</a:t>
            </a:r>
            <a:endParaRPr lang="en-US" altLang="ja-JP" sz="1600" dirty="0">
              <a:latin typeface="Meiryo UI" panose="020B0604030504040204" pitchFamily="50" charset="-128"/>
              <a:ea typeface="Meiryo UI" panose="020B0604030504040204" pitchFamily="50" charset="-128"/>
            </a:endParaRPr>
          </a:p>
          <a:p>
            <a:pPr marL="360000" indent="-360000" algn="l">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特許データと比較して、短いテキストです。</a:t>
            </a:r>
            <a:endParaRPr lang="en-US" altLang="ja-JP" sz="1600" dirty="0">
              <a:latin typeface="Meiryo UI" panose="020B0604030504040204" pitchFamily="50" charset="-128"/>
              <a:ea typeface="Meiryo UI" panose="020B0604030504040204" pitchFamily="50" charset="-128"/>
            </a:endParaRPr>
          </a:p>
        </p:txBody>
      </p:sp>
      <p:graphicFrame>
        <p:nvGraphicFramePr>
          <p:cNvPr id="3" name="表 2">
            <a:extLst>
              <a:ext uri="{FF2B5EF4-FFF2-40B4-BE49-F238E27FC236}">
                <a16:creationId xmlns:a16="http://schemas.microsoft.com/office/drawing/2014/main" id="{1E8AC745-9404-4551-9D69-C636B042CB42}"/>
              </a:ext>
            </a:extLst>
          </p:cNvPr>
          <p:cNvGraphicFramePr>
            <a:graphicFrameLocks noGrp="1"/>
          </p:cNvGraphicFramePr>
          <p:nvPr>
            <p:extLst>
              <p:ext uri="{D42A27DB-BD31-4B8C-83A1-F6EECF244321}">
                <p14:modId xmlns:p14="http://schemas.microsoft.com/office/powerpoint/2010/main" val="2523410297"/>
              </p:ext>
            </p:extLst>
          </p:nvPr>
        </p:nvGraphicFramePr>
        <p:xfrm>
          <a:off x="419100" y="2340000"/>
          <a:ext cx="6480000" cy="1260000"/>
        </p:xfrm>
        <a:graphic>
          <a:graphicData uri="http://schemas.openxmlformats.org/drawingml/2006/table">
            <a:tbl>
              <a:tblPr>
                <a:tableStyleId>{5940675A-B579-460E-94D1-54222C63F5DA}</a:tableStyleId>
              </a:tblPr>
              <a:tblGrid>
                <a:gridCol w="432000">
                  <a:extLst>
                    <a:ext uri="{9D8B030D-6E8A-4147-A177-3AD203B41FA5}">
                      <a16:colId xmlns:a16="http://schemas.microsoft.com/office/drawing/2014/main" val="1319033573"/>
                    </a:ext>
                  </a:extLst>
                </a:gridCol>
                <a:gridCol w="1080000">
                  <a:extLst>
                    <a:ext uri="{9D8B030D-6E8A-4147-A177-3AD203B41FA5}">
                      <a16:colId xmlns:a16="http://schemas.microsoft.com/office/drawing/2014/main" val="1505774215"/>
                    </a:ext>
                  </a:extLst>
                </a:gridCol>
                <a:gridCol w="3960000">
                  <a:extLst>
                    <a:ext uri="{9D8B030D-6E8A-4147-A177-3AD203B41FA5}">
                      <a16:colId xmlns:a16="http://schemas.microsoft.com/office/drawing/2014/main" val="426458047"/>
                    </a:ext>
                  </a:extLst>
                </a:gridCol>
                <a:gridCol w="1008000">
                  <a:extLst>
                    <a:ext uri="{9D8B030D-6E8A-4147-A177-3AD203B41FA5}">
                      <a16:colId xmlns:a16="http://schemas.microsoft.com/office/drawing/2014/main" val="3184961513"/>
                    </a:ext>
                  </a:extLst>
                </a:gridCol>
              </a:tblGrid>
              <a:tr h="288000">
                <a:tc>
                  <a:txBody>
                    <a:bodyPr/>
                    <a:lstStyle/>
                    <a:p>
                      <a:pPr algn="ctr" fontAlgn="b"/>
                      <a:r>
                        <a:rPr lang="en-US" altLang="ja-JP" sz="1400" b="1" i="0" u="none" strike="noStrike" dirty="0">
                          <a:solidFill>
                            <a:srgbClr val="000000"/>
                          </a:solidFill>
                          <a:effectLst/>
                          <a:latin typeface="Meiryo UI" panose="020B0604030504040204" pitchFamily="50" charset="-128"/>
                          <a:ea typeface="Meiryo UI" panose="020B0604030504040204" pitchFamily="50" charset="-128"/>
                        </a:rPr>
                        <a:t>No.</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fontAlgn="b"/>
                      <a:r>
                        <a:rPr lang="ja-JP" altLang="en-US" sz="1400" b="1" u="none" strike="noStrike" dirty="0">
                          <a:effectLst/>
                          <a:latin typeface="Meiryo UI" panose="020B0604030504040204" pitchFamily="50" charset="-128"/>
                          <a:ea typeface="Meiryo UI" panose="020B0604030504040204" pitchFamily="50" charset="-128"/>
                        </a:rPr>
                        <a:t>受付日</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R w="28575" cap="flat" cmpd="sng" algn="ctr">
                      <a:solidFill>
                        <a:srgbClr val="C00000"/>
                      </a:solidFill>
                      <a:prstDash val="solid"/>
                      <a:round/>
                      <a:headEnd type="none" w="med" len="med"/>
                      <a:tailEnd type="none" w="med" len="med"/>
                    </a:lnR>
                  </a:tcPr>
                </a:tc>
                <a:tc>
                  <a:txBody>
                    <a:bodyPr/>
                    <a:lstStyle/>
                    <a:p>
                      <a:pPr algn="ctr" fontAlgn="b"/>
                      <a:r>
                        <a:rPr lang="ja-JP" altLang="en-US" sz="1400" b="1" u="none" strike="noStrike" dirty="0">
                          <a:effectLst/>
                          <a:latin typeface="Meiryo UI" panose="020B0604030504040204" pitchFamily="50" charset="-128"/>
                          <a:ea typeface="Meiryo UI" panose="020B0604030504040204" pitchFamily="50" charset="-128"/>
                        </a:rPr>
                        <a:t>ＡＭ対応者への申し送り</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28575" cap="flat" cmpd="sng" algn="ctr">
                      <a:solidFill>
                        <a:srgbClr val="C00000"/>
                      </a:solidFill>
                      <a:prstDash val="solid"/>
                      <a:round/>
                      <a:headEnd type="none" w="med" len="med"/>
                      <a:tailEnd type="none" w="med" len="med"/>
                    </a:lnT>
                  </a:tcPr>
                </a:tc>
                <a:tc>
                  <a:txBody>
                    <a:bodyPr/>
                    <a:lstStyle/>
                    <a:p>
                      <a:pPr algn="ctr" fontAlgn="b"/>
                      <a:r>
                        <a:rPr lang="ja-JP" altLang="en-US" sz="1400" b="1" u="none" strike="noStrike" dirty="0">
                          <a:effectLst/>
                          <a:latin typeface="Meiryo UI" panose="020B0604030504040204" pitchFamily="50" charset="-128"/>
                          <a:ea typeface="Meiryo UI" panose="020B0604030504040204" pitchFamily="50" charset="-128"/>
                        </a:rPr>
                        <a:t>大カテゴリ</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28575" cap="flat" cmpd="sng" algn="ctr">
                      <a:solidFill>
                        <a:srgbClr val="C00000"/>
                      </a:solidFill>
                      <a:prstDash val="solid"/>
                      <a:round/>
                      <a:headEnd type="none" w="med" len="med"/>
                      <a:tailEnd type="none" w="med" len="med"/>
                    </a:lnT>
                  </a:tcPr>
                </a:tc>
                <a:extLst>
                  <a:ext uri="{0D108BD9-81ED-4DB2-BD59-A6C34878D82A}">
                    <a16:rowId xmlns:a16="http://schemas.microsoft.com/office/drawing/2014/main" val="3350602049"/>
                  </a:ext>
                </a:extLst>
              </a:tr>
              <a:tr h="972000">
                <a:tc>
                  <a:txBody>
                    <a:bodyPr/>
                    <a:lstStyle/>
                    <a:p>
                      <a:pPr algn="r" fontAlgn="b"/>
                      <a:r>
                        <a:rPr lang="en-US" altLang="ja-JP" sz="1100" u="none" strike="noStrike" dirty="0">
                          <a:effectLst/>
                          <a:latin typeface="Meiryo UI" panose="020B0604030504040204" pitchFamily="50" charset="-128"/>
                          <a:ea typeface="Meiryo UI" panose="020B0604030504040204" pitchFamily="50" charset="-128"/>
                        </a:rPr>
                        <a:t>1</a:t>
                      </a:r>
                      <a:endParaRPr lang="en-US" altLang="ja-JP" sz="11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fontAlgn="b"/>
                      <a:r>
                        <a:rPr lang="en-US" altLang="ja-JP" sz="1100" u="none" strike="noStrike" dirty="0">
                          <a:effectLst/>
                          <a:latin typeface="Meiryo UI" panose="020B0604030504040204" pitchFamily="50" charset="-128"/>
                          <a:ea typeface="Meiryo UI" panose="020B0604030504040204" pitchFamily="50" charset="-128"/>
                        </a:rPr>
                        <a:t>20190201</a:t>
                      </a:r>
                      <a:endParaRPr lang="en-US" altLang="ja-JP" sz="11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R w="28575" cap="flat" cmpd="sng" algn="ctr">
                      <a:solidFill>
                        <a:srgbClr val="C00000"/>
                      </a:solidFill>
                      <a:prstDash val="solid"/>
                      <a:round/>
                      <a:headEnd type="none" w="med" len="med"/>
                      <a:tailEnd type="none" w="med" len="med"/>
                    </a:lnR>
                  </a:tcPr>
                </a:tc>
                <a:tc>
                  <a:txBody>
                    <a:bodyPr/>
                    <a:lstStyle/>
                    <a:p>
                      <a:pPr algn="l" fontAlgn="b"/>
                      <a:r>
                        <a:rPr lang="ja-JP" altLang="en-US" sz="1100" u="none" strike="noStrike" dirty="0">
                          <a:effectLst/>
                          <a:latin typeface="Meiryo UI" panose="020B0604030504040204" pitchFamily="50" charset="-128"/>
                          <a:ea typeface="Meiryo UI" panose="020B0604030504040204" pitchFamily="50" charset="-128"/>
                        </a:rPr>
                        <a:t>ご主人より。エネファームのモニターの発電エラー</a:t>
                      </a:r>
                      <a:r>
                        <a:rPr lang="en-US" altLang="ja-JP" sz="1100" u="none" strike="noStrike" dirty="0">
                          <a:effectLst/>
                          <a:latin typeface="Meiryo UI" panose="020B0604030504040204" pitchFamily="50" charset="-128"/>
                          <a:ea typeface="Meiryo UI" panose="020B0604030504040204" pitchFamily="50" charset="-128"/>
                        </a:rPr>
                        <a:t>※※※</a:t>
                      </a:r>
                      <a:r>
                        <a:rPr lang="ja-JP" altLang="en-US" sz="1100" u="none" strike="noStrike" dirty="0">
                          <a:effectLst/>
                          <a:latin typeface="Meiryo UI" panose="020B0604030504040204" pitchFamily="50" charset="-128"/>
                          <a:ea typeface="Meiryo UI" panose="020B0604030504040204" pitchFamily="50" charset="-128"/>
                        </a:rPr>
                        <a:t>が表示されました。給湯は使えるが発電できてないようです。＊小田原瓦斯（</a:t>
                      </a:r>
                      <a:r>
                        <a:rPr lang="en-US" altLang="ja-JP" sz="1100" u="none" strike="noStrike" dirty="0">
                          <a:effectLst/>
                          <a:latin typeface="Meiryo UI" panose="020B0604030504040204" pitchFamily="50" charset="-128"/>
                          <a:ea typeface="Meiryo UI" panose="020B0604030504040204" pitchFamily="50" charset="-128"/>
                        </a:rPr>
                        <a:t>※※※※-※※-※※※※</a:t>
                      </a:r>
                      <a:r>
                        <a:rPr lang="ja-JP" altLang="en-US" sz="1100" u="none" strike="noStrike" dirty="0">
                          <a:effectLst/>
                          <a:latin typeface="Meiryo UI" panose="020B0604030504040204" pitchFamily="50" charset="-128"/>
                          <a:ea typeface="Meiryo UI" panose="020B0604030504040204" pitchFamily="50" charset="-128"/>
                        </a:rPr>
                        <a:t>；ノリ</a:t>
                      </a:r>
                      <a:r>
                        <a:rPr lang="en-US" altLang="ja-JP" sz="1100" u="none" strike="noStrike" dirty="0">
                          <a:effectLst/>
                          <a:latin typeface="Meiryo UI" panose="020B0604030504040204" pitchFamily="50" charset="-128"/>
                          <a:ea typeface="Meiryo UI" panose="020B0604030504040204" pitchFamily="50" charset="-128"/>
                        </a:rPr>
                        <a:t>※</a:t>
                      </a:r>
                      <a:r>
                        <a:rPr lang="ja-JP" altLang="en-US" sz="1100" u="none" strike="noStrike" dirty="0">
                          <a:effectLst/>
                          <a:latin typeface="Meiryo UI" panose="020B0604030504040204" pitchFamily="50" charset="-128"/>
                          <a:ea typeface="Meiryo UI" panose="020B0604030504040204" pitchFamily="50" charset="-128"/>
                        </a:rPr>
                        <a:t>氏）に連絡対応をお願いしました。★手配；東京Ｃ志波</a:t>
                      </a: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B w="28575" cap="flat" cmpd="sng" algn="ctr">
                      <a:solidFill>
                        <a:srgbClr val="C00000"/>
                      </a:solidFill>
                      <a:prstDash val="solid"/>
                      <a:round/>
                      <a:headEnd type="none" w="med" len="med"/>
                      <a:tailEnd type="none" w="med" len="med"/>
                    </a:lnB>
                  </a:tcPr>
                </a:tc>
                <a:tc>
                  <a:txBody>
                    <a:bodyPr/>
                    <a:lstStyle/>
                    <a:p>
                      <a:pPr algn="ctr" fontAlgn="b"/>
                      <a:r>
                        <a:rPr lang="ja-JP" altLang="en-US" sz="1100" u="none" strike="noStrike" dirty="0">
                          <a:effectLst/>
                          <a:latin typeface="Meiryo UI" panose="020B0604030504040204" pitchFamily="50" charset="-128"/>
                          <a:ea typeface="Meiryo UI" panose="020B0604030504040204" pitchFamily="50" charset="-128"/>
                        </a:rPr>
                        <a:t>手配</a:t>
                      </a: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B w="28575"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089119518"/>
                  </a:ext>
                </a:extLst>
              </a:tr>
            </a:tbl>
          </a:graphicData>
        </a:graphic>
      </p:graphicFrame>
      <p:sp>
        <p:nvSpPr>
          <p:cNvPr id="7" name="テキスト ボックス 6">
            <a:extLst>
              <a:ext uri="{FF2B5EF4-FFF2-40B4-BE49-F238E27FC236}">
                <a16:creationId xmlns:a16="http://schemas.microsoft.com/office/drawing/2014/main" id="{6385D698-9722-4C19-B4FD-458EC0EE5DA6}"/>
              </a:ext>
            </a:extLst>
          </p:cNvPr>
          <p:cNvSpPr txBox="1"/>
          <p:nvPr/>
        </p:nvSpPr>
        <p:spPr>
          <a:xfrm>
            <a:off x="4341294" y="4320000"/>
            <a:ext cx="1223412"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特許データ</a:t>
            </a:r>
          </a:p>
        </p:txBody>
      </p:sp>
      <p:graphicFrame>
        <p:nvGraphicFramePr>
          <p:cNvPr id="8" name="表 7">
            <a:extLst>
              <a:ext uri="{FF2B5EF4-FFF2-40B4-BE49-F238E27FC236}">
                <a16:creationId xmlns:a16="http://schemas.microsoft.com/office/drawing/2014/main" id="{C3F7405E-C84A-42A9-B942-51F5183A9924}"/>
              </a:ext>
            </a:extLst>
          </p:cNvPr>
          <p:cNvGraphicFramePr>
            <a:graphicFrameLocks noGrp="1"/>
          </p:cNvGraphicFramePr>
          <p:nvPr>
            <p:extLst>
              <p:ext uri="{D42A27DB-BD31-4B8C-83A1-F6EECF244321}">
                <p14:modId xmlns:p14="http://schemas.microsoft.com/office/powerpoint/2010/main" val="144770515"/>
              </p:ext>
            </p:extLst>
          </p:nvPr>
        </p:nvGraphicFramePr>
        <p:xfrm>
          <a:off x="419100" y="4680000"/>
          <a:ext cx="6480000" cy="1260000"/>
        </p:xfrm>
        <a:graphic>
          <a:graphicData uri="http://schemas.openxmlformats.org/drawingml/2006/table">
            <a:tbl>
              <a:tblPr>
                <a:tableStyleId>{5940675A-B579-460E-94D1-54222C63F5DA}</a:tableStyleId>
              </a:tblPr>
              <a:tblGrid>
                <a:gridCol w="432000">
                  <a:extLst>
                    <a:ext uri="{9D8B030D-6E8A-4147-A177-3AD203B41FA5}">
                      <a16:colId xmlns:a16="http://schemas.microsoft.com/office/drawing/2014/main" val="1319033573"/>
                    </a:ext>
                  </a:extLst>
                </a:gridCol>
                <a:gridCol w="1080000">
                  <a:extLst>
                    <a:ext uri="{9D8B030D-6E8A-4147-A177-3AD203B41FA5}">
                      <a16:colId xmlns:a16="http://schemas.microsoft.com/office/drawing/2014/main" val="3184961513"/>
                    </a:ext>
                  </a:extLst>
                </a:gridCol>
                <a:gridCol w="3960000">
                  <a:extLst>
                    <a:ext uri="{9D8B030D-6E8A-4147-A177-3AD203B41FA5}">
                      <a16:colId xmlns:a16="http://schemas.microsoft.com/office/drawing/2014/main" val="2296853690"/>
                    </a:ext>
                  </a:extLst>
                </a:gridCol>
                <a:gridCol w="1008000">
                  <a:extLst>
                    <a:ext uri="{9D8B030D-6E8A-4147-A177-3AD203B41FA5}">
                      <a16:colId xmlns:a16="http://schemas.microsoft.com/office/drawing/2014/main" val="688853843"/>
                    </a:ext>
                  </a:extLst>
                </a:gridCol>
              </a:tblGrid>
              <a:tr h="288000">
                <a:tc>
                  <a:txBody>
                    <a:bodyPr/>
                    <a:lstStyle/>
                    <a:p>
                      <a:pPr algn="ctr" fontAlgn="ctr"/>
                      <a:r>
                        <a:rPr lang="en-US" sz="1400" b="1" i="0" u="none" strike="noStrike" dirty="0">
                          <a:solidFill>
                            <a:srgbClr val="000000"/>
                          </a:solidFill>
                          <a:effectLst/>
                          <a:latin typeface="Meiryo UI" panose="020B0604030504040204" pitchFamily="50" charset="-128"/>
                          <a:ea typeface="Meiryo UI" panose="020B0604030504040204" pitchFamily="50" charset="-128"/>
                        </a:rPr>
                        <a:t>No.</a:t>
                      </a:r>
                    </a:p>
                  </a:txBody>
                  <a:tcPr marL="36000" marR="36000" marT="36000" marB="36000" anchor="ctr"/>
                </a:tc>
                <a:tc>
                  <a:txBody>
                    <a:bodyPr/>
                    <a:lstStyle/>
                    <a:p>
                      <a:pPr algn="ctr" fontAlgn="ctr"/>
                      <a:r>
                        <a:rPr lang="ja-JP" altLang="en-US" sz="1400" b="1" i="0" u="none" strike="noStrike">
                          <a:solidFill>
                            <a:srgbClr val="000000"/>
                          </a:solidFill>
                          <a:effectLst/>
                          <a:latin typeface="Meiryo UI" panose="020B0604030504040204" pitchFamily="50" charset="-128"/>
                          <a:ea typeface="Meiryo UI" panose="020B0604030504040204" pitchFamily="50" charset="-128"/>
                        </a:rPr>
                        <a:t>発明の名称</a:t>
                      </a:r>
                    </a:p>
                  </a:txBody>
                  <a:tcPr marL="36000" marR="36000" marT="36000" marB="36000" anchor="ctr">
                    <a:lnR w="28575" cap="flat" cmpd="sng" algn="ctr">
                      <a:solidFill>
                        <a:srgbClr val="C00000"/>
                      </a:solidFill>
                      <a:prstDash val="solid"/>
                      <a:round/>
                      <a:headEnd type="none" w="med" len="med"/>
                      <a:tailEnd type="none" w="med" len="med"/>
                    </a:lnR>
                  </a:tcPr>
                </a:tc>
                <a:tc>
                  <a:txBody>
                    <a:bodyPr/>
                    <a:lstStyle/>
                    <a:p>
                      <a:pPr algn="ctr" fontAlgn="ctr"/>
                      <a:r>
                        <a:rPr lang="ja-JP" altLang="en-US" sz="1400" b="1" i="0" u="none" strike="noStrike" dirty="0">
                          <a:solidFill>
                            <a:srgbClr val="000000"/>
                          </a:solidFill>
                          <a:effectLst/>
                          <a:latin typeface="Meiryo UI" panose="020B0604030504040204" pitchFamily="50" charset="-128"/>
                          <a:ea typeface="Meiryo UI" panose="020B0604030504040204" pitchFamily="50" charset="-128"/>
                        </a:rPr>
                        <a:t>要約</a:t>
                      </a:r>
                    </a:p>
                  </a:txBody>
                  <a:tcPr marL="36000" marR="36000" marT="36000" marB="3600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28575" cap="flat" cmpd="sng" algn="ctr">
                      <a:solidFill>
                        <a:srgbClr val="C00000"/>
                      </a:solidFill>
                      <a:prstDash val="solid"/>
                      <a:round/>
                      <a:headEnd type="none" w="med" len="med"/>
                      <a:tailEnd type="none" w="med" len="med"/>
                    </a:lnT>
                  </a:tcPr>
                </a:tc>
                <a:tc>
                  <a:txBody>
                    <a:bodyPr/>
                    <a:lstStyle/>
                    <a:p>
                      <a:pPr algn="ctr" fontAlgn="ctr"/>
                      <a:r>
                        <a:rPr lang="ja-JP" altLang="en-US" sz="1400" b="1" i="0" u="none" strike="noStrike" dirty="0">
                          <a:solidFill>
                            <a:srgbClr val="000000"/>
                          </a:solidFill>
                          <a:effectLst/>
                          <a:latin typeface="Meiryo UI" panose="020B0604030504040204" pitchFamily="50" charset="-128"/>
                          <a:ea typeface="Meiryo UI" panose="020B0604030504040204" pitchFamily="50" charset="-128"/>
                        </a:rPr>
                        <a:t>カテゴリ</a:t>
                      </a:r>
                    </a:p>
                  </a:txBody>
                  <a:tcPr marL="36000" marR="36000" marT="36000" marB="3600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28575" cap="flat" cmpd="sng" algn="ctr">
                      <a:solidFill>
                        <a:srgbClr val="C00000"/>
                      </a:solidFill>
                      <a:prstDash val="solid"/>
                      <a:round/>
                      <a:headEnd type="none" w="med" len="med"/>
                      <a:tailEnd type="none" w="med" len="med"/>
                    </a:lnT>
                  </a:tcPr>
                </a:tc>
                <a:extLst>
                  <a:ext uri="{0D108BD9-81ED-4DB2-BD59-A6C34878D82A}">
                    <a16:rowId xmlns:a16="http://schemas.microsoft.com/office/drawing/2014/main" val="3350602049"/>
                  </a:ext>
                </a:extLst>
              </a:tr>
              <a:tr h="972000">
                <a:tc>
                  <a:txBody>
                    <a:bodyPr/>
                    <a:lstStyle/>
                    <a:p>
                      <a:pPr algn="r" fontAlgn="ctr"/>
                      <a:r>
                        <a:rPr lang="en-US" altLang="ja-JP" sz="1100" b="0" i="0" u="none" strike="noStrike" dirty="0">
                          <a:solidFill>
                            <a:srgbClr val="000000"/>
                          </a:solidFill>
                          <a:effectLst/>
                          <a:latin typeface="Meiryo UI" panose="020B0604030504040204" pitchFamily="50" charset="-128"/>
                          <a:ea typeface="Meiryo UI" panose="020B0604030504040204" pitchFamily="50" charset="-128"/>
                        </a:rPr>
                        <a:t>1</a:t>
                      </a:r>
                    </a:p>
                  </a:txBody>
                  <a:tcPr marL="36000" marR="36000" marT="36000" marB="36000" anchor="ctr"/>
                </a:tc>
                <a:tc>
                  <a:txBody>
                    <a:bodyPr/>
                    <a:lstStyle/>
                    <a:p>
                      <a:pPr algn="l" fontAlgn="ctr"/>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遠隔操作端末及び作業車両</a:t>
                      </a:r>
                    </a:p>
                  </a:txBody>
                  <a:tcPr marL="36000" marR="36000" marT="36000" marB="36000" anchor="ctr">
                    <a:lnR w="28575" cap="flat" cmpd="sng" algn="ctr">
                      <a:solidFill>
                        <a:srgbClr val="C00000"/>
                      </a:solidFill>
                      <a:prstDash val="solid"/>
                      <a:round/>
                      <a:headEnd type="none" w="med" len="med"/>
                      <a:tailEnd type="none" w="med" len="med"/>
                    </a:lnR>
                  </a:tcPr>
                </a:tc>
                <a:tc>
                  <a:txBody>
                    <a:bodyPr/>
                    <a:lstStyle/>
                    <a:p>
                      <a:pPr algn="l" fontAlgn="ctr"/>
                      <a:r>
                        <a:rPr lang="en-US" altLang="ja-JP" sz="11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要約</a:t>
                      </a:r>
                      <a:r>
                        <a:rPr lang="en-US" altLang="ja-JP" sz="11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操作具の操作方向及び操作量に応じて作業装置の移動方向及び移動速度を有向線分で表示することにより、易視認性と易操作性を両立した遠隔操作端末を提供する。クレーンのクレーン装置を遠隔操作する遠隔操作端末（３２）であって、クレーンの通信機と通信する端末側通信機と、・・・</a:t>
                      </a:r>
                    </a:p>
                  </a:txBody>
                  <a:tcPr marL="36000" marR="36000" marT="36000" marB="3600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B w="28575" cap="flat" cmpd="sng" algn="ctr">
                      <a:solidFill>
                        <a:srgbClr val="C00000"/>
                      </a:solidFill>
                      <a:prstDash val="solid"/>
                      <a:round/>
                      <a:headEnd type="none" w="med" len="med"/>
                      <a:tailEnd type="none" w="med" len="med"/>
                    </a:lnB>
                  </a:tcPr>
                </a:tc>
                <a:tc>
                  <a:txBody>
                    <a:bodyPr/>
                    <a:lstStyle/>
                    <a:p>
                      <a:pPr algn="ctr" fontAlgn="ctr"/>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カメラ</a:t>
                      </a:r>
                    </a:p>
                  </a:txBody>
                  <a:tcPr marL="36000" marR="36000" marT="36000" marB="3600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B w="28575"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089119518"/>
                  </a:ext>
                </a:extLst>
              </a:tr>
            </a:tbl>
          </a:graphicData>
        </a:graphic>
      </p:graphicFrame>
      <p:sp>
        <p:nvSpPr>
          <p:cNvPr id="10" name="テキスト ボックス 9">
            <a:extLst>
              <a:ext uri="{FF2B5EF4-FFF2-40B4-BE49-F238E27FC236}">
                <a16:creationId xmlns:a16="http://schemas.microsoft.com/office/drawing/2014/main" id="{7FA13EEE-A13A-4272-8637-09FB8533EAAD}"/>
              </a:ext>
            </a:extLst>
          </p:cNvPr>
          <p:cNvSpPr txBox="1"/>
          <p:nvPr/>
        </p:nvSpPr>
        <p:spPr>
          <a:xfrm>
            <a:off x="540000" y="5940000"/>
            <a:ext cx="9216000" cy="830997"/>
          </a:xfrm>
          <a:prstGeom prst="rect">
            <a:avLst/>
          </a:prstGeom>
          <a:noFill/>
        </p:spPr>
        <p:txBody>
          <a:bodyPr wrap="square" rtlCol="0">
            <a:spAutoFit/>
          </a:bodyPr>
          <a:lstStyle/>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カメラ、内視鏡、撮像装置の単語が含まれる</a:t>
            </a:r>
            <a:r>
              <a:rPr lang="en-US" altLang="ja-JP" sz="1600" dirty="0">
                <a:latin typeface="Meiryo UI" panose="020B0604030504040204" pitchFamily="50" charset="-128"/>
                <a:ea typeface="Meiryo UI" panose="020B0604030504040204" pitchFamily="50" charset="-128"/>
              </a:rPr>
              <a:t>3</a:t>
            </a:r>
            <a:r>
              <a:rPr lang="ja-JP" altLang="en-US" sz="1600" dirty="0">
                <a:latin typeface="Meiryo UI" panose="020B0604030504040204" pitchFamily="50" charset="-128"/>
                <a:ea typeface="Meiryo UI" panose="020B0604030504040204" pitchFamily="50" charset="-128"/>
              </a:rPr>
              <a:t>つの特許データを結合し、それぞれにカテゴリ付けしたデータです。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en-US" altLang="ja-JP" sz="1600" dirty="0">
                <a:latin typeface="Meiryo UI" panose="020B0604030504040204" pitchFamily="50" charset="-128"/>
                <a:ea typeface="Meiryo UI" panose="020B0604030504040204" pitchFamily="50" charset="-128"/>
              </a:rPr>
              <a:t>1,000</a:t>
            </a:r>
            <a:r>
              <a:rPr lang="ja-JP" altLang="en-US" sz="1600" dirty="0">
                <a:latin typeface="Meiryo UI" panose="020B0604030504040204" pitchFamily="50" charset="-128"/>
                <a:ea typeface="Meiryo UI" panose="020B0604030504040204" pitchFamily="50" charset="-128"/>
              </a:rPr>
              <a:t>件を超えるデータ件数から、それぞれ</a:t>
            </a:r>
            <a:r>
              <a:rPr lang="en-US" altLang="ja-JP" sz="1600" dirty="0">
                <a:latin typeface="Meiryo UI" panose="020B0604030504040204" pitchFamily="50" charset="-128"/>
                <a:ea typeface="Meiryo UI" panose="020B0604030504040204" pitchFamily="50" charset="-128"/>
              </a:rPr>
              <a:t>200</a:t>
            </a:r>
            <a:r>
              <a:rPr lang="ja-JP" altLang="en-US" sz="1600" dirty="0">
                <a:latin typeface="Meiryo UI" panose="020B0604030504040204" pitchFamily="50" charset="-128"/>
                <a:ea typeface="Meiryo UI" panose="020B0604030504040204" pitchFamily="50" charset="-128"/>
              </a:rPr>
              <a:t>件ずつ抽出して分析を行うため、全</a:t>
            </a:r>
            <a:r>
              <a:rPr lang="en-US" altLang="ja-JP" sz="1600" dirty="0">
                <a:latin typeface="Meiryo UI" panose="020B0604030504040204" pitchFamily="50" charset="-128"/>
                <a:ea typeface="Meiryo UI" panose="020B0604030504040204" pitchFamily="50" charset="-128"/>
              </a:rPr>
              <a:t>600</a:t>
            </a:r>
            <a:r>
              <a:rPr lang="ja-JP" altLang="en-US" sz="1600" dirty="0">
                <a:latin typeface="Meiryo UI" panose="020B0604030504040204" pitchFamily="50" charset="-128"/>
                <a:ea typeface="Meiryo UI" panose="020B0604030504040204" pitchFamily="50" charset="-128"/>
              </a:rPr>
              <a:t>件のデータです。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住林問合せ内容データと比較して、長いテキストです。</a:t>
            </a:r>
            <a:endParaRPr lang="en-US" altLang="ja-JP" sz="1600" dirty="0">
              <a:latin typeface="Meiryo UI" panose="020B0604030504040204" pitchFamily="50" charset="-128"/>
              <a:ea typeface="Meiryo UI" panose="020B0604030504040204" pitchFamily="50" charset="-128"/>
            </a:endParaRPr>
          </a:p>
        </p:txBody>
      </p:sp>
      <p:graphicFrame>
        <p:nvGraphicFramePr>
          <p:cNvPr id="13" name="表 10">
            <a:extLst>
              <a:ext uri="{FF2B5EF4-FFF2-40B4-BE49-F238E27FC236}">
                <a16:creationId xmlns:a16="http://schemas.microsoft.com/office/drawing/2014/main" id="{C298063F-E96E-4B2F-B6CD-8B27F08B4557}"/>
              </a:ext>
            </a:extLst>
          </p:cNvPr>
          <p:cNvGraphicFramePr>
            <a:graphicFrameLocks noGrp="1"/>
          </p:cNvGraphicFramePr>
          <p:nvPr>
            <p:extLst>
              <p:ext uri="{D42A27DB-BD31-4B8C-83A1-F6EECF244321}">
                <p14:modId xmlns:p14="http://schemas.microsoft.com/office/powerpoint/2010/main" val="2277702653"/>
              </p:ext>
            </p:extLst>
          </p:nvPr>
        </p:nvGraphicFramePr>
        <p:xfrm>
          <a:off x="7044292" y="2340000"/>
          <a:ext cx="2520000" cy="1260000"/>
        </p:xfrm>
        <a:graphic>
          <a:graphicData uri="http://schemas.openxmlformats.org/drawingml/2006/table">
            <a:tbl>
              <a:tblPr firstRow="1" bandRow="1">
                <a:tableStyleId>{5940675A-B579-460E-94D1-54222C63F5DA}</a:tableStyleId>
              </a:tblPr>
              <a:tblGrid>
                <a:gridCol w="900000">
                  <a:extLst>
                    <a:ext uri="{9D8B030D-6E8A-4147-A177-3AD203B41FA5}">
                      <a16:colId xmlns:a16="http://schemas.microsoft.com/office/drawing/2014/main" val="4076847870"/>
                    </a:ext>
                  </a:extLst>
                </a:gridCol>
                <a:gridCol w="1620000">
                  <a:extLst>
                    <a:ext uri="{9D8B030D-6E8A-4147-A177-3AD203B41FA5}">
                      <a16:colId xmlns:a16="http://schemas.microsoft.com/office/drawing/2014/main" val="194745463"/>
                    </a:ext>
                  </a:extLst>
                </a:gridCol>
              </a:tblGrid>
              <a:tr h="288000">
                <a:tc>
                  <a:txBody>
                    <a:bodyPr/>
                    <a:lstStyle/>
                    <a:p>
                      <a:pPr algn="ctr"/>
                      <a:r>
                        <a:rPr kumimoji="1" lang="ja-JP" altLang="en-US" sz="1200" b="1" dirty="0">
                          <a:latin typeface="Meiryo UI" panose="020B0604030504040204" pitchFamily="50" charset="-128"/>
                          <a:ea typeface="Meiryo UI" panose="020B0604030504040204" pitchFamily="50" charset="-128"/>
                        </a:rPr>
                        <a:t>データ件数</a:t>
                      </a:r>
                    </a:p>
                  </a:txBody>
                  <a:tcPr anchor="ctr"/>
                </a:tc>
                <a:tc>
                  <a:txBody>
                    <a:bodyPr/>
                    <a:lstStyle/>
                    <a:p>
                      <a:pPr algn="ctr"/>
                      <a:r>
                        <a:rPr kumimoji="1" lang="ja-JP" altLang="en-US" sz="1200" b="1" dirty="0">
                          <a:latin typeface="Meiryo UI" panose="020B0604030504040204" pitchFamily="50" charset="-128"/>
                          <a:ea typeface="Meiryo UI" panose="020B0604030504040204" pitchFamily="50" charset="-128"/>
                        </a:rPr>
                        <a:t>単語の種類数</a:t>
                      </a:r>
                    </a:p>
                  </a:txBody>
                  <a:tcPr anchor="ctr"/>
                </a:tc>
                <a:extLst>
                  <a:ext uri="{0D108BD9-81ED-4DB2-BD59-A6C34878D82A}">
                    <a16:rowId xmlns:a16="http://schemas.microsoft.com/office/drawing/2014/main" val="3618641264"/>
                  </a:ext>
                </a:extLst>
              </a:tr>
              <a:tr h="324000">
                <a:tc>
                  <a:txBody>
                    <a:bodyPr/>
                    <a:lstStyle/>
                    <a:p>
                      <a:pPr algn="ctr"/>
                      <a:r>
                        <a:rPr kumimoji="1" lang="en-US" altLang="ja-JP" sz="1200" dirty="0">
                          <a:latin typeface="Meiryo UI" panose="020B0604030504040204" pitchFamily="50" charset="-128"/>
                          <a:ea typeface="Meiryo UI" panose="020B0604030504040204" pitchFamily="50" charset="-128"/>
                        </a:rPr>
                        <a:t>600</a:t>
                      </a:r>
                      <a:r>
                        <a:rPr kumimoji="1" lang="ja-JP" altLang="en-US" sz="1200" dirty="0">
                          <a:latin typeface="Meiryo UI" panose="020B0604030504040204" pitchFamily="50" charset="-128"/>
                          <a:ea typeface="Meiryo UI" panose="020B0604030504040204" pitchFamily="50" charset="-128"/>
                        </a:rPr>
                        <a:t>件</a:t>
                      </a:r>
                    </a:p>
                  </a:txBody>
                  <a:tcPr anchor="ctr"/>
                </a:tc>
                <a:tc>
                  <a:txBody>
                    <a:bodyPr/>
                    <a:lstStyle/>
                    <a:p>
                      <a:pPr algn="ctr"/>
                      <a:r>
                        <a:rPr kumimoji="1" lang="ja-JP" altLang="en-US" sz="1200" dirty="0">
                          <a:solidFill>
                            <a:srgbClr val="FF0000"/>
                          </a:solidFill>
                          <a:latin typeface="Meiryo UI" panose="020B0604030504040204" pitchFamily="50" charset="-128"/>
                          <a:ea typeface="Meiryo UI" panose="020B0604030504040204" pitchFamily="50" charset="-128"/>
                        </a:rPr>
                        <a:t>調査後に記入</a:t>
                      </a:r>
                    </a:p>
                  </a:txBody>
                  <a:tcPr anchor="ctr"/>
                </a:tc>
                <a:extLst>
                  <a:ext uri="{0D108BD9-81ED-4DB2-BD59-A6C34878D82A}">
                    <a16:rowId xmlns:a16="http://schemas.microsoft.com/office/drawing/2014/main" val="2397918619"/>
                  </a:ext>
                </a:extLst>
              </a:tr>
              <a:tr h="324000">
                <a:tc gridSpan="2">
                  <a:txBody>
                    <a:bodyPr/>
                    <a:lstStyle/>
                    <a:p>
                      <a:pPr algn="ctr"/>
                      <a:r>
                        <a:rPr kumimoji="1" lang="ja-JP" altLang="en-US" sz="1200" b="1" dirty="0">
                          <a:latin typeface="Meiryo UI" panose="020B0604030504040204" pitchFamily="50" charset="-128"/>
                          <a:ea typeface="Meiryo UI" panose="020B0604030504040204" pitchFamily="50" charset="-128"/>
                        </a:rPr>
                        <a:t>カテゴリ種類数</a:t>
                      </a:r>
                    </a:p>
                  </a:txBody>
                  <a:tcPr anchor="ctr"/>
                </a:tc>
                <a:tc hMerge="1">
                  <a:txBody>
                    <a:bodyPr/>
                    <a:lstStyle/>
                    <a:p>
                      <a:pPr algn="ctr"/>
                      <a:endParaRPr kumimoji="1" lang="ja-JP" altLang="en-US" sz="12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261038267"/>
                  </a:ext>
                </a:extLst>
              </a:tr>
              <a:tr h="324000">
                <a:tc gridSpan="2">
                  <a:txBody>
                    <a:bodyPr/>
                    <a:lstStyle/>
                    <a:p>
                      <a:pPr algn="ctr"/>
                      <a:r>
                        <a:rPr kumimoji="1" lang="en-US" altLang="ja-JP" sz="1200" dirty="0">
                          <a:latin typeface="Meiryo UI" panose="020B0604030504040204" pitchFamily="50" charset="-128"/>
                          <a:ea typeface="Meiryo UI" panose="020B0604030504040204" pitchFamily="50" charset="-128"/>
                        </a:rPr>
                        <a:t>3</a:t>
                      </a:r>
                      <a:r>
                        <a:rPr kumimoji="1" lang="ja-JP" altLang="en-US" sz="1200" dirty="0">
                          <a:latin typeface="Meiryo UI" panose="020B0604030504040204" pitchFamily="50" charset="-128"/>
                          <a:ea typeface="Meiryo UI" panose="020B0604030504040204" pitchFamily="50" charset="-128"/>
                        </a:rPr>
                        <a:t>種類（</a:t>
                      </a:r>
                      <a:r>
                        <a:rPr kumimoji="1" lang="en-US" altLang="ja-JP" sz="1200" dirty="0">
                          <a:latin typeface="Meiryo UI" panose="020B0604030504040204" pitchFamily="50" charset="-128"/>
                          <a:ea typeface="Meiryo UI" panose="020B0604030504040204" pitchFamily="50" charset="-128"/>
                        </a:rPr>
                        <a:t>AM</a:t>
                      </a:r>
                      <a:r>
                        <a:rPr kumimoji="1" lang="ja-JP" altLang="en-US" sz="1200" dirty="0">
                          <a:latin typeface="Meiryo UI" panose="020B0604030504040204" pitchFamily="50" charset="-128"/>
                          <a:ea typeface="Meiryo UI" panose="020B0604030504040204" pitchFamily="50" charset="-128"/>
                        </a:rPr>
                        <a:t>、手配、電話完了）</a:t>
                      </a:r>
                    </a:p>
                  </a:txBody>
                  <a:tcPr anchor="ctr"/>
                </a:tc>
                <a:tc hMerge="1">
                  <a:txBody>
                    <a:bodyPr/>
                    <a:lstStyle/>
                    <a:p>
                      <a:pPr algn="ctr"/>
                      <a:endParaRPr kumimoji="1" lang="ja-JP" altLang="en-US" sz="12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415860594"/>
                  </a:ext>
                </a:extLst>
              </a:tr>
            </a:tbl>
          </a:graphicData>
        </a:graphic>
      </p:graphicFrame>
      <p:graphicFrame>
        <p:nvGraphicFramePr>
          <p:cNvPr id="14" name="表 10">
            <a:extLst>
              <a:ext uri="{FF2B5EF4-FFF2-40B4-BE49-F238E27FC236}">
                <a16:creationId xmlns:a16="http://schemas.microsoft.com/office/drawing/2014/main" id="{EECB18E6-8E77-4CB5-9F53-0FE337E7E9AB}"/>
              </a:ext>
            </a:extLst>
          </p:cNvPr>
          <p:cNvGraphicFramePr>
            <a:graphicFrameLocks noGrp="1"/>
          </p:cNvGraphicFramePr>
          <p:nvPr>
            <p:extLst>
              <p:ext uri="{D42A27DB-BD31-4B8C-83A1-F6EECF244321}">
                <p14:modId xmlns:p14="http://schemas.microsoft.com/office/powerpoint/2010/main" val="3571983865"/>
              </p:ext>
            </p:extLst>
          </p:nvPr>
        </p:nvGraphicFramePr>
        <p:xfrm>
          <a:off x="7044292" y="4680000"/>
          <a:ext cx="2520000" cy="1260000"/>
        </p:xfrm>
        <a:graphic>
          <a:graphicData uri="http://schemas.openxmlformats.org/drawingml/2006/table">
            <a:tbl>
              <a:tblPr firstRow="1" bandRow="1">
                <a:tableStyleId>{5940675A-B579-460E-94D1-54222C63F5DA}</a:tableStyleId>
              </a:tblPr>
              <a:tblGrid>
                <a:gridCol w="900000">
                  <a:extLst>
                    <a:ext uri="{9D8B030D-6E8A-4147-A177-3AD203B41FA5}">
                      <a16:colId xmlns:a16="http://schemas.microsoft.com/office/drawing/2014/main" val="4076847870"/>
                    </a:ext>
                  </a:extLst>
                </a:gridCol>
                <a:gridCol w="1620000">
                  <a:extLst>
                    <a:ext uri="{9D8B030D-6E8A-4147-A177-3AD203B41FA5}">
                      <a16:colId xmlns:a16="http://schemas.microsoft.com/office/drawing/2014/main" val="194745463"/>
                    </a:ext>
                  </a:extLst>
                </a:gridCol>
              </a:tblGrid>
              <a:tr h="288000">
                <a:tc>
                  <a:txBody>
                    <a:bodyPr/>
                    <a:lstStyle/>
                    <a:p>
                      <a:pPr algn="ctr"/>
                      <a:r>
                        <a:rPr kumimoji="1" lang="ja-JP" altLang="en-US" sz="1200" b="1" dirty="0">
                          <a:latin typeface="Meiryo UI" panose="020B0604030504040204" pitchFamily="50" charset="-128"/>
                          <a:ea typeface="Meiryo UI" panose="020B0604030504040204" pitchFamily="50" charset="-128"/>
                        </a:rPr>
                        <a:t>データ件数</a:t>
                      </a:r>
                    </a:p>
                  </a:txBody>
                  <a:tcPr anchor="ctr"/>
                </a:tc>
                <a:tc>
                  <a:txBody>
                    <a:bodyPr/>
                    <a:lstStyle/>
                    <a:p>
                      <a:pPr algn="ctr"/>
                      <a:r>
                        <a:rPr kumimoji="1" lang="ja-JP" altLang="en-US" sz="1200" b="1" dirty="0">
                          <a:latin typeface="Meiryo UI" panose="020B0604030504040204" pitchFamily="50" charset="-128"/>
                          <a:ea typeface="Meiryo UI" panose="020B0604030504040204" pitchFamily="50" charset="-128"/>
                        </a:rPr>
                        <a:t>単語の種類数</a:t>
                      </a:r>
                    </a:p>
                  </a:txBody>
                  <a:tcPr anchor="ctr"/>
                </a:tc>
                <a:extLst>
                  <a:ext uri="{0D108BD9-81ED-4DB2-BD59-A6C34878D82A}">
                    <a16:rowId xmlns:a16="http://schemas.microsoft.com/office/drawing/2014/main" val="3618641264"/>
                  </a:ext>
                </a:extLst>
              </a:tr>
              <a:tr h="324000">
                <a:tc>
                  <a:txBody>
                    <a:bodyPr/>
                    <a:lstStyle/>
                    <a:p>
                      <a:pPr algn="ctr"/>
                      <a:r>
                        <a:rPr kumimoji="1" lang="en-US" altLang="ja-JP" sz="1200" dirty="0">
                          <a:latin typeface="Meiryo UI" panose="020B0604030504040204" pitchFamily="50" charset="-128"/>
                          <a:ea typeface="Meiryo UI" panose="020B0604030504040204" pitchFamily="50" charset="-128"/>
                        </a:rPr>
                        <a:t>600</a:t>
                      </a:r>
                      <a:r>
                        <a:rPr kumimoji="1" lang="ja-JP" altLang="en-US" sz="1200" dirty="0">
                          <a:latin typeface="Meiryo UI" panose="020B0604030504040204" pitchFamily="50" charset="-128"/>
                          <a:ea typeface="Meiryo UI" panose="020B0604030504040204" pitchFamily="50" charset="-128"/>
                        </a:rPr>
                        <a:t>件</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rgbClr val="FF0000"/>
                          </a:solidFill>
                          <a:latin typeface="Meiryo UI" panose="020B0604030504040204" pitchFamily="50" charset="-128"/>
                          <a:ea typeface="Meiryo UI" panose="020B0604030504040204" pitchFamily="50" charset="-128"/>
                        </a:rPr>
                        <a:t>調査後に記入</a:t>
                      </a:r>
                    </a:p>
                  </a:txBody>
                  <a:tcPr anchor="ctr"/>
                </a:tc>
                <a:extLst>
                  <a:ext uri="{0D108BD9-81ED-4DB2-BD59-A6C34878D82A}">
                    <a16:rowId xmlns:a16="http://schemas.microsoft.com/office/drawing/2014/main" val="2397918619"/>
                  </a:ext>
                </a:extLst>
              </a:tr>
              <a:tr h="324000">
                <a:tc gridSpan="2">
                  <a:txBody>
                    <a:bodyPr/>
                    <a:lstStyle/>
                    <a:p>
                      <a:pPr algn="ctr"/>
                      <a:r>
                        <a:rPr kumimoji="1" lang="ja-JP" altLang="en-US" sz="1200" b="1" dirty="0">
                          <a:latin typeface="Meiryo UI" panose="020B0604030504040204" pitchFamily="50" charset="-128"/>
                          <a:ea typeface="Meiryo UI" panose="020B0604030504040204" pitchFamily="50" charset="-128"/>
                        </a:rPr>
                        <a:t>カテゴリ種類数</a:t>
                      </a:r>
                    </a:p>
                  </a:txBody>
                  <a:tcPr anchor="ctr"/>
                </a:tc>
                <a:tc hMerge="1">
                  <a:txBody>
                    <a:bodyPr/>
                    <a:lstStyle/>
                    <a:p>
                      <a:pPr algn="ctr"/>
                      <a:endParaRPr kumimoji="1" lang="ja-JP" altLang="en-US" sz="12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914618949"/>
                  </a:ext>
                </a:extLst>
              </a:tr>
              <a:tr h="324000">
                <a:tc gridSpan="2">
                  <a:txBody>
                    <a:bodyPr/>
                    <a:lstStyle/>
                    <a:p>
                      <a:pPr algn="ctr"/>
                      <a:r>
                        <a:rPr kumimoji="1" lang="en-US" altLang="ja-JP" sz="1200" dirty="0">
                          <a:latin typeface="Meiryo UI" panose="020B0604030504040204" pitchFamily="50" charset="-128"/>
                          <a:ea typeface="Meiryo UI" panose="020B0604030504040204" pitchFamily="50" charset="-128"/>
                        </a:rPr>
                        <a:t>3</a:t>
                      </a:r>
                      <a:r>
                        <a:rPr kumimoji="1" lang="ja-JP" altLang="en-US" sz="1200" dirty="0">
                          <a:latin typeface="Meiryo UI" panose="020B0604030504040204" pitchFamily="50" charset="-128"/>
                          <a:ea typeface="Meiryo UI" panose="020B0604030504040204" pitchFamily="50" charset="-128"/>
                        </a:rPr>
                        <a:t>種類（カメラ、内視鏡、撮像装置）</a:t>
                      </a:r>
                    </a:p>
                  </a:txBody>
                  <a:tcPr anchor="ctr"/>
                </a:tc>
                <a:tc hMerge="1">
                  <a:txBody>
                    <a:bodyPr/>
                    <a:lstStyle/>
                    <a:p>
                      <a:pPr algn="ctr"/>
                      <a:endParaRPr kumimoji="1" lang="ja-JP" altLang="en-US" sz="12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413483982"/>
                  </a:ext>
                </a:extLst>
              </a:tr>
            </a:tbl>
          </a:graphicData>
        </a:graphic>
      </p:graphicFrame>
      <p:sp>
        <p:nvSpPr>
          <p:cNvPr id="4" name="スライド番号プレースホルダー 3">
            <a:extLst>
              <a:ext uri="{FF2B5EF4-FFF2-40B4-BE49-F238E27FC236}">
                <a16:creationId xmlns:a16="http://schemas.microsoft.com/office/drawing/2014/main" id="{856E8EEC-B5C9-4163-BF5B-F2B1D3810546}"/>
              </a:ext>
            </a:extLst>
          </p:cNvPr>
          <p:cNvSpPr>
            <a:spLocks noGrp="1"/>
          </p:cNvSpPr>
          <p:nvPr>
            <p:ph type="sldNum" sz="quarter" idx="12"/>
          </p:nvPr>
        </p:nvSpPr>
        <p:spPr/>
        <p:txBody>
          <a:bodyPr/>
          <a:lstStyle/>
          <a:p>
            <a:fld id="{4A0ABA21-04CE-4531-99B2-420D29D6D622}" type="slidenum">
              <a:rPr lang="ja-JP" altLang="en-US" smtClean="0"/>
              <a:pPr/>
              <a:t>13</a:t>
            </a:fld>
            <a:endParaRPr lang="ja-JP" altLang="en-US" dirty="0"/>
          </a:p>
        </p:txBody>
      </p:sp>
      <p:sp>
        <p:nvSpPr>
          <p:cNvPr id="15" name="正方形/長方形 14">
            <a:extLst>
              <a:ext uri="{FF2B5EF4-FFF2-40B4-BE49-F238E27FC236}">
                <a16:creationId xmlns:a16="http://schemas.microsoft.com/office/drawing/2014/main" id="{53EE520D-8F3A-42EF-96E4-939C8ECB1C32}"/>
              </a:ext>
            </a:extLst>
          </p:cNvPr>
          <p:cNvSpPr/>
          <p:nvPr/>
        </p:nvSpPr>
        <p:spPr>
          <a:xfrm>
            <a:off x="9985899" y="1989138"/>
            <a:ext cx="1351930" cy="3950861"/>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質問事項①</a:t>
            </a:r>
          </a:p>
        </p:txBody>
      </p:sp>
    </p:spTree>
    <p:extLst>
      <p:ext uri="{BB962C8B-B14F-4D97-AF65-F5344CB8AC3E}">
        <p14:creationId xmlns:p14="http://schemas.microsoft.com/office/powerpoint/2010/main" val="2002686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pPr rtl="0" eaLnBrk="1" latinLnBrk="0" hangingPunct="1"/>
            <a:r>
              <a:rPr kumimoji="1" lang="ja-JP" altLang="ja-JP" sz="3600" kern="1200" dirty="0">
                <a:solidFill>
                  <a:schemeClr val="tx1"/>
                </a:solidFill>
                <a:effectLst/>
                <a:latin typeface="Meiryo UI" panose="020B0604030504040204" pitchFamily="50" charset="-128"/>
                <a:ea typeface="Meiryo UI" panose="020B0604030504040204" pitchFamily="50" charset="-128"/>
                <a:cs typeface="+mj-cs"/>
              </a:rPr>
              <a:t>研究内容の全体像　前処理</a:t>
            </a:r>
            <a:endParaRPr lang="ja-JP" altLang="ja-JP" dirty="0">
              <a:effectLst/>
            </a:endParaRPr>
          </a:p>
        </p:txBody>
      </p:sp>
      <p:sp>
        <p:nvSpPr>
          <p:cNvPr id="6" name="テキスト プレースホルダー 5">
            <a:extLst>
              <a:ext uri="{FF2B5EF4-FFF2-40B4-BE49-F238E27FC236}">
                <a16:creationId xmlns:a16="http://schemas.microsoft.com/office/drawing/2014/main" id="{0CB07FDD-3042-45F8-A8FB-2044EAACAD59}"/>
              </a:ext>
            </a:extLst>
          </p:cNvPr>
          <p:cNvSpPr>
            <a:spLocks noGrp="1"/>
          </p:cNvSpPr>
          <p:nvPr>
            <p:ph type="body" idx="4294967295"/>
          </p:nvPr>
        </p:nvSpPr>
        <p:spPr>
          <a:xfrm>
            <a:off x="540000" y="1080000"/>
            <a:ext cx="9144000" cy="823913"/>
          </a:xfrm>
          <a:prstGeom prst="rect">
            <a:avLst/>
          </a:prstGeom>
        </p:spPr>
        <p:txBody>
          <a:bodyPr lIns="72000" tIns="72000" rIns="72000" bIns="72000">
            <a:noAutofit/>
          </a:bodyPr>
          <a:lstStyle/>
          <a:p>
            <a:pPr marL="0" indent="0" rtl="0" eaLnBrk="1" latinLnBrk="0" hangingPunct="1">
              <a:buNone/>
            </a:pPr>
            <a:r>
              <a:rPr kumimoji="1" lang="ja-JP" altLang="ja-JP" sz="2000" b="1" kern="1200" dirty="0">
                <a:solidFill>
                  <a:schemeClr val="tx1"/>
                </a:solidFill>
                <a:effectLst/>
                <a:latin typeface="Meiryo UI" panose="020B0604030504040204" pitchFamily="50" charset="-128"/>
                <a:ea typeface="Meiryo UI" panose="020B0604030504040204" pitchFamily="50" charset="-128"/>
              </a:rPr>
              <a:t>テキストマイニングを行う際の前処理は、全ての研究で実施しています。</a:t>
            </a:r>
            <a:endParaRPr lang="ja-JP" altLang="ja-JP" sz="2000" dirty="0">
              <a:effectLst/>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8FEE0A28-8AF7-4537-A103-4EE5D3D797B9}"/>
              </a:ext>
            </a:extLst>
          </p:cNvPr>
          <p:cNvSpPr/>
          <p:nvPr/>
        </p:nvSpPr>
        <p:spPr>
          <a:xfrm>
            <a:off x="540000" y="1989138"/>
            <a:ext cx="9156700" cy="1200329"/>
          </a:xfrm>
          <a:prstGeom prst="rect">
            <a:avLst/>
          </a:prstGeom>
        </p:spPr>
        <p:txBody>
          <a:bodyPr wrap="square">
            <a:spAutoFit/>
          </a:bodyPr>
          <a:lstStyle/>
          <a:p>
            <a:pPr marL="360000" indent="-360000">
              <a:buFont typeface="+mj-ea"/>
              <a:buAutoNum type="circleNumDbPlain"/>
            </a:pPr>
            <a:r>
              <a:rPr lang="ja-JP" altLang="en-US" dirty="0">
                <a:latin typeface="Meiryo UI" panose="020B0604030504040204" pitchFamily="50" charset="-128"/>
                <a:ea typeface="Meiryo UI" panose="020B0604030504040204" pitchFamily="50" charset="-128"/>
              </a:rPr>
              <a:t>ストップワードの除去</a:t>
            </a:r>
          </a:p>
          <a:p>
            <a:r>
              <a:rPr lang="ja-JP" altLang="en-US" dirty="0">
                <a:latin typeface="Meiryo UI" panose="020B0604030504040204" pitchFamily="50" charset="-128"/>
                <a:ea typeface="Meiryo UI" panose="020B0604030504040204" pitchFamily="50" charset="-128"/>
              </a:rPr>
              <a:t>文章中によく出現する単語は文章中の内容を表していないと考えられるため、それらの単語を除去します（除去後に除去単語を記載）。</a:t>
            </a:r>
            <a:endParaRPr lang="en-US" altLang="ja-JP" dirty="0">
              <a:latin typeface="Meiryo UI" panose="020B0604030504040204" pitchFamily="50" charset="-128"/>
              <a:ea typeface="Meiryo UI" panose="020B0604030504040204" pitchFamily="50" charset="-128"/>
            </a:endParaRPr>
          </a:p>
          <a:p>
            <a:pPr marL="360000" indent="-360000"/>
            <a:r>
              <a:rPr lang="ja-JP" altLang="en-US" dirty="0">
                <a:latin typeface="Meiryo UI" panose="020B0604030504040204" pitchFamily="50" charset="-128"/>
                <a:ea typeface="Meiryo UI" panose="020B0604030504040204" pitchFamily="50" charset="-128"/>
              </a:rPr>
              <a:t>例えば、問い合わせ内容データの場合、単語「お願いします」を除外します。</a:t>
            </a:r>
          </a:p>
        </p:txBody>
      </p:sp>
      <p:sp>
        <p:nvSpPr>
          <p:cNvPr id="10" name="正方形/長方形 9">
            <a:extLst>
              <a:ext uri="{FF2B5EF4-FFF2-40B4-BE49-F238E27FC236}">
                <a16:creationId xmlns:a16="http://schemas.microsoft.com/office/drawing/2014/main" id="{0BB38E66-4E14-4DEE-A04F-A720086D0731}"/>
              </a:ext>
            </a:extLst>
          </p:cNvPr>
          <p:cNvSpPr/>
          <p:nvPr/>
        </p:nvSpPr>
        <p:spPr>
          <a:xfrm>
            <a:off x="540000" y="3433103"/>
            <a:ext cx="9156700" cy="1200329"/>
          </a:xfrm>
          <a:prstGeom prst="rect">
            <a:avLst/>
          </a:prstGeom>
        </p:spPr>
        <p:txBody>
          <a:bodyPr wrap="square">
            <a:spAutoFit/>
          </a:bodyPr>
          <a:lstStyle/>
          <a:p>
            <a:pPr marL="360000" indent="-360000">
              <a:buFont typeface="+mj-ea"/>
              <a:buAutoNum type="circleNumDbPlain" startAt="2"/>
            </a:pPr>
            <a:r>
              <a:rPr lang="ja-JP" altLang="en-US" dirty="0">
                <a:latin typeface="Meiryo UI" panose="020B0604030504040204" pitchFamily="50" charset="-128"/>
                <a:ea typeface="Meiryo UI" panose="020B0604030504040204" pitchFamily="50" charset="-128"/>
              </a:rPr>
              <a:t>類義語辞書の作成</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似たような意味を持つ単語を</a:t>
            </a:r>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単語として扱う必要があると考えられるため、それらの単語を類義語として</a:t>
            </a:r>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単語へまとめます（作成後に類義単語を記載）。</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例えば、生産、製造、制作、および作成は、単語「生産」へ統合します。</a:t>
            </a:r>
            <a:endParaRPr lang="en-US" altLang="ja-JP" dirty="0">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05164BB2-290F-47AE-9DB0-C049320448A6}"/>
              </a:ext>
            </a:extLst>
          </p:cNvPr>
          <p:cNvSpPr/>
          <p:nvPr/>
        </p:nvSpPr>
        <p:spPr>
          <a:xfrm>
            <a:off x="540000" y="4877068"/>
            <a:ext cx="9156700" cy="923330"/>
          </a:xfrm>
          <a:prstGeom prst="rect">
            <a:avLst/>
          </a:prstGeom>
        </p:spPr>
        <p:txBody>
          <a:bodyPr wrap="square">
            <a:spAutoFit/>
          </a:bodyPr>
          <a:lstStyle/>
          <a:p>
            <a:pPr marL="360000" indent="-360000">
              <a:buFont typeface="+mj-ea"/>
              <a:buAutoNum type="circleNumDbPlain" startAt="3"/>
            </a:pPr>
            <a:r>
              <a:rPr lang="ja-JP" altLang="en-US" dirty="0">
                <a:latin typeface="Meiryo UI" panose="020B0604030504040204" pitchFamily="50" charset="-128"/>
                <a:ea typeface="Meiryo UI" panose="020B0604030504040204" pitchFamily="50" charset="-128"/>
              </a:rPr>
              <a:t>特定のしきい値頻度未満で出現する単語を破棄</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文章中に出現する件数が少ない単語は、文章を表す際にあまり重要な単語ではなく、2つの文章間の類似性にほとんど貢献しないと考えられるため、頻度が</a:t>
            </a:r>
            <a:r>
              <a:rPr lang="en-US" altLang="ja-JP" dirty="0">
                <a:latin typeface="Meiryo UI" panose="020B0604030504040204" pitchFamily="50" charset="-128"/>
                <a:ea typeface="Meiryo UI" panose="020B0604030504040204" pitchFamily="50" charset="-128"/>
              </a:rPr>
              <a:t>20</a:t>
            </a:r>
            <a:r>
              <a:rPr lang="ja-JP" altLang="en-US" dirty="0">
                <a:latin typeface="Meiryo UI" panose="020B0604030504040204" pitchFamily="50" charset="-128"/>
                <a:ea typeface="Meiryo UI" panose="020B0604030504040204" pitchFamily="50" charset="-128"/>
              </a:rPr>
              <a:t>件以上の単語のみを分析に使用します。</a:t>
            </a:r>
          </a:p>
        </p:txBody>
      </p:sp>
      <p:sp>
        <p:nvSpPr>
          <p:cNvPr id="8" name="正方形/長方形 7">
            <a:extLst>
              <a:ext uri="{FF2B5EF4-FFF2-40B4-BE49-F238E27FC236}">
                <a16:creationId xmlns:a16="http://schemas.microsoft.com/office/drawing/2014/main" id="{E5848FAF-BD92-48E7-90C3-7EB4BEDC4EEF}"/>
              </a:ext>
            </a:extLst>
          </p:cNvPr>
          <p:cNvSpPr/>
          <p:nvPr/>
        </p:nvSpPr>
        <p:spPr>
          <a:xfrm>
            <a:off x="9985899" y="5121351"/>
            <a:ext cx="1351930" cy="679047"/>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質問事項②</a:t>
            </a:r>
          </a:p>
        </p:txBody>
      </p:sp>
      <p:sp>
        <p:nvSpPr>
          <p:cNvPr id="3" name="スライド番号プレースホルダー 2">
            <a:extLst>
              <a:ext uri="{FF2B5EF4-FFF2-40B4-BE49-F238E27FC236}">
                <a16:creationId xmlns:a16="http://schemas.microsoft.com/office/drawing/2014/main" id="{1E28DB55-C5DF-44C1-89E4-FC8BFF290F51}"/>
              </a:ext>
            </a:extLst>
          </p:cNvPr>
          <p:cNvSpPr>
            <a:spLocks noGrp="1"/>
          </p:cNvSpPr>
          <p:nvPr>
            <p:ph type="sldNum" sz="quarter" idx="12"/>
          </p:nvPr>
        </p:nvSpPr>
        <p:spPr/>
        <p:txBody>
          <a:bodyPr/>
          <a:lstStyle/>
          <a:p>
            <a:fld id="{4A0ABA21-04CE-4531-99B2-420D29D6D622}" type="slidenum">
              <a:rPr lang="ja-JP" altLang="en-US" smtClean="0"/>
              <a:pPr/>
              <a:t>14</a:t>
            </a:fld>
            <a:endParaRPr lang="ja-JP" altLang="en-US" dirty="0"/>
          </a:p>
        </p:txBody>
      </p:sp>
    </p:spTree>
    <p:extLst>
      <p:ext uri="{BB962C8B-B14F-4D97-AF65-F5344CB8AC3E}">
        <p14:creationId xmlns:p14="http://schemas.microsoft.com/office/powerpoint/2010/main" val="109502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A6AA1F-41D3-47D2-854C-24CE2840D8D6}"/>
              </a:ext>
            </a:extLst>
          </p:cNvPr>
          <p:cNvSpPr>
            <a:spLocks noGrp="1"/>
          </p:cNvSpPr>
          <p:nvPr>
            <p:ph type="ctrTitle"/>
          </p:nvPr>
        </p:nvSpPr>
        <p:spPr/>
        <p:txBody>
          <a:bodyPr/>
          <a:lstStyle/>
          <a:p>
            <a:r>
              <a:rPr kumimoji="1" lang="ja-JP" altLang="en-US" dirty="0"/>
              <a:t>研究①</a:t>
            </a:r>
          </a:p>
        </p:txBody>
      </p:sp>
      <p:sp>
        <p:nvSpPr>
          <p:cNvPr id="4" name="字幕 3">
            <a:extLst>
              <a:ext uri="{FF2B5EF4-FFF2-40B4-BE49-F238E27FC236}">
                <a16:creationId xmlns:a16="http://schemas.microsoft.com/office/drawing/2014/main" id="{7B5E382D-F406-4897-860B-608F2F43426B}"/>
              </a:ext>
            </a:extLst>
          </p:cNvPr>
          <p:cNvSpPr>
            <a:spLocks noGrp="1"/>
          </p:cNvSpPr>
          <p:nvPr>
            <p:ph type="subTitle" idx="1"/>
          </p:nvPr>
        </p:nvSpPr>
        <p:spPr/>
        <p:txBody>
          <a:bodyPr/>
          <a:lstStyle/>
          <a:p>
            <a:r>
              <a:rPr lang="en-US" altLang="ja-JP" dirty="0"/>
              <a:t>Word Embedding</a:t>
            </a:r>
            <a:r>
              <a:rPr lang="ja-JP" altLang="en-US" dirty="0"/>
              <a:t>アルゴリズム</a:t>
            </a:r>
            <a:endParaRPr kumimoji="1" lang="ja-JP" altLang="en-US" dirty="0"/>
          </a:p>
        </p:txBody>
      </p:sp>
      <p:sp>
        <p:nvSpPr>
          <p:cNvPr id="3" name="スライド番号プレースホルダー 2">
            <a:extLst>
              <a:ext uri="{FF2B5EF4-FFF2-40B4-BE49-F238E27FC236}">
                <a16:creationId xmlns:a16="http://schemas.microsoft.com/office/drawing/2014/main" id="{D1ED19B3-D531-4FC9-A123-2636A04880F1}"/>
              </a:ext>
            </a:extLst>
          </p:cNvPr>
          <p:cNvSpPr>
            <a:spLocks noGrp="1"/>
          </p:cNvSpPr>
          <p:nvPr>
            <p:ph type="sldNum" sz="quarter" idx="12"/>
          </p:nvPr>
        </p:nvSpPr>
        <p:spPr/>
        <p:txBody>
          <a:bodyPr/>
          <a:lstStyle/>
          <a:p>
            <a:fld id="{4A0ABA21-04CE-4531-99B2-420D29D6D622}" type="slidenum">
              <a:rPr lang="ja-JP" altLang="en-US" smtClean="0"/>
              <a:pPr/>
              <a:t>15</a:t>
            </a:fld>
            <a:endParaRPr lang="ja-JP" altLang="en-US"/>
          </a:p>
        </p:txBody>
      </p:sp>
    </p:spTree>
    <p:extLst>
      <p:ext uri="{BB962C8B-B14F-4D97-AF65-F5344CB8AC3E}">
        <p14:creationId xmlns:p14="http://schemas.microsoft.com/office/powerpoint/2010/main" val="829329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研究①　</a:t>
            </a:r>
            <a:r>
              <a:rPr kumimoji="1" lang="en-US" altLang="ja-JP" sz="3600" dirty="0">
                <a:latin typeface="Meiryo UI" panose="020B0604030504040204" pitchFamily="50" charset="-128"/>
                <a:ea typeface="Meiryo UI" panose="020B0604030504040204" pitchFamily="50" charset="-128"/>
              </a:rPr>
              <a:t>Word Embedding</a:t>
            </a:r>
            <a:r>
              <a:rPr kumimoji="1" lang="ja-JP" altLang="en-US" sz="3600" dirty="0">
                <a:latin typeface="Meiryo UI" panose="020B0604030504040204" pitchFamily="50" charset="-128"/>
                <a:ea typeface="Meiryo UI" panose="020B0604030504040204" pitchFamily="50" charset="-128"/>
              </a:rPr>
              <a:t>アルゴリズム</a:t>
            </a:r>
          </a:p>
        </p:txBody>
      </p:sp>
      <p:sp>
        <p:nvSpPr>
          <p:cNvPr id="6" name="テキスト プレースホルダー 5">
            <a:extLst>
              <a:ext uri="{FF2B5EF4-FFF2-40B4-BE49-F238E27FC236}">
                <a16:creationId xmlns:a16="http://schemas.microsoft.com/office/drawing/2014/main" id="{2BE5A9C7-38A8-41C9-8AD8-A63DE826215C}"/>
              </a:ext>
            </a:extLst>
          </p:cNvPr>
          <p:cNvSpPr>
            <a:spLocks noGrp="1"/>
          </p:cNvSpPr>
          <p:nvPr>
            <p:ph type="body" idx="4294967295"/>
          </p:nvPr>
        </p:nvSpPr>
        <p:spPr>
          <a:xfrm>
            <a:off x="539999" y="1080000"/>
            <a:ext cx="9144000" cy="625475"/>
          </a:xfrm>
          <a:prstGeom prst="rect">
            <a:avLst/>
          </a:prstGeom>
        </p:spPr>
        <p:txBody>
          <a:bodyPr lIns="72000" tIns="72000" rIns="72000" bIns="72000">
            <a:noAutofit/>
          </a:bodyPr>
          <a:lstStyle/>
          <a:p>
            <a:pPr marL="0" indent="0">
              <a:spcBef>
                <a:spcPts val="0"/>
              </a:spcBef>
              <a:buNone/>
            </a:pPr>
            <a:r>
              <a:rPr lang="ja-JP" altLang="ja-JP" sz="2000" b="1" dirty="0">
                <a:latin typeface="Meiryo UI" panose="020B0604030504040204" pitchFamily="50" charset="-128"/>
                <a:ea typeface="Meiryo UI" panose="020B0604030504040204" pitchFamily="50" charset="-128"/>
              </a:rPr>
              <a:t>研究①では、</a:t>
            </a:r>
            <a:r>
              <a:rPr lang="en-US" altLang="ja-JP" sz="2000" b="1" dirty="0">
                <a:latin typeface="Meiryo UI" panose="020B0604030504040204" pitchFamily="50" charset="-128"/>
                <a:ea typeface="Meiryo UI" panose="020B0604030504040204" pitchFamily="50" charset="-128"/>
              </a:rPr>
              <a:t>Word Embedding</a:t>
            </a:r>
            <a:r>
              <a:rPr lang="ja-JP" altLang="en-US" sz="2000" b="1" dirty="0">
                <a:latin typeface="Meiryo UI" panose="020B0604030504040204" pitchFamily="50" charset="-128"/>
                <a:ea typeface="Meiryo UI" panose="020B0604030504040204" pitchFamily="50" charset="-128"/>
              </a:rPr>
              <a:t>アルゴリズムに関する</a:t>
            </a:r>
            <a:r>
              <a:rPr lang="ja-JP" altLang="ja-JP" sz="2000" b="1" dirty="0">
                <a:latin typeface="Meiryo UI" panose="020B0604030504040204" pitchFamily="50" charset="-128"/>
                <a:ea typeface="Meiryo UI" panose="020B0604030504040204" pitchFamily="50" charset="-128"/>
              </a:rPr>
              <a:t>検証を行います。</a:t>
            </a:r>
            <a:endParaRPr lang="ja-JP" altLang="en-US" sz="2000" b="1" dirty="0">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DC146532-4DEC-4588-9422-8A3546E13B3F}"/>
              </a:ext>
            </a:extLst>
          </p:cNvPr>
          <p:cNvSpPr txBox="1"/>
          <p:nvPr/>
        </p:nvSpPr>
        <p:spPr>
          <a:xfrm>
            <a:off x="3170300" y="1980000"/>
            <a:ext cx="3565400"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研究内容　パターン別の目的と概要</a:t>
            </a:r>
          </a:p>
        </p:txBody>
      </p:sp>
      <p:graphicFrame>
        <p:nvGraphicFramePr>
          <p:cNvPr id="11" name="表 31">
            <a:extLst>
              <a:ext uri="{FF2B5EF4-FFF2-40B4-BE49-F238E27FC236}">
                <a16:creationId xmlns:a16="http://schemas.microsoft.com/office/drawing/2014/main" id="{2B662A83-68A3-45B2-9AA6-A2E94C2C8062}"/>
              </a:ext>
            </a:extLst>
          </p:cNvPr>
          <p:cNvGraphicFramePr>
            <a:graphicFrameLocks noGrp="1"/>
          </p:cNvGraphicFramePr>
          <p:nvPr>
            <p:extLst>
              <p:ext uri="{D42A27DB-BD31-4B8C-83A1-F6EECF244321}">
                <p14:modId xmlns:p14="http://schemas.microsoft.com/office/powerpoint/2010/main" val="864822057"/>
              </p:ext>
            </p:extLst>
          </p:nvPr>
        </p:nvGraphicFramePr>
        <p:xfrm>
          <a:off x="180000" y="2340000"/>
          <a:ext cx="9071478" cy="2173608"/>
        </p:xfrm>
        <a:graphic>
          <a:graphicData uri="http://schemas.openxmlformats.org/drawingml/2006/table">
            <a:tbl>
              <a:tblPr firstRow="1" bandRow="1">
                <a:tableStyleId>{5940675A-B579-460E-94D1-54222C63F5DA}</a:tableStyleId>
              </a:tblPr>
              <a:tblGrid>
                <a:gridCol w="899478">
                  <a:extLst>
                    <a:ext uri="{9D8B030D-6E8A-4147-A177-3AD203B41FA5}">
                      <a16:colId xmlns:a16="http://schemas.microsoft.com/office/drawing/2014/main" val="2254968443"/>
                    </a:ext>
                  </a:extLst>
                </a:gridCol>
                <a:gridCol w="2016000">
                  <a:extLst>
                    <a:ext uri="{9D8B030D-6E8A-4147-A177-3AD203B41FA5}">
                      <a16:colId xmlns:a16="http://schemas.microsoft.com/office/drawing/2014/main" val="3520424954"/>
                    </a:ext>
                  </a:extLst>
                </a:gridCol>
                <a:gridCol w="3132000">
                  <a:extLst>
                    <a:ext uri="{9D8B030D-6E8A-4147-A177-3AD203B41FA5}">
                      <a16:colId xmlns:a16="http://schemas.microsoft.com/office/drawing/2014/main" val="2172448079"/>
                    </a:ext>
                  </a:extLst>
                </a:gridCol>
                <a:gridCol w="1584000">
                  <a:extLst>
                    <a:ext uri="{9D8B030D-6E8A-4147-A177-3AD203B41FA5}">
                      <a16:colId xmlns:a16="http://schemas.microsoft.com/office/drawing/2014/main" val="2871919257"/>
                    </a:ext>
                  </a:extLst>
                </a:gridCol>
                <a:gridCol w="1440000">
                  <a:extLst>
                    <a:ext uri="{9D8B030D-6E8A-4147-A177-3AD203B41FA5}">
                      <a16:colId xmlns:a16="http://schemas.microsoft.com/office/drawing/2014/main" val="4063479169"/>
                    </a:ext>
                  </a:extLst>
                </a:gridCol>
              </a:tblGrid>
              <a:tr h="182922">
                <a:tc>
                  <a:txBody>
                    <a:bodyPr/>
                    <a:lstStyle/>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パターン</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ctr"/>
                      <a:r>
                        <a:rPr kumimoji="1" lang="en-US" altLang="ja-JP" sz="1600" b="1" dirty="0">
                          <a:solidFill>
                            <a:schemeClr val="tx1"/>
                          </a:solidFill>
                          <a:latin typeface="Meiryo UI" panose="020B0604030504040204" pitchFamily="50" charset="-128"/>
                          <a:ea typeface="Meiryo UI" panose="020B0604030504040204" pitchFamily="50" charset="-128"/>
                        </a:rPr>
                        <a:t>Word Embedding</a:t>
                      </a:r>
                    </a:p>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アルゴリズム</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検証する仮説</a:t>
                      </a:r>
                      <a:endParaRPr kumimoji="1" lang="en-US" altLang="ja-JP" sz="1600" b="1"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使用するデータ</a:t>
                      </a:r>
                      <a:endParaRPr kumimoji="1" lang="en-US" altLang="ja-JP" sz="1600" b="1"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クラスタリング</a:t>
                      </a:r>
                      <a:endParaRPr kumimoji="1" lang="en-US" altLang="ja-JP" sz="1600" b="1" dirty="0">
                        <a:solidFill>
                          <a:schemeClr val="tx1"/>
                        </a:solidFill>
                        <a:latin typeface="Meiryo UI" panose="020B0604030504040204" pitchFamily="50" charset="-128"/>
                        <a:ea typeface="Meiryo UI" panose="020B0604030504040204" pitchFamily="50" charset="-128"/>
                      </a:endParaRPr>
                    </a:p>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アルゴリズム</a:t>
                      </a:r>
                      <a:endParaRPr kumimoji="1" lang="en-US" altLang="ja-JP" sz="1600" b="1"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8247608"/>
                  </a:ext>
                </a:extLst>
              </a:tr>
              <a:tr h="323125">
                <a:tc>
                  <a:txBody>
                    <a:bodyPr/>
                    <a:lstStyle/>
                    <a:p>
                      <a:pPr marL="360000" indent="-360000" algn="ctr"/>
                      <a:r>
                        <a:rPr kumimoji="1" lang="en-US" altLang="ja-JP" sz="1600" b="0" dirty="0">
                          <a:solidFill>
                            <a:schemeClr val="tx1"/>
                          </a:solidFill>
                          <a:latin typeface="Meiryo UI" panose="020B0604030504040204" pitchFamily="50" charset="-128"/>
                          <a:ea typeface="Meiryo UI" panose="020B0604030504040204" pitchFamily="50" charset="-128"/>
                        </a:rPr>
                        <a:t>A</a:t>
                      </a:r>
                      <a:endParaRPr kumimoji="1" lang="ja-JP" altLang="en-US"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a:solidFill>
                            <a:schemeClr val="tx1"/>
                          </a:solidFill>
                          <a:latin typeface="Meiryo UI" panose="020B0604030504040204" pitchFamily="50" charset="-128"/>
                          <a:ea typeface="Meiryo UI" panose="020B0604030504040204" pitchFamily="50" charset="-128"/>
                        </a:rPr>
                        <a:t>word2vec</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indent="-360000">
                        <a:buFont typeface="Arial" panose="020B0604020202020204" pitchFamily="34" charset="0"/>
                        <a:buChar char="•"/>
                      </a:pPr>
                      <a:r>
                        <a:rPr kumimoji="1" lang="ja-JP" altLang="en-US" sz="1600" b="0" i="0" kern="1200" dirty="0">
                          <a:solidFill>
                            <a:schemeClr val="tx1"/>
                          </a:solidFill>
                          <a:effectLst/>
                          <a:latin typeface="Meiryo UI" panose="020B0604030504040204" pitchFamily="50" charset="-128"/>
                          <a:ea typeface="Meiryo UI" panose="020B0604030504040204" pitchFamily="50" charset="-128"/>
                          <a:cs typeface="+mn-cs"/>
                        </a:rPr>
                        <a:t>次元を変化させた時にクラスタリング結果がどのように変化するか</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住林問合せ内容データ</a:t>
                      </a:r>
                      <a:endPar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marR="0" lvl="0" indent="-3600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a:solidFill>
                            <a:schemeClr val="tx1"/>
                          </a:solidFill>
                          <a:latin typeface="Meiryo UI" panose="020B0604030504040204" pitchFamily="50" charset="-128"/>
                          <a:ea typeface="Meiryo UI" panose="020B0604030504040204" pitchFamily="50" charset="-128"/>
                        </a:rPr>
                        <a:t>PLSA</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1670525"/>
                  </a:ext>
                </a:extLst>
              </a:tr>
              <a:tr h="463327">
                <a:tc>
                  <a:txBody>
                    <a:bodyPr/>
                    <a:lstStyle/>
                    <a:p>
                      <a:pPr marL="360000" indent="-360000" algn="ctr"/>
                      <a:r>
                        <a:rPr kumimoji="1" lang="en-US" altLang="ja-JP" sz="1600" b="0" dirty="0">
                          <a:solidFill>
                            <a:schemeClr val="tx1"/>
                          </a:solidFill>
                          <a:latin typeface="Meiryo UI" panose="020B0604030504040204" pitchFamily="50" charset="-128"/>
                          <a:ea typeface="Meiryo UI" panose="020B0604030504040204" pitchFamily="50" charset="-128"/>
                        </a:rPr>
                        <a:t>B</a:t>
                      </a:r>
                      <a:endParaRPr kumimoji="1" lang="ja-JP" altLang="en-US"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solidFill>
                            <a:schemeClr val="tx1"/>
                          </a:solidFill>
                          <a:latin typeface="Meiryo UI" panose="020B0604030504040204" pitchFamily="50" charset="-128"/>
                          <a:ea typeface="Meiryo UI" panose="020B0604030504040204" pitchFamily="50" charset="-128"/>
                        </a:rPr>
                        <a:t>BoW</a:t>
                      </a:r>
                      <a:endParaRPr lang="en-US" altLang="ja-JP" sz="1600" dirty="0">
                        <a:solidFill>
                          <a:schemeClr val="tx1"/>
                        </a:solidFill>
                        <a:latin typeface="Meiryo UI" panose="020B0604030504040204" pitchFamily="50" charset="-128"/>
                        <a:ea typeface="Meiryo UI" panose="020B0604030504040204" pitchFamily="50" charset="-128"/>
                      </a:endParaRPr>
                    </a:p>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a:solidFill>
                            <a:schemeClr val="tx1"/>
                          </a:solidFill>
                          <a:latin typeface="Meiryo UI" panose="020B0604030504040204" pitchFamily="50" charset="-128"/>
                          <a:ea typeface="Meiryo UI" panose="020B0604030504040204" pitchFamily="50" charset="-128"/>
                        </a:rPr>
                        <a:t>TF-IDF</a:t>
                      </a:r>
                    </a:p>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a:solidFill>
                            <a:schemeClr val="tx1"/>
                          </a:solidFill>
                          <a:latin typeface="Meiryo UI" panose="020B0604030504040204" pitchFamily="50" charset="-128"/>
                          <a:ea typeface="Meiryo UI" panose="020B0604030504040204" pitchFamily="50" charset="-128"/>
                        </a:rPr>
                        <a:t>Word2vec</a:t>
                      </a:r>
                    </a:p>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a:solidFill>
                            <a:schemeClr val="tx1"/>
                          </a:solidFill>
                          <a:latin typeface="Meiryo UI" panose="020B0604030504040204" pitchFamily="50" charset="-128"/>
                          <a:ea typeface="Meiryo UI" panose="020B0604030504040204" pitchFamily="50" charset="-128"/>
                        </a:rPr>
                        <a:t>BERT</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indent="-360000" algn="l">
                        <a:buFont typeface="Arial" panose="020B0604020202020204" pitchFamily="34" charset="0"/>
                        <a:buChar char="•"/>
                      </a:pPr>
                      <a:r>
                        <a:rPr lang="en-US" altLang="ja-JP" sz="1600" dirty="0">
                          <a:solidFill>
                            <a:schemeClr val="tx1"/>
                          </a:solidFill>
                          <a:latin typeface="Meiryo UI" panose="020B0604030504040204" pitchFamily="50" charset="-128"/>
                          <a:ea typeface="Meiryo UI" panose="020B0604030504040204" pitchFamily="50" charset="-128"/>
                        </a:rPr>
                        <a:t>1</a:t>
                      </a:r>
                      <a:r>
                        <a:rPr lang="ja-JP" altLang="en-US" sz="1600" dirty="0">
                          <a:solidFill>
                            <a:schemeClr val="tx1"/>
                          </a:solidFill>
                          <a:latin typeface="Meiryo UI" panose="020B0604030504040204" pitchFamily="50" charset="-128"/>
                          <a:ea typeface="Meiryo UI" panose="020B0604030504040204" pitchFamily="50" charset="-128"/>
                        </a:rPr>
                        <a:t>データの文章が短い場合と長い場合とで、クラスタリングがうまくできているアルゴリズムは何か</a:t>
                      </a:r>
                      <a:endParaRPr lang="en-US" altLang="ja-JP" sz="160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indent="-360000" algn="l">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特許データ</a:t>
                      </a:r>
                      <a:endParaRPr lang="en-US" altLang="ja-JP" sz="1600" dirty="0">
                        <a:solidFill>
                          <a:schemeClr val="tx1"/>
                        </a:solidFill>
                        <a:latin typeface="Meiryo UI" panose="020B0604030504040204" pitchFamily="50" charset="-128"/>
                        <a:ea typeface="Meiryo UI" panose="020B0604030504040204" pitchFamily="50" charset="-128"/>
                      </a:endParaRPr>
                    </a:p>
                    <a:p>
                      <a:pPr marL="360000" indent="-360000" algn="l">
                        <a:buFont typeface="Arial" panose="020B0604020202020204" pitchFamily="34" charset="0"/>
                        <a:buChar char="•"/>
                      </a:pPr>
                      <a:r>
                        <a:rPr kumimoji="1" lang="ja-JP" altLang="en-US" sz="1600" b="0" dirty="0">
                          <a:solidFill>
                            <a:schemeClr val="tx1"/>
                          </a:solidFill>
                          <a:latin typeface="Meiryo UI" panose="020B0604030504040204" pitchFamily="50" charset="-128"/>
                          <a:ea typeface="Meiryo UI" panose="020B0604030504040204" pitchFamily="50" charset="-128"/>
                        </a:rPr>
                        <a:t>住林問合せ内容データ</a:t>
                      </a:r>
                      <a:endParaRPr kumimoji="1" lang="en-US" altLang="ja-JP"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60000" indent="-360000" algn="ctr">
                        <a:buFont typeface="Arial" panose="020B0604020202020204" pitchFamily="34" charset="0"/>
                        <a:buChar char="•"/>
                      </a:pPr>
                      <a:r>
                        <a:rPr lang="en-US" altLang="ja-JP" sz="1600" dirty="0">
                          <a:solidFill>
                            <a:schemeClr val="tx1"/>
                          </a:solidFill>
                          <a:latin typeface="Meiryo UI" panose="020B0604030504040204" pitchFamily="50" charset="-128"/>
                          <a:ea typeface="Meiryo UI" panose="020B0604030504040204" pitchFamily="50" charset="-128"/>
                        </a:rPr>
                        <a:t>PLSA</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7986742"/>
                  </a:ext>
                </a:extLst>
              </a:tr>
            </a:tbl>
          </a:graphicData>
        </a:graphic>
      </p:graphicFrame>
      <p:sp>
        <p:nvSpPr>
          <p:cNvPr id="12" name="テキスト ボックス 11">
            <a:extLst>
              <a:ext uri="{FF2B5EF4-FFF2-40B4-BE49-F238E27FC236}">
                <a16:creationId xmlns:a16="http://schemas.microsoft.com/office/drawing/2014/main" id="{4D9EE305-9688-48BE-9E61-BE881B226F4E}"/>
              </a:ext>
            </a:extLst>
          </p:cNvPr>
          <p:cNvSpPr txBox="1"/>
          <p:nvPr/>
        </p:nvSpPr>
        <p:spPr>
          <a:xfrm>
            <a:off x="540000" y="5112000"/>
            <a:ext cx="9000000" cy="830997"/>
          </a:xfrm>
          <a:prstGeom prst="rect">
            <a:avLst/>
          </a:prstGeom>
          <a:noFill/>
        </p:spPr>
        <p:txBody>
          <a:bodyPr wrap="square" rtlCol="0">
            <a:spAutoFit/>
          </a:bodyPr>
          <a:lstStyle/>
          <a:p>
            <a:pPr marL="360000" indent="-360000" algn="l">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パターン</a:t>
            </a:r>
            <a:r>
              <a:rPr lang="en-US" altLang="ja-JP" sz="1600" dirty="0">
                <a:latin typeface="Meiryo UI" panose="020B0604030504040204" pitchFamily="50" charset="-128"/>
                <a:ea typeface="Meiryo UI" panose="020B0604030504040204" pitchFamily="50" charset="-128"/>
              </a:rPr>
              <a:t>A</a:t>
            </a:r>
            <a:r>
              <a:rPr lang="ja-JP" altLang="en-US" sz="1600" dirty="0">
                <a:latin typeface="Meiryo UI" panose="020B0604030504040204" pitchFamily="50" charset="-128"/>
                <a:ea typeface="Meiryo UI" panose="020B0604030504040204" pitchFamily="50" charset="-128"/>
              </a:rPr>
              <a:t>では</a:t>
            </a:r>
            <a:r>
              <a:rPr lang="en-US" altLang="ja-JP" sz="1600" dirty="0">
                <a:latin typeface="Meiryo UI" panose="020B0604030504040204" pitchFamily="50" charset="-128"/>
                <a:ea typeface="Meiryo UI" panose="020B0604030504040204" pitchFamily="50" charset="-128"/>
              </a:rPr>
              <a:t>word2vec</a:t>
            </a:r>
            <a:r>
              <a:rPr lang="ja-JP" altLang="en-US" sz="1600" dirty="0">
                <a:latin typeface="Meiryo UI" panose="020B0604030504040204" pitchFamily="50" charset="-128"/>
                <a:ea typeface="Meiryo UI" panose="020B0604030504040204" pitchFamily="50" charset="-128"/>
              </a:rPr>
              <a:t>の次元数の変化が分類結果にどのような影響を与えるかについて検証します。</a:t>
            </a:r>
            <a:endParaRPr lang="en-US" altLang="ja-JP" sz="1600" dirty="0">
              <a:latin typeface="Meiryo UI" panose="020B0604030504040204" pitchFamily="50" charset="-128"/>
              <a:ea typeface="Meiryo UI" panose="020B0604030504040204" pitchFamily="50" charset="-128"/>
            </a:endParaRPr>
          </a:p>
          <a:p>
            <a:pPr marL="360000" indent="-360000" algn="l">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パターン</a:t>
            </a:r>
            <a:r>
              <a:rPr lang="en-US" altLang="ja-JP" sz="1600" dirty="0">
                <a:latin typeface="Meiryo UI" panose="020B0604030504040204" pitchFamily="50" charset="-128"/>
                <a:ea typeface="Meiryo UI" panose="020B0604030504040204" pitchFamily="50" charset="-128"/>
              </a:rPr>
              <a:t>B</a:t>
            </a:r>
            <a:r>
              <a:rPr lang="ja-JP" altLang="en-US" sz="1600" dirty="0">
                <a:latin typeface="Meiryo UI" panose="020B0604030504040204" pitchFamily="50" charset="-128"/>
                <a:ea typeface="Meiryo UI" panose="020B0604030504040204" pitchFamily="50" charset="-128"/>
              </a:rPr>
              <a:t>ではデータと</a:t>
            </a:r>
            <a:r>
              <a:rPr lang="en-US" altLang="ja-JP" sz="1600" dirty="0">
                <a:latin typeface="Meiryo UI" panose="020B0604030504040204" pitchFamily="50" charset="-128"/>
                <a:ea typeface="Meiryo UI" panose="020B0604030504040204" pitchFamily="50" charset="-128"/>
              </a:rPr>
              <a:t>Word Embedding</a:t>
            </a:r>
            <a:r>
              <a:rPr lang="ja-JP" altLang="en-US" sz="1600" dirty="0">
                <a:latin typeface="Meiryo UI" panose="020B0604030504040204" pitchFamily="50" charset="-128"/>
                <a:ea typeface="Meiryo UI" panose="020B0604030504040204" pitchFamily="50" charset="-128"/>
              </a:rPr>
              <a:t>アルゴリズムを変化させて、各データにおける最適なアルゴリズムを把握するための検証を行います。</a:t>
            </a:r>
            <a:endParaRPr lang="en-US" altLang="ja-JP" sz="1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36EED7A4-60C3-404C-AF72-8D561B381259}"/>
              </a:ext>
            </a:extLst>
          </p:cNvPr>
          <p:cNvSpPr/>
          <p:nvPr/>
        </p:nvSpPr>
        <p:spPr>
          <a:xfrm>
            <a:off x="9579177" y="2340000"/>
            <a:ext cx="1614272" cy="2173608"/>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質問事項⑤、⑥</a:t>
            </a:r>
            <a:endParaRPr kumimoji="1" lang="en-US" altLang="ja-JP" sz="1600" b="1" dirty="0">
              <a:solidFill>
                <a:schemeClr val="tx1"/>
              </a:solidFill>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12334A9D-6BC9-4B2E-B442-B521495EA593}"/>
              </a:ext>
            </a:extLst>
          </p:cNvPr>
          <p:cNvSpPr>
            <a:spLocks noGrp="1"/>
          </p:cNvSpPr>
          <p:nvPr>
            <p:ph type="sldNum" sz="quarter" idx="12"/>
          </p:nvPr>
        </p:nvSpPr>
        <p:spPr/>
        <p:txBody>
          <a:bodyPr/>
          <a:lstStyle/>
          <a:p>
            <a:fld id="{4A0ABA21-04CE-4531-99B2-420D29D6D622}" type="slidenum">
              <a:rPr lang="ja-JP" altLang="en-US" smtClean="0"/>
              <a:pPr/>
              <a:t>16</a:t>
            </a:fld>
            <a:endParaRPr lang="ja-JP" altLang="en-US"/>
          </a:p>
        </p:txBody>
      </p:sp>
    </p:spTree>
    <p:extLst>
      <p:ext uri="{BB962C8B-B14F-4D97-AF65-F5344CB8AC3E}">
        <p14:creationId xmlns:p14="http://schemas.microsoft.com/office/powerpoint/2010/main" val="2014453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9A5414DE-28D0-46C3-8011-D894D7A71CC2}"/>
              </a:ext>
            </a:extLst>
          </p:cNvPr>
          <p:cNvSpPr/>
          <p:nvPr/>
        </p:nvSpPr>
        <p:spPr>
          <a:xfrm>
            <a:off x="1353095" y="2409709"/>
            <a:ext cx="3039967" cy="2095792"/>
          </a:xfrm>
          <a:prstGeom prst="roundRect">
            <a:avLst/>
          </a:prstGeom>
          <a:solidFill>
            <a:schemeClr val="bg2"/>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241674" cy="720000"/>
          </a:xfrm>
        </p:spPr>
        <p:txBody>
          <a:bodyPr lIns="72000" tIns="72000" rIns="72000" bIns="72000">
            <a:noAutofit/>
          </a:bodyPr>
          <a:lstStyle/>
          <a:p>
            <a:r>
              <a:rPr kumimoji="1" lang="ja-JP" altLang="en-US" sz="3200" dirty="0">
                <a:latin typeface="Meiryo UI" panose="020B0604030504040204" pitchFamily="50" charset="-128"/>
                <a:ea typeface="Meiryo UI" panose="020B0604030504040204" pitchFamily="50" charset="-128"/>
              </a:rPr>
              <a:t>研究①　</a:t>
            </a:r>
            <a:r>
              <a:rPr kumimoji="1" lang="en-US" altLang="ja-JP" sz="3200" dirty="0">
                <a:latin typeface="Meiryo UI" panose="020B0604030504040204" pitchFamily="50" charset="-128"/>
                <a:ea typeface="Meiryo UI" panose="020B0604030504040204" pitchFamily="50" charset="-128"/>
              </a:rPr>
              <a:t>Word Embedding</a:t>
            </a:r>
            <a:r>
              <a:rPr kumimoji="1" lang="ja-JP" altLang="en-US" sz="3200" dirty="0">
                <a:latin typeface="Meiryo UI" panose="020B0604030504040204" pitchFamily="50" charset="-128"/>
                <a:ea typeface="Meiryo UI" panose="020B0604030504040204" pitchFamily="50" charset="-128"/>
              </a:rPr>
              <a:t>アルゴリズム　検証方法　</a:t>
            </a:r>
          </a:p>
        </p:txBody>
      </p:sp>
      <p:sp>
        <p:nvSpPr>
          <p:cNvPr id="5" name="テキスト プレースホルダー 5">
            <a:extLst>
              <a:ext uri="{FF2B5EF4-FFF2-40B4-BE49-F238E27FC236}">
                <a16:creationId xmlns:a16="http://schemas.microsoft.com/office/drawing/2014/main" id="{E79758E6-4C7F-4C3D-AB5C-5F742FB48C48}"/>
              </a:ext>
            </a:extLst>
          </p:cNvPr>
          <p:cNvSpPr txBox="1">
            <a:spLocks/>
          </p:cNvSpPr>
          <p:nvPr/>
        </p:nvSpPr>
        <p:spPr>
          <a:xfrm>
            <a:off x="539999" y="1080000"/>
            <a:ext cx="9144000" cy="720000"/>
          </a:xfrm>
          <a:prstGeom prst="rect">
            <a:avLst/>
          </a:prstGeom>
        </p:spPr>
        <p:txBody>
          <a:bodyPr vert="horz" lIns="72000" tIns="72000" rIns="72000" bIns="72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altLang="ja-JP" sz="2000" b="1" dirty="0">
                <a:latin typeface="Meiryo UI" panose="020B0604030504040204" pitchFamily="50" charset="-128"/>
                <a:ea typeface="Meiryo UI" panose="020B0604030504040204" pitchFamily="50" charset="-128"/>
              </a:rPr>
              <a:t>Word2vec</a:t>
            </a:r>
            <a:r>
              <a:rPr lang="ja-JP" altLang="en-US" sz="2000" b="1" dirty="0">
                <a:latin typeface="Meiryo UI" panose="020B0604030504040204" pitchFamily="50" charset="-128"/>
                <a:ea typeface="Meiryo UI" panose="020B0604030504040204" pitchFamily="50" charset="-128"/>
              </a:rPr>
              <a:t>の次元数を変更した場合、分類結果にどのような違いが出るかを確認します。</a:t>
            </a:r>
            <a:endParaRPr lang="ja-JP" altLang="ja-JP" sz="2000" dirty="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6BCEE272-02B0-4198-B8F3-F09DA6FFDBE6}"/>
              </a:ext>
            </a:extLst>
          </p:cNvPr>
          <p:cNvSpPr txBox="1"/>
          <p:nvPr/>
        </p:nvSpPr>
        <p:spPr>
          <a:xfrm>
            <a:off x="3885042" y="1980000"/>
            <a:ext cx="2204450"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検証方法　パターン</a:t>
            </a:r>
            <a:r>
              <a:rPr lang="en-US" altLang="ja-JP" b="1" dirty="0">
                <a:solidFill>
                  <a:prstClr val="black"/>
                </a:solidFill>
                <a:latin typeface="Meiryo UI" panose="020B0604030504040204" pitchFamily="50" charset="-128"/>
                <a:ea typeface="Meiryo UI" panose="020B0604030504040204" pitchFamily="50" charset="-128"/>
              </a:rPr>
              <a:t>A</a:t>
            </a:r>
            <a:endParaRPr lang="ja-JP" altLang="en-US" b="1" dirty="0">
              <a:solidFill>
                <a:prstClr val="black"/>
              </a:solidFill>
              <a:latin typeface="Meiryo UI" panose="020B0604030504040204" pitchFamily="50" charset="-128"/>
              <a:ea typeface="Meiryo UI" panose="020B0604030504040204" pitchFamily="50" charset="-128"/>
            </a:endParaRPr>
          </a:p>
        </p:txBody>
      </p:sp>
      <p:sp>
        <p:nvSpPr>
          <p:cNvPr id="9" name="フローチャート: 組合せ 8">
            <a:extLst>
              <a:ext uri="{FF2B5EF4-FFF2-40B4-BE49-F238E27FC236}">
                <a16:creationId xmlns:a16="http://schemas.microsoft.com/office/drawing/2014/main" id="{4CA6BC6E-474C-4652-AF8F-DA1622B84170}"/>
              </a:ext>
            </a:extLst>
          </p:cNvPr>
          <p:cNvSpPr/>
          <p:nvPr/>
        </p:nvSpPr>
        <p:spPr>
          <a:xfrm rot="16200000">
            <a:off x="4342090" y="3253949"/>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4E92EC5E-5E1C-44F2-B336-600CBBE0C4A8}"/>
              </a:ext>
            </a:extLst>
          </p:cNvPr>
          <p:cNvSpPr txBox="1"/>
          <p:nvPr/>
        </p:nvSpPr>
        <p:spPr>
          <a:xfrm>
            <a:off x="6532853" y="2340000"/>
            <a:ext cx="1811359" cy="338554"/>
          </a:xfrm>
          <a:prstGeom prst="rect">
            <a:avLst/>
          </a:prstGeom>
          <a:noFill/>
        </p:spPr>
        <p:txBody>
          <a:bodyPr wrap="square" rtlCol="0">
            <a:spAutoFit/>
          </a:bodyPr>
          <a:lstStyle/>
          <a:p>
            <a:pPr algn="l"/>
            <a:r>
              <a:rPr lang="ja-JP" altLang="en-US" sz="1600" dirty="0">
                <a:latin typeface="Meiryo UI" panose="020B0604030504040204" pitchFamily="50" charset="-128"/>
                <a:ea typeface="Meiryo UI" panose="020B0604030504040204" pitchFamily="50" charset="-128"/>
              </a:rPr>
              <a:t>アウトプットイメージ</a:t>
            </a:r>
            <a:endParaRPr lang="en-US" altLang="ja-JP" sz="1600" dirty="0">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D11D5587-2CBE-4F2E-9CA7-8C9BF5FE2B19}"/>
              </a:ext>
            </a:extLst>
          </p:cNvPr>
          <p:cNvSpPr/>
          <p:nvPr/>
        </p:nvSpPr>
        <p:spPr>
          <a:xfrm>
            <a:off x="2079006" y="2810475"/>
            <a:ext cx="1536023" cy="360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次元</a:t>
            </a:r>
            <a:r>
              <a:rPr kumimoji="1" lang="en-US" altLang="ja-JP" sz="1600" b="1" dirty="0">
                <a:solidFill>
                  <a:schemeClr val="tx1"/>
                </a:solidFill>
                <a:latin typeface="Meiryo UI" panose="020B0604030504040204" pitchFamily="50" charset="-128"/>
                <a:ea typeface="Meiryo UI" panose="020B0604030504040204" pitchFamily="50" charset="-128"/>
              </a:rPr>
              <a:t>100</a:t>
            </a:r>
          </a:p>
        </p:txBody>
      </p:sp>
      <p:sp>
        <p:nvSpPr>
          <p:cNvPr id="16" name="正方形/長方形 15">
            <a:extLst>
              <a:ext uri="{FF2B5EF4-FFF2-40B4-BE49-F238E27FC236}">
                <a16:creationId xmlns:a16="http://schemas.microsoft.com/office/drawing/2014/main" id="{BD6E2589-545F-4F67-BDF5-3DCDBAA30891}"/>
              </a:ext>
            </a:extLst>
          </p:cNvPr>
          <p:cNvSpPr/>
          <p:nvPr/>
        </p:nvSpPr>
        <p:spPr>
          <a:xfrm>
            <a:off x="2072248" y="3315007"/>
            <a:ext cx="1536023" cy="360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次元</a:t>
            </a:r>
            <a:r>
              <a:rPr kumimoji="1" lang="en-US" altLang="ja-JP" sz="1600" b="1" dirty="0">
                <a:solidFill>
                  <a:schemeClr val="tx1"/>
                </a:solidFill>
                <a:latin typeface="Meiryo UI" panose="020B0604030504040204" pitchFamily="50" charset="-128"/>
                <a:ea typeface="Meiryo UI" panose="020B0604030504040204" pitchFamily="50" charset="-128"/>
              </a:rPr>
              <a:t>200</a:t>
            </a:r>
          </a:p>
        </p:txBody>
      </p:sp>
      <p:sp>
        <p:nvSpPr>
          <p:cNvPr id="17" name="テキスト ボックス 16">
            <a:extLst>
              <a:ext uri="{FF2B5EF4-FFF2-40B4-BE49-F238E27FC236}">
                <a16:creationId xmlns:a16="http://schemas.microsoft.com/office/drawing/2014/main" id="{8F31AACC-2D3D-42A0-95D9-68B22499BD24}"/>
              </a:ext>
            </a:extLst>
          </p:cNvPr>
          <p:cNvSpPr txBox="1"/>
          <p:nvPr/>
        </p:nvSpPr>
        <p:spPr>
          <a:xfrm flipH="1">
            <a:off x="2606309" y="3662960"/>
            <a:ext cx="615553" cy="427293"/>
          </a:xfrm>
          <a:prstGeom prst="rect">
            <a:avLst/>
          </a:prstGeom>
          <a:noFill/>
        </p:spPr>
        <p:txBody>
          <a:bodyPr vert="eaVert" wrap="square" rtlCol="0" anchor="ctr">
            <a:spAutoFit/>
          </a:bodyPr>
          <a:lstStyle/>
          <a:p>
            <a:pPr algn="ctr"/>
            <a:r>
              <a:rPr kumimoji="1" lang="en-US" altLang="ja-JP" sz="2800" dirty="0"/>
              <a:t>…</a:t>
            </a:r>
            <a:endParaRPr kumimoji="1" lang="ja-JP" altLang="en-US" sz="2800" dirty="0"/>
          </a:p>
        </p:txBody>
      </p:sp>
      <p:cxnSp>
        <p:nvCxnSpPr>
          <p:cNvPr id="18" name="直線矢印コネクタ 17">
            <a:extLst>
              <a:ext uri="{FF2B5EF4-FFF2-40B4-BE49-F238E27FC236}">
                <a16:creationId xmlns:a16="http://schemas.microsoft.com/office/drawing/2014/main" id="{C3454980-0166-492A-8205-FF4FBC31A6BA}"/>
              </a:ext>
            </a:extLst>
          </p:cNvPr>
          <p:cNvCxnSpPr>
            <a:cxnSpLocks/>
          </p:cNvCxnSpPr>
          <p:nvPr/>
        </p:nvCxnSpPr>
        <p:spPr>
          <a:xfrm>
            <a:off x="5696156" y="4191020"/>
            <a:ext cx="229585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57044252-2D31-4BA4-8DE6-5950D1B1A67F}"/>
              </a:ext>
            </a:extLst>
          </p:cNvPr>
          <p:cNvCxnSpPr>
            <a:cxnSpLocks/>
          </p:cNvCxnSpPr>
          <p:nvPr/>
        </p:nvCxnSpPr>
        <p:spPr>
          <a:xfrm flipV="1">
            <a:off x="5696156" y="3106911"/>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97FF2024-D4FE-4151-BB57-1E0ABAC68E42}"/>
              </a:ext>
            </a:extLst>
          </p:cNvPr>
          <p:cNvSpPr txBox="1"/>
          <p:nvPr/>
        </p:nvSpPr>
        <p:spPr>
          <a:xfrm>
            <a:off x="8029199" y="4047330"/>
            <a:ext cx="765189" cy="307777"/>
          </a:xfrm>
          <a:prstGeom prst="rect">
            <a:avLst/>
          </a:prstGeom>
          <a:noFill/>
        </p:spPr>
        <p:txBody>
          <a:bodyPr wrap="square" rtlCol="0">
            <a:spAutoFit/>
          </a:bodyPr>
          <a:lstStyle/>
          <a:p>
            <a:pPr algn="ctr"/>
            <a:r>
              <a:rPr kumimoji="1" lang="ja-JP" altLang="en-US" sz="1400" dirty="0">
                <a:latin typeface="Meiryo UI" panose="020B0604030504040204" pitchFamily="50" charset="-128"/>
                <a:ea typeface="Meiryo UI" panose="020B0604030504040204" pitchFamily="50" charset="-128"/>
              </a:rPr>
              <a:t>次元数</a:t>
            </a:r>
          </a:p>
        </p:txBody>
      </p:sp>
      <p:sp>
        <p:nvSpPr>
          <p:cNvPr id="22" name="テキスト ボックス 21">
            <a:extLst>
              <a:ext uri="{FF2B5EF4-FFF2-40B4-BE49-F238E27FC236}">
                <a16:creationId xmlns:a16="http://schemas.microsoft.com/office/drawing/2014/main" id="{CF29EE3C-744B-4148-B55A-0C08CDB51285}"/>
              </a:ext>
            </a:extLst>
          </p:cNvPr>
          <p:cNvSpPr txBox="1"/>
          <p:nvPr/>
        </p:nvSpPr>
        <p:spPr>
          <a:xfrm>
            <a:off x="5300936" y="2813691"/>
            <a:ext cx="791762" cy="307777"/>
          </a:xfrm>
          <a:prstGeom prst="rect">
            <a:avLst/>
          </a:prstGeom>
          <a:noFill/>
        </p:spPr>
        <p:txBody>
          <a:bodyPr wrap="square" rtlCol="0">
            <a:spAutoFit/>
          </a:bodyPr>
          <a:lstStyle/>
          <a:p>
            <a:pPr algn="ctr"/>
            <a:r>
              <a:rPr kumimoji="1" lang="ja-JP" altLang="en-US" sz="1400" dirty="0">
                <a:latin typeface="Meiryo UI" panose="020B0604030504040204" pitchFamily="50" charset="-128"/>
                <a:ea typeface="Meiryo UI" panose="020B0604030504040204" pitchFamily="50" charset="-128"/>
              </a:rPr>
              <a:t>正解率</a:t>
            </a:r>
          </a:p>
        </p:txBody>
      </p:sp>
      <p:sp>
        <p:nvSpPr>
          <p:cNvPr id="24" name="テキスト ボックス 23">
            <a:extLst>
              <a:ext uri="{FF2B5EF4-FFF2-40B4-BE49-F238E27FC236}">
                <a16:creationId xmlns:a16="http://schemas.microsoft.com/office/drawing/2014/main" id="{38E81823-06DB-40F4-8E18-79898DE6D08A}"/>
              </a:ext>
            </a:extLst>
          </p:cNvPr>
          <p:cNvSpPr txBox="1"/>
          <p:nvPr/>
        </p:nvSpPr>
        <p:spPr>
          <a:xfrm>
            <a:off x="5792907" y="3129977"/>
            <a:ext cx="298633" cy="584775"/>
          </a:xfrm>
          <a:prstGeom prst="rect">
            <a:avLst/>
          </a:prstGeom>
          <a:noFill/>
        </p:spPr>
        <p:txBody>
          <a:bodyPr wrap="square" rtlCol="0">
            <a:spAutoFit/>
          </a:bodyPr>
          <a:lstStyle/>
          <a:p>
            <a:pPr algn="ctr"/>
            <a:r>
              <a:rPr kumimoji="1" lang="ja-JP" altLang="en-US" sz="3200" dirty="0">
                <a:solidFill>
                  <a:schemeClr val="accent1"/>
                </a:solidFill>
                <a:latin typeface="Meiryo UI" panose="020B0604030504040204" pitchFamily="50" charset="-128"/>
                <a:ea typeface="Meiryo UI" panose="020B0604030504040204" pitchFamily="50" charset="-128"/>
              </a:rPr>
              <a:t>・</a:t>
            </a:r>
          </a:p>
        </p:txBody>
      </p:sp>
      <p:sp>
        <p:nvSpPr>
          <p:cNvPr id="25" name="テキスト ボックス 24">
            <a:extLst>
              <a:ext uri="{FF2B5EF4-FFF2-40B4-BE49-F238E27FC236}">
                <a16:creationId xmlns:a16="http://schemas.microsoft.com/office/drawing/2014/main" id="{FADAB11A-8E4F-4951-9381-CB2E56105C62}"/>
              </a:ext>
            </a:extLst>
          </p:cNvPr>
          <p:cNvSpPr txBox="1"/>
          <p:nvPr/>
        </p:nvSpPr>
        <p:spPr>
          <a:xfrm>
            <a:off x="6049186" y="3236331"/>
            <a:ext cx="298633" cy="584775"/>
          </a:xfrm>
          <a:prstGeom prst="rect">
            <a:avLst/>
          </a:prstGeom>
          <a:noFill/>
        </p:spPr>
        <p:txBody>
          <a:bodyPr wrap="square" rtlCol="0">
            <a:spAutoFit/>
          </a:bodyPr>
          <a:lstStyle/>
          <a:p>
            <a:pPr algn="ctr"/>
            <a:r>
              <a:rPr kumimoji="1" lang="ja-JP" altLang="en-US" sz="3200" dirty="0">
                <a:solidFill>
                  <a:schemeClr val="accent1"/>
                </a:solidFill>
                <a:latin typeface="Meiryo UI" panose="020B0604030504040204" pitchFamily="50" charset="-128"/>
                <a:ea typeface="Meiryo UI" panose="020B0604030504040204" pitchFamily="50" charset="-128"/>
              </a:rPr>
              <a:t>・</a:t>
            </a:r>
          </a:p>
        </p:txBody>
      </p:sp>
      <p:sp>
        <p:nvSpPr>
          <p:cNvPr id="26" name="テキスト ボックス 25">
            <a:extLst>
              <a:ext uri="{FF2B5EF4-FFF2-40B4-BE49-F238E27FC236}">
                <a16:creationId xmlns:a16="http://schemas.microsoft.com/office/drawing/2014/main" id="{05EE07D2-B011-41B6-BE4D-4EB7DF4C9CBC}"/>
              </a:ext>
            </a:extLst>
          </p:cNvPr>
          <p:cNvSpPr txBox="1"/>
          <p:nvPr/>
        </p:nvSpPr>
        <p:spPr>
          <a:xfrm>
            <a:off x="6284440" y="3214991"/>
            <a:ext cx="298633" cy="584775"/>
          </a:xfrm>
          <a:prstGeom prst="rect">
            <a:avLst/>
          </a:prstGeom>
          <a:noFill/>
        </p:spPr>
        <p:txBody>
          <a:bodyPr wrap="square" rtlCol="0">
            <a:spAutoFit/>
          </a:bodyPr>
          <a:lstStyle/>
          <a:p>
            <a:pPr algn="ctr"/>
            <a:r>
              <a:rPr kumimoji="1" lang="ja-JP" altLang="en-US" sz="3200" dirty="0">
                <a:solidFill>
                  <a:schemeClr val="accent1"/>
                </a:solidFill>
                <a:latin typeface="Meiryo UI" panose="020B0604030504040204" pitchFamily="50" charset="-128"/>
                <a:ea typeface="Meiryo UI" panose="020B0604030504040204" pitchFamily="50" charset="-128"/>
              </a:rPr>
              <a:t>・</a:t>
            </a:r>
          </a:p>
        </p:txBody>
      </p:sp>
      <p:sp>
        <p:nvSpPr>
          <p:cNvPr id="27" name="テキスト ボックス 26">
            <a:extLst>
              <a:ext uri="{FF2B5EF4-FFF2-40B4-BE49-F238E27FC236}">
                <a16:creationId xmlns:a16="http://schemas.microsoft.com/office/drawing/2014/main" id="{F20AFA4E-FCA9-4B41-B0E2-F0ACD641B99D}"/>
              </a:ext>
            </a:extLst>
          </p:cNvPr>
          <p:cNvSpPr txBox="1"/>
          <p:nvPr/>
        </p:nvSpPr>
        <p:spPr>
          <a:xfrm>
            <a:off x="6492643" y="3099803"/>
            <a:ext cx="318709" cy="584775"/>
          </a:xfrm>
          <a:prstGeom prst="rect">
            <a:avLst/>
          </a:prstGeom>
          <a:noFill/>
        </p:spPr>
        <p:txBody>
          <a:bodyPr wrap="square" rtlCol="0">
            <a:spAutoFit/>
          </a:bodyPr>
          <a:lstStyle/>
          <a:p>
            <a:pPr algn="ctr"/>
            <a:r>
              <a:rPr kumimoji="1" lang="ja-JP" altLang="en-US" sz="3200" dirty="0">
                <a:solidFill>
                  <a:schemeClr val="accent1"/>
                </a:solidFill>
                <a:latin typeface="Meiryo UI" panose="020B0604030504040204" pitchFamily="50" charset="-128"/>
                <a:ea typeface="Meiryo UI" panose="020B0604030504040204" pitchFamily="50" charset="-128"/>
              </a:rPr>
              <a:t>・</a:t>
            </a:r>
          </a:p>
        </p:txBody>
      </p:sp>
      <p:sp>
        <p:nvSpPr>
          <p:cNvPr id="28" name="テキスト ボックス 27">
            <a:extLst>
              <a:ext uri="{FF2B5EF4-FFF2-40B4-BE49-F238E27FC236}">
                <a16:creationId xmlns:a16="http://schemas.microsoft.com/office/drawing/2014/main" id="{69E75324-9254-4E22-AB1D-26F95762008F}"/>
              </a:ext>
            </a:extLst>
          </p:cNvPr>
          <p:cNvSpPr txBox="1"/>
          <p:nvPr/>
        </p:nvSpPr>
        <p:spPr>
          <a:xfrm>
            <a:off x="6740159" y="2991249"/>
            <a:ext cx="318709" cy="584775"/>
          </a:xfrm>
          <a:prstGeom prst="rect">
            <a:avLst/>
          </a:prstGeom>
          <a:noFill/>
        </p:spPr>
        <p:txBody>
          <a:bodyPr wrap="square" rtlCol="0">
            <a:spAutoFit/>
          </a:bodyPr>
          <a:lstStyle/>
          <a:p>
            <a:pPr algn="ctr"/>
            <a:r>
              <a:rPr kumimoji="1" lang="ja-JP" altLang="en-US" sz="3200" dirty="0">
                <a:solidFill>
                  <a:schemeClr val="accent1"/>
                </a:solidFill>
                <a:latin typeface="Meiryo UI" panose="020B0604030504040204" pitchFamily="50" charset="-128"/>
                <a:ea typeface="Meiryo UI" panose="020B0604030504040204" pitchFamily="50" charset="-128"/>
              </a:rPr>
              <a:t>・</a:t>
            </a:r>
          </a:p>
        </p:txBody>
      </p:sp>
      <p:sp>
        <p:nvSpPr>
          <p:cNvPr id="29" name="テキスト ボックス 28">
            <a:extLst>
              <a:ext uri="{FF2B5EF4-FFF2-40B4-BE49-F238E27FC236}">
                <a16:creationId xmlns:a16="http://schemas.microsoft.com/office/drawing/2014/main" id="{3966CE46-6D52-41B7-B397-C92FE2A34507}"/>
              </a:ext>
            </a:extLst>
          </p:cNvPr>
          <p:cNvSpPr txBox="1"/>
          <p:nvPr/>
        </p:nvSpPr>
        <p:spPr>
          <a:xfrm>
            <a:off x="6983227" y="3115855"/>
            <a:ext cx="318709" cy="584775"/>
          </a:xfrm>
          <a:prstGeom prst="rect">
            <a:avLst/>
          </a:prstGeom>
          <a:noFill/>
        </p:spPr>
        <p:txBody>
          <a:bodyPr wrap="square" rtlCol="0">
            <a:spAutoFit/>
          </a:bodyPr>
          <a:lstStyle/>
          <a:p>
            <a:pPr algn="ctr"/>
            <a:r>
              <a:rPr kumimoji="1" lang="ja-JP" altLang="en-US" sz="3200" dirty="0">
                <a:solidFill>
                  <a:schemeClr val="accent1"/>
                </a:solidFill>
                <a:latin typeface="Meiryo UI" panose="020B0604030504040204" pitchFamily="50" charset="-128"/>
                <a:ea typeface="Meiryo UI" panose="020B0604030504040204" pitchFamily="50" charset="-128"/>
              </a:rPr>
              <a:t>・</a:t>
            </a:r>
          </a:p>
        </p:txBody>
      </p:sp>
      <p:sp>
        <p:nvSpPr>
          <p:cNvPr id="30" name="テキスト ボックス 29">
            <a:extLst>
              <a:ext uri="{FF2B5EF4-FFF2-40B4-BE49-F238E27FC236}">
                <a16:creationId xmlns:a16="http://schemas.microsoft.com/office/drawing/2014/main" id="{464510B8-9835-4F87-BB81-62C6689F07B0}"/>
              </a:ext>
            </a:extLst>
          </p:cNvPr>
          <p:cNvSpPr txBox="1"/>
          <p:nvPr/>
        </p:nvSpPr>
        <p:spPr>
          <a:xfrm>
            <a:off x="7187866" y="3222141"/>
            <a:ext cx="305760" cy="584775"/>
          </a:xfrm>
          <a:prstGeom prst="rect">
            <a:avLst/>
          </a:prstGeom>
          <a:noFill/>
        </p:spPr>
        <p:txBody>
          <a:bodyPr wrap="square" rtlCol="0">
            <a:spAutoFit/>
          </a:bodyPr>
          <a:lstStyle/>
          <a:p>
            <a:pPr algn="ctr"/>
            <a:r>
              <a:rPr kumimoji="1" lang="ja-JP" altLang="en-US" sz="3200" dirty="0">
                <a:solidFill>
                  <a:schemeClr val="accent1"/>
                </a:solidFill>
                <a:latin typeface="Meiryo UI" panose="020B0604030504040204" pitchFamily="50" charset="-128"/>
                <a:ea typeface="Meiryo UI" panose="020B0604030504040204" pitchFamily="50" charset="-128"/>
              </a:rPr>
              <a:t>・</a:t>
            </a:r>
          </a:p>
        </p:txBody>
      </p:sp>
      <p:sp>
        <p:nvSpPr>
          <p:cNvPr id="38" name="テキスト ボックス 37">
            <a:extLst>
              <a:ext uri="{FF2B5EF4-FFF2-40B4-BE49-F238E27FC236}">
                <a16:creationId xmlns:a16="http://schemas.microsoft.com/office/drawing/2014/main" id="{610F9B21-2286-407D-8B15-00469CE2D379}"/>
              </a:ext>
            </a:extLst>
          </p:cNvPr>
          <p:cNvSpPr txBox="1"/>
          <p:nvPr/>
        </p:nvSpPr>
        <p:spPr>
          <a:xfrm>
            <a:off x="7463269" y="3234596"/>
            <a:ext cx="318709" cy="584775"/>
          </a:xfrm>
          <a:prstGeom prst="rect">
            <a:avLst/>
          </a:prstGeom>
          <a:noFill/>
        </p:spPr>
        <p:txBody>
          <a:bodyPr wrap="square" rtlCol="0">
            <a:spAutoFit/>
          </a:bodyPr>
          <a:lstStyle/>
          <a:p>
            <a:pPr algn="ctr"/>
            <a:r>
              <a:rPr kumimoji="1" lang="ja-JP" altLang="en-US" sz="3200" dirty="0">
                <a:solidFill>
                  <a:schemeClr val="accent1"/>
                </a:solidFill>
                <a:latin typeface="Meiryo UI" panose="020B0604030504040204" pitchFamily="50" charset="-128"/>
                <a:ea typeface="Meiryo UI" panose="020B0604030504040204" pitchFamily="50" charset="-128"/>
              </a:rPr>
              <a:t>・</a:t>
            </a:r>
          </a:p>
        </p:txBody>
      </p:sp>
      <p:sp>
        <p:nvSpPr>
          <p:cNvPr id="41" name="四角形: 角を丸くする 40">
            <a:extLst>
              <a:ext uri="{FF2B5EF4-FFF2-40B4-BE49-F238E27FC236}">
                <a16:creationId xmlns:a16="http://schemas.microsoft.com/office/drawing/2014/main" id="{A22164FF-FA34-4521-A6CA-9BB50D18B620}"/>
              </a:ext>
            </a:extLst>
          </p:cNvPr>
          <p:cNvSpPr/>
          <p:nvPr/>
        </p:nvSpPr>
        <p:spPr>
          <a:xfrm>
            <a:off x="2001381" y="2138473"/>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word2vec</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42" name="テキスト ボックス 41">
            <a:extLst>
              <a:ext uri="{FF2B5EF4-FFF2-40B4-BE49-F238E27FC236}">
                <a16:creationId xmlns:a16="http://schemas.microsoft.com/office/drawing/2014/main" id="{8268CCDF-BEDF-44D2-87BB-B23C6F1ED4B6}"/>
              </a:ext>
            </a:extLst>
          </p:cNvPr>
          <p:cNvSpPr txBox="1"/>
          <p:nvPr/>
        </p:nvSpPr>
        <p:spPr>
          <a:xfrm>
            <a:off x="540000" y="5112000"/>
            <a:ext cx="9000000" cy="1323439"/>
          </a:xfrm>
          <a:prstGeom prst="rect">
            <a:avLst/>
          </a:prstGeom>
          <a:noFill/>
        </p:spPr>
        <p:txBody>
          <a:bodyPr wrap="square" rtlCol="0">
            <a:spAutoFit/>
          </a:bodyPr>
          <a:lstStyle/>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住友林業問合せ内容データを用いて、</a:t>
            </a:r>
            <a:r>
              <a:rPr lang="en-US" altLang="ja-JP" sz="1600" dirty="0">
                <a:latin typeface="Meiryo UI" panose="020B0604030504040204" pitchFamily="50" charset="-128"/>
                <a:ea typeface="Meiryo UI" panose="020B0604030504040204" pitchFamily="50" charset="-128"/>
              </a:rPr>
              <a:t>word2vec</a:t>
            </a:r>
            <a:r>
              <a:rPr lang="ja-JP" altLang="en-US" sz="1600" dirty="0">
                <a:latin typeface="Meiryo UI" panose="020B0604030504040204" pitchFamily="50" charset="-128"/>
                <a:ea typeface="Meiryo UI" panose="020B0604030504040204" pitchFamily="50" charset="-128"/>
              </a:rPr>
              <a:t>の次元数を変化させた際に、結果にどの程度の違いが出るかを調査します。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クラスタリングには、次元の呪いの影響を排除するため、</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を使用します。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評価の際、各データの所属確立が</a:t>
            </a: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番高いクラスターのみへ所属するとし、クラスタリング結果を正解率で比較するのに加え、</a:t>
            </a:r>
            <a:r>
              <a:rPr kumimoji="1" lang="ja-JP" altLang="en-US" sz="1600" dirty="0">
                <a:latin typeface="Meiryo UI" panose="020B0604030504040204" pitchFamily="50" charset="-128"/>
                <a:ea typeface="Meiryo UI" panose="020B0604030504040204" pitchFamily="50" charset="-128"/>
              </a:rPr>
              <a:t>クラスタリング結果を目視で確認します。</a:t>
            </a:r>
            <a:endParaRPr kumimoji="1" lang="en-US" altLang="ja-JP" sz="1600" dirty="0">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92F17BAD-703D-458E-B0E3-68172F7D8FFB}"/>
              </a:ext>
            </a:extLst>
          </p:cNvPr>
          <p:cNvSpPr/>
          <p:nvPr/>
        </p:nvSpPr>
        <p:spPr>
          <a:xfrm>
            <a:off x="2072248" y="4019653"/>
            <a:ext cx="1536023" cy="360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次元</a:t>
            </a:r>
            <a:r>
              <a:rPr kumimoji="1" lang="en-US" altLang="ja-JP" sz="1600" b="1" dirty="0">
                <a:solidFill>
                  <a:schemeClr val="tx1"/>
                </a:solidFill>
                <a:latin typeface="Meiryo UI" panose="020B0604030504040204" pitchFamily="50" charset="-128"/>
                <a:ea typeface="Meiryo UI" panose="020B0604030504040204" pitchFamily="50" charset="-128"/>
              </a:rPr>
              <a:t>1000</a:t>
            </a:r>
          </a:p>
        </p:txBody>
      </p:sp>
      <p:sp>
        <p:nvSpPr>
          <p:cNvPr id="4" name="スライド番号プレースホルダー 3">
            <a:extLst>
              <a:ext uri="{FF2B5EF4-FFF2-40B4-BE49-F238E27FC236}">
                <a16:creationId xmlns:a16="http://schemas.microsoft.com/office/drawing/2014/main" id="{26B6A22B-BAFC-4DE3-8AF5-74A8F5D34649}"/>
              </a:ext>
            </a:extLst>
          </p:cNvPr>
          <p:cNvSpPr>
            <a:spLocks noGrp="1"/>
          </p:cNvSpPr>
          <p:nvPr>
            <p:ph type="sldNum" sz="quarter" idx="12"/>
          </p:nvPr>
        </p:nvSpPr>
        <p:spPr/>
        <p:txBody>
          <a:bodyPr/>
          <a:lstStyle/>
          <a:p>
            <a:fld id="{4A0ABA21-04CE-4531-99B2-420D29D6D622}" type="slidenum">
              <a:rPr lang="ja-JP" altLang="en-US" smtClean="0"/>
              <a:pPr/>
              <a:t>17</a:t>
            </a:fld>
            <a:endParaRPr lang="ja-JP" altLang="en-US"/>
          </a:p>
        </p:txBody>
      </p:sp>
    </p:spTree>
    <p:extLst>
      <p:ext uri="{BB962C8B-B14F-4D97-AF65-F5344CB8AC3E}">
        <p14:creationId xmlns:p14="http://schemas.microsoft.com/office/powerpoint/2010/main" val="3457070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241674" cy="720000"/>
          </a:xfrm>
        </p:spPr>
        <p:txBody>
          <a:bodyPr lIns="72000" tIns="72000" rIns="72000" bIns="72000">
            <a:noAutofit/>
          </a:bodyPr>
          <a:lstStyle/>
          <a:p>
            <a:r>
              <a:rPr kumimoji="1" lang="ja-JP" altLang="en-US" sz="3200" dirty="0">
                <a:latin typeface="Meiryo UI" panose="020B0604030504040204" pitchFamily="50" charset="-128"/>
                <a:ea typeface="Meiryo UI" panose="020B0604030504040204" pitchFamily="50" charset="-128"/>
              </a:rPr>
              <a:t>研究①　</a:t>
            </a:r>
            <a:r>
              <a:rPr kumimoji="1" lang="en-US" altLang="ja-JP" sz="3200" dirty="0">
                <a:latin typeface="Meiryo UI" panose="020B0604030504040204" pitchFamily="50" charset="-128"/>
                <a:ea typeface="Meiryo UI" panose="020B0604030504040204" pitchFamily="50" charset="-128"/>
              </a:rPr>
              <a:t>Word Embedding</a:t>
            </a:r>
            <a:r>
              <a:rPr kumimoji="1" lang="ja-JP" altLang="en-US" sz="3200" dirty="0">
                <a:latin typeface="Meiryo UI" panose="020B0604030504040204" pitchFamily="50" charset="-128"/>
                <a:ea typeface="Meiryo UI" panose="020B0604030504040204" pitchFamily="50" charset="-128"/>
              </a:rPr>
              <a:t>アルゴリズム　検証方法　</a:t>
            </a: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80000"/>
            <a:ext cx="9144000" cy="720000"/>
          </a:xfrm>
          <a:prstGeom prst="rect">
            <a:avLst/>
          </a:prstGeom>
        </p:spPr>
        <p:txBody>
          <a:bodyPr lIns="72000" tIns="72000" rIns="72000" bIns="72000">
            <a:noAutofit/>
          </a:bodyPr>
          <a:lstStyle/>
          <a:p>
            <a:pPr marL="0" indent="0">
              <a:spcBef>
                <a:spcPts val="0"/>
              </a:spcBef>
              <a:buNone/>
            </a:pPr>
            <a:r>
              <a:rPr lang="en-US" altLang="ja-JP" sz="2000" b="1" dirty="0">
                <a:latin typeface="Meiryo UI" panose="020B0604030504040204" pitchFamily="50" charset="-128"/>
                <a:ea typeface="Meiryo UI" panose="020B0604030504040204" pitchFamily="50" charset="-128"/>
              </a:rPr>
              <a:t>2</a:t>
            </a:r>
            <a:r>
              <a:rPr lang="ja-JP" altLang="en-US" sz="2000" b="1" dirty="0">
                <a:latin typeface="Meiryo UI" panose="020B0604030504040204" pitchFamily="50" charset="-128"/>
                <a:ea typeface="Meiryo UI" panose="020B0604030504040204" pitchFamily="50" charset="-128"/>
              </a:rPr>
              <a:t>種類のデータに対して、</a:t>
            </a:r>
            <a:r>
              <a:rPr lang="en-US" altLang="ja-JP" sz="2000" b="1" dirty="0">
                <a:latin typeface="Meiryo UI" panose="020B0604030504040204" pitchFamily="50" charset="-128"/>
                <a:ea typeface="Meiryo UI" panose="020B0604030504040204" pitchFamily="50" charset="-128"/>
              </a:rPr>
              <a:t>4</a:t>
            </a:r>
            <a:r>
              <a:rPr lang="ja-JP" altLang="en-US" sz="2000" b="1" dirty="0">
                <a:latin typeface="Meiryo UI" panose="020B0604030504040204" pitchFamily="50" charset="-128"/>
                <a:ea typeface="Meiryo UI" panose="020B0604030504040204" pitchFamily="50" charset="-128"/>
              </a:rPr>
              <a:t>種類のアルゴリズムを使用して分類を行い、分類結果の違いを確認します。</a:t>
            </a:r>
            <a:endParaRPr lang="ja-JP" altLang="ja-JP" sz="2000"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F0F3FC88-7DE6-49FB-9536-DC133E8A6B30}"/>
              </a:ext>
            </a:extLst>
          </p:cNvPr>
          <p:cNvSpPr txBox="1"/>
          <p:nvPr/>
        </p:nvSpPr>
        <p:spPr>
          <a:xfrm>
            <a:off x="3885042" y="1980000"/>
            <a:ext cx="2194832"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検証方法　パターン</a:t>
            </a:r>
            <a:r>
              <a:rPr lang="en-US" altLang="ja-JP" b="1" dirty="0">
                <a:solidFill>
                  <a:prstClr val="black"/>
                </a:solidFill>
                <a:latin typeface="Meiryo UI" panose="020B0604030504040204" pitchFamily="50" charset="-128"/>
                <a:ea typeface="Meiryo UI" panose="020B0604030504040204" pitchFamily="50" charset="-128"/>
              </a:rPr>
              <a:t>B</a:t>
            </a:r>
            <a:endParaRPr lang="ja-JP" altLang="en-US" b="1" dirty="0">
              <a:solidFill>
                <a:prstClr val="black"/>
              </a:solidFill>
              <a:latin typeface="Meiryo UI" panose="020B0604030504040204" pitchFamily="50" charset="-128"/>
              <a:ea typeface="Meiryo UI" panose="020B0604030504040204" pitchFamily="50" charset="-128"/>
            </a:endParaRPr>
          </a:p>
        </p:txBody>
      </p:sp>
      <p:sp>
        <p:nvSpPr>
          <p:cNvPr id="12" name="フローチャート: 組合せ 11">
            <a:extLst>
              <a:ext uri="{FF2B5EF4-FFF2-40B4-BE49-F238E27FC236}">
                <a16:creationId xmlns:a16="http://schemas.microsoft.com/office/drawing/2014/main" id="{1C10E7DE-0E41-4C27-AA67-CAD1A97135D7}"/>
              </a:ext>
            </a:extLst>
          </p:cNvPr>
          <p:cNvSpPr/>
          <p:nvPr/>
        </p:nvSpPr>
        <p:spPr>
          <a:xfrm rot="16200000">
            <a:off x="4342090" y="3253949"/>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graphicFrame>
        <p:nvGraphicFramePr>
          <p:cNvPr id="27" name="表 4">
            <a:extLst>
              <a:ext uri="{FF2B5EF4-FFF2-40B4-BE49-F238E27FC236}">
                <a16:creationId xmlns:a16="http://schemas.microsoft.com/office/drawing/2014/main" id="{68B59311-19DD-40A3-A34A-BD438F9ABC26}"/>
              </a:ext>
            </a:extLst>
          </p:cNvPr>
          <p:cNvGraphicFramePr>
            <a:graphicFrameLocks noGrp="1"/>
          </p:cNvGraphicFramePr>
          <p:nvPr>
            <p:extLst>
              <p:ext uri="{D42A27DB-BD31-4B8C-83A1-F6EECF244321}">
                <p14:modId xmlns:p14="http://schemas.microsoft.com/office/powerpoint/2010/main" val="2718509089"/>
              </p:ext>
            </p:extLst>
          </p:nvPr>
        </p:nvGraphicFramePr>
        <p:xfrm>
          <a:off x="5506796" y="2700000"/>
          <a:ext cx="3647440" cy="2433320"/>
        </p:xfrm>
        <a:graphic>
          <a:graphicData uri="http://schemas.openxmlformats.org/drawingml/2006/table">
            <a:tbl>
              <a:tblPr firstRow="1" bandRow="1">
                <a:tableStyleId>{5940675A-B579-460E-94D1-54222C63F5DA}</a:tableStyleId>
              </a:tblPr>
              <a:tblGrid>
                <a:gridCol w="1243330">
                  <a:extLst>
                    <a:ext uri="{9D8B030D-6E8A-4147-A177-3AD203B41FA5}">
                      <a16:colId xmlns:a16="http://schemas.microsoft.com/office/drawing/2014/main" val="3471387442"/>
                    </a:ext>
                  </a:extLst>
                </a:gridCol>
                <a:gridCol w="1236980">
                  <a:extLst>
                    <a:ext uri="{9D8B030D-6E8A-4147-A177-3AD203B41FA5}">
                      <a16:colId xmlns:a16="http://schemas.microsoft.com/office/drawing/2014/main" val="1685744524"/>
                    </a:ext>
                  </a:extLst>
                </a:gridCol>
                <a:gridCol w="1167130">
                  <a:extLst>
                    <a:ext uri="{9D8B030D-6E8A-4147-A177-3AD203B41FA5}">
                      <a16:colId xmlns:a16="http://schemas.microsoft.com/office/drawing/2014/main" val="42850387"/>
                    </a:ext>
                  </a:extLst>
                </a:gridCol>
              </a:tblGrid>
              <a:tr h="370840">
                <a:tc rowSpan="2">
                  <a:txBody>
                    <a:bodyPr/>
                    <a:lstStyle/>
                    <a:p>
                      <a:pPr algn="ctr"/>
                      <a:r>
                        <a:rPr kumimoji="1" lang="ja-JP" altLang="en-US" sz="1600" b="1" dirty="0">
                          <a:latin typeface="Meiryo UI" panose="020B0604030504040204" pitchFamily="50" charset="-128"/>
                          <a:ea typeface="Meiryo UI" panose="020B0604030504040204" pitchFamily="50" charset="-128"/>
                        </a:rPr>
                        <a:t>アルゴリズム</a:t>
                      </a:r>
                    </a:p>
                  </a:txBody>
                  <a:tcPr anchor="ctr"/>
                </a:tc>
                <a:tc gridSpan="2">
                  <a:txBody>
                    <a:bodyPr/>
                    <a:lstStyle/>
                    <a:p>
                      <a:pPr algn="ctr"/>
                      <a:r>
                        <a:rPr kumimoji="1" lang="ja-JP" altLang="en-US" sz="1600" b="1" dirty="0">
                          <a:latin typeface="Meiryo UI" panose="020B0604030504040204" pitchFamily="50" charset="-128"/>
                          <a:ea typeface="Meiryo UI" panose="020B0604030504040204" pitchFamily="50" charset="-128"/>
                        </a:rPr>
                        <a:t>正解率</a:t>
                      </a:r>
                    </a:p>
                  </a:txBody>
                  <a:tcPr anchor="ctr"/>
                </a:tc>
                <a:tc hMerge="1">
                  <a:txBody>
                    <a:bodyPr/>
                    <a:lstStyle/>
                    <a:p>
                      <a:pPr algn="ctr"/>
                      <a:endParaRPr kumimoji="1" lang="ja-JP" altLang="en-US" sz="1600" b="1"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4262647797"/>
                  </a:ext>
                </a:extLst>
              </a:tr>
              <a:tr h="370840">
                <a:tc vMerge="1">
                  <a:txBody>
                    <a:bodyPr/>
                    <a:lstStyle/>
                    <a:p>
                      <a:pPr algn="ctr"/>
                      <a:endParaRPr kumimoji="1" lang="ja-JP" altLang="en-US" sz="1600" b="1"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600" b="1" dirty="0">
                          <a:latin typeface="Meiryo UI" panose="020B0604030504040204" pitchFamily="50" charset="-128"/>
                          <a:ea typeface="Meiryo UI" panose="020B0604030504040204" pitchFamily="50" charset="-128"/>
                        </a:rPr>
                        <a:t>住林問合せ</a:t>
                      </a:r>
                      <a:endParaRPr kumimoji="1" lang="en-US" altLang="ja-JP" sz="1600" b="1" dirty="0">
                        <a:latin typeface="Meiryo UI" panose="020B0604030504040204" pitchFamily="50" charset="-128"/>
                        <a:ea typeface="Meiryo UI" panose="020B0604030504040204" pitchFamily="50" charset="-128"/>
                      </a:endParaRPr>
                    </a:p>
                    <a:p>
                      <a:pPr algn="ctr"/>
                      <a:r>
                        <a:rPr kumimoji="1" lang="ja-JP" altLang="en-US" sz="1600" b="1" dirty="0">
                          <a:latin typeface="Meiryo UI" panose="020B0604030504040204" pitchFamily="50" charset="-128"/>
                          <a:ea typeface="Meiryo UI" panose="020B0604030504040204" pitchFamily="50" charset="-128"/>
                        </a:rPr>
                        <a:t>内容データ</a:t>
                      </a:r>
                    </a:p>
                  </a:txBody>
                  <a:tcPr anchor="ctr"/>
                </a:tc>
                <a:tc>
                  <a:txBody>
                    <a:bodyPr/>
                    <a:lstStyle/>
                    <a:p>
                      <a:pPr algn="ctr"/>
                      <a:r>
                        <a:rPr kumimoji="1" lang="ja-JP" altLang="en-US" sz="1600" b="1" dirty="0">
                          <a:latin typeface="Meiryo UI" panose="020B0604030504040204" pitchFamily="50" charset="-128"/>
                          <a:ea typeface="Meiryo UI" panose="020B0604030504040204" pitchFamily="50" charset="-128"/>
                        </a:rPr>
                        <a:t>特許データ</a:t>
                      </a:r>
                    </a:p>
                  </a:txBody>
                  <a:tcPr anchor="ctr"/>
                </a:tc>
                <a:extLst>
                  <a:ext uri="{0D108BD9-81ED-4DB2-BD59-A6C34878D82A}">
                    <a16:rowId xmlns:a16="http://schemas.microsoft.com/office/drawing/2014/main" val="3842093906"/>
                  </a:ext>
                </a:extLst>
              </a:tr>
              <a:tr h="370840">
                <a:tc>
                  <a:txBody>
                    <a:bodyPr/>
                    <a:lstStyle/>
                    <a:p>
                      <a:r>
                        <a:rPr kumimoji="1" lang="en-US" altLang="ja-JP" sz="1600" dirty="0" err="1">
                          <a:latin typeface="Meiryo UI" panose="020B0604030504040204" pitchFamily="50" charset="-128"/>
                          <a:ea typeface="Meiryo UI" panose="020B0604030504040204" pitchFamily="50" charset="-128"/>
                        </a:rPr>
                        <a:t>BoW</a:t>
                      </a:r>
                      <a:endParaRPr kumimoji="1" lang="ja-JP" altLang="en-US" sz="1600" dirty="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600" dirty="0">
                          <a:latin typeface="Meiryo UI" panose="020B0604030504040204" pitchFamily="50" charset="-128"/>
                          <a:ea typeface="Meiryo UI" panose="020B0604030504040204" pitchFamily="50" charset="-128"/>
                        </a:rPr>
                        <a:t>23%</a:t>
                      </a:r>
                      <a:endParaRPr kumimoji="1" lang="ja-JP" altLang="en-US" sz="1600" dirty="0">
                        <a:latin typeface="Meiryo UI" panose="020B0604030504040204" pitchFamily="50" charset="-128"/>
                        <a:ea typeface="Meiryo UI" panose="020B0604030504040204"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38%</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extLst>
                  <a:ext uri="{0D108BD9-81ED-4DB2-BD59-A6C34878D82A}">
                    <a16:rowId xmlns:a16="http://schemas.microsoft.com/office/drawing/2014/main" val="20830896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latin typeface="Meiryo UI" panose="020B0604030504040204" pitchFamily="50" charset="-128"/>
                          <a:ea typeface="Meiryo UI" panose="020B0604030504040204" pitchFamily="50" charset="-128"/>
                        </a:rPr>
                        <a:t>TF-IDF</a:t>
                      </a:r>
                      <a:endParaRPr kumimoji="1" lang="ja-JP" altLang="en-US" sz="1600" dirty="0">
                        <a:latin typeface="Meiryo UI" panose="020B0604030504040204" pitchFamily="50" charset="-128"/>
                        <a:ea typeface="Meiryo UI" panose="020B0604030504040204"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latin typeface="Meiryo UI" panose="020B0604030504040204" pitchFamily="50" charset="-128"/>
                          <a:ea typeface="Meiryo UI" panose="020B0604030504040204" pitchFamily="50" charset="-128"/>
                        </a:rPr>
                        <a:t>36%</a:t>
                      </a:r>
                      <a:endParaRPr kumimoji="1" lang="ja-JP" altLang="en-US" sz="1600" dirty="0">
                        <a:latin typeface="Meiryo UI" panose="020B0604030504040204" pitchFamily="50" charset="-128"/>
                        <a:ea typeface="Meiryo UI" panose="020B0604030504040204"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43%</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extLst>
                  <a:ext uri="{0D108BD9-81ED-4DB2-BD59-A6C34878D82A}">
                    <a16:rowId xmlns:a16="http://schemas.microsoft.com/office/drawing/2014/main" val="32420388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latin typeface="Meiryo UI" panose="020B0604030504040204" pitchFamily="50" charset="-128"/>
                          <a:ea typeface="Meiryo UI" panose="020B0604030504040204" pitchFamily="50" charset="-128"/>
                        </a:rPr>
                        <a:t>word2vec</a:t>
                      </a:r>
                      <a:endParaRPr kumimoji="1" lang="ja-JP" altLang="en-US" sz="1600" dirty="0">
                        <a:latin typeface="Meiryo UI" panose="020B0604030504040204" pitchFamily="50" charset="-128"/>
                        <a:ea typeface="Meiryo UI" panose="020B0604030504040204"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latin typeface="Meiryo UI" panose="020B0604030504040204" pitchFamily="50" charset="-128"/>
                          <a:ea typeface="Meiryo UI" panose="020B0604030504040204" pitchFamily="50" charset="-128"/>
                        </a:rPr>
                        <a:t>31%</a:t>
                      </a:r>
                      <a:endParaRPr kumimoji="1" lang="ja-JP" altLang="en-US" sz="1600" dirty="0">
                        <a:latin typeface="Meiryo UI" panose="020B0604030504040204" pitchFamily="50" charset="-128"/>
                        <a:ea typeface="Meiryo UI" panose="020B0604030504040204"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69%</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extLst>
                  <a:ext uri="{0D108BD9-81ED-4DB2-BD59-A6C34878D82A}">
                    <a16:rowId xmlns:a16="http://schemas.microsoft.com/office/drawing/2014/main" val="26242276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latin typeface="Meiryo UI" panose="020B0604030504040204" pitchFamily="50" charset="-128"/>
                          <a:ea typeface="Meiryo UI" panose="020B0604030504040204" pitchFamily="50" charset="-128"/>
                        </a:rPr>
                        <a:t>BERT</a:t>
                      </a:r>
                      <a:endParaRPr kumimoji="1" lang="ja-JP" altLang="en-US" sz="1600" dirty="0">
                        <a:latin typeface="Meiryo UI" panose="020B0604030504040204" pitchFamily="50" charset="-128"/>
                        <a:ea typeface="Meiryo UI" panose="020B0604030504040204"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latin typeface="Meiryo UI" panose="020B0604030504040204" pitchFamily="50" charset="-128"/>
                          <a:ea typeface="Meiryo UI" panose="020B0604030504040204" pitchFamily="50" charset="-128"/>
                        </a:rPr>
                        <a:t>29%</a:t>
                      </a:r>
                      <a:endParaRPr kumimoji="1" lang="ja-JP" altLang="en-US" sz="1600" dirty="0">
                        <a:latin typeface="Meiryo UI" panose="020B0604030504040204" pitchFamily="50" charset="-128"/>
                        <a:ea typeface="Meiryo UI" panose="020B0604030504040204"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74%</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extLst>
                  <a:ext uri="{0D108BD9-81ED-4DB2-BD59-A6C34878D82A}">
                    <a16:rowId xmlns:a16="http://schemas.microsoft.com/office/drawing/2014/main" val="1814969265"/>
                  </a:ext>
                </a:extLst>
              </a:tr>
            </a:tbl>
          </a:graphicData>
        </a:graphic>
      </p:graphicFrame>
      <p:sp>
        <p:nvSpPr>
          <p:cNvPr id="29" name="テキスト ボックス 28">
            <a:extLst>
              <a:ext uri="{FF2B5EF4-FFF2-40B4-BE49-F238E27FC236}">
                <a16:creationId xmlns:a16="http://schemas.microsoft.com/office/drawing/2014/main" id="{5C95729F-6368-4721-B3DD-71DF1EFD6AF8}"/>
              </a:ext>
            </a:extLst>
          </p:cNvPr>
          <p:cNvSpPr txBox="1"/>
          <p:nvPr/>
        </p:nvSpPr>
        <p:spPr>
          <a:xfrm>
            <a:off x="6532853" y="2340000"/>
            <a:ext cx="1811359" cy="338554"/>
          </a:xfrm>
          <a:prstGeom prst="rect">
            <a:avLst/>
          </a:prstGeom>
          <a:noFill/>
        </p:spPr>
        <p:txBody>
          <a:bodyPr wrap="square" rtlCol="0">
            <a:spAutoFit/>
          </a:bodyPr>
          <a:lstStyle/>
          <a:p>
            <a:pPr algn="l"/>
            <a:r>
              <a:rPr lang="ja-JP" altLang="en-US" sz="1600" dirty="0">
                <a:latin typeface="Meiryo UI" panose="020B0604030504040204" pitchFamily="50" charset="-128"/>
                <a:ea typeface="Meiryo UI" panose="020B0604030504040204" pitchFamily="50" charset="-128"/>
              </a:rPr>
              <a:t>アウトプットイメージ</a:t>
            </a:r>
            <a:endParaRPr lang="en-US" altLang="ja-JP" sz="1600" dirty="0">
              <a:latin typeface="Meiryo UI" panose="020B0604030504040204" pitchFamily="50" charset="-128"/>
              <a:ea typeface="Meiryo UI" panose="020B0604030504040204" pitchFamily="50" charset="-128"/>
            </a:endParaRPr>
          </a:p>
        </p:txBody>
      </p:sp>
      <p:cxnSp>
        <p:nvCxnSpPr>
          <p:cNvPr id="30" name="コネクタ: カギ線 29">
            <a:extLst>
              <a:ext uri="{FF2B5EF4-FFF2-40B4-BE49-F238E27FC236}">
                <a16:creationId xmlns:a16="http://schemas.microsoft.com/office/drawing/2014/main" id="{674B2179-0684-4C01-A9CE-123D04EEA010}"/>
              </a:ext>
            </a:extLst>
          </p:cNvPr>
          <p:cNvCxnSpPr>
            <a:cxnSpLocks/>
            <a:endCxn id="32" idx="1"/>
          </p:cNvCxnSpPr>
          <p:nvPr/>
        </p:nvCxnSpPr>
        <p:spPr>
          <a:xfrm rot="5400000" flipH="1" flipV="1">
            <a:off x="2441277" y="2884302"/>
            <a:ext cx="878144" cy="439793"/>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コネクタ: カギ線 30">
            <a:extLst>
              <a:ext uri="{FF2B5EF4-FFF2-40B4-BE49-F238E27FC236}">
                <a16:creationId xmlns:a16="http://schemas.microsoft.com/office/drawing/2014/main" id="{6A7F312F-61EA-4135-AC09-092BC3CE9F36}"/>
              </a:ext>
            </a:extLst>
          </p:cNvPr>
          <p:cNvCxnSpPr>
            <a:cxnSpLocks/>
            <a:endCxn id="33" idx="1"/>
          </p:cNvCxnSpPr>
          <p:nvPr/>
        </p:nvCxnSpPr>
        <p:spPr>
          <a:xfrm>
            <a:off x="2229174" y="3545892"/>
            <a:ext cx="871072" cy="388832"/>
          </a:xfrm>
          <a:prstGeom prst="bentConnector3">
            <a:avLst>
              <a:gd name="adj1" fmla="val 4963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四角形: 角を丸くする 31">
            <a:extLst>
              <a:ext uri="{FF2B5EF4-FFF2-40B4-BE49-F238E27FC236}">
                <a16:creationId xmlns:a16="http://schemas.microsoft.com/office/drawing/2014/main" id="{1E831486-405E-46BF-834C-4386D8647A44}"/>
              </a:ext>
            </a:extLst>
          </p:cNvPr>
          <p:cNvSpPr/>
          <p:nvPr/>
        </p:nvSpPr>
        <p:spPr>
          <a:xfrm>
            <a:off x="3100246" y="2393890"/>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err="1">
                <a:solidFill>
                  <a:prstClr val="black">
                    <a:lumMod val="75000"/>
                    <a:lumOff val="25000"/>
                  </a:prstClr>
                </a:solidFill>
                <a:latin typeface="Meiryo UI" panose="020B0604030504040204" pitchFamily="50" charset="-128"/>
                <a:ea typeface="Meiryo UI" panose="020B0604030504040204" pitchFamily="50" charset="-128"/>
              </a:rPr>
              <a:t>BoW</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33" name="四角形: 角を丸くする 32">
            <a:extLst>
              <a:ext uri="{FF2B5EF4-FFF2-40B4-BE49-F238E27FC236}">
                <a16:creationId xmlns:a16="http://schemas.microsoft.com/office/drawing/2014/main" id="{5C35DB40-F3D7-491A-ACAC-5220E233ADEB}"/>
              </a:ext>
            </a:extLst>
          </p:cNvPr>
          <p:cNvSpPr/>
          <p:nvPr/>
        </p:nvSpPr>
        <p:spPr>
          <a:xfrm>
            <a:off x="3100246" y="3663488"/>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word2vec</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124363E1-202C-44C7-B383-90A57D94ECB4}"/>
              </a:ext>
            </a:extLst>
          </p:cNvPr>
          <p:cNvSpPr/>
          <p:nvPr/>
        </p:nvSpPr>
        <p:spPr>
          <a:xfrm>
            <a:off x="684671" y="2825891"/>
            <a:ext cx="1536023" cy="72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住林問合せ</a:t>
            </a:r>
            <a:endParaRPr kumimoji="1" lang="en-US" altLang="ja-JP" sz="1600" b="1" dirty="0">
              <a:solidFill>
                <a:schemeClr val="tx1"/>
              </a:solidFill>
              <a:latin typeface="Meiryo UI" panose="020B0604030504040204" pitchFamily="50" charset="-128"/>
              <a:ea typeface="Meiryo UI" panose="020B0604030504040204" pitchFamily="50" charset="-128"/>
            </a:endParaRPr>
          </a:p>
          <a:p>
            <a:pPr algn="ctr"/>
            <a:r>
              <a:rPr kumimoji="1" lang="ja-JP" altLang="en-US" sz="1600" b="1" dirty="0">
                <a:solidFill>
                  <a:schemeClr val="tx1"/>
                </a:solidFill>
                <a:latin typeface="Meiryo UI" panose="020B0604030504040204" pitchFamily="50" charset="-128"/>
                <a:ea typeface="Meiryo UI" panose="020B0604030504040204" pitchFamily="50" charset="-128"/>
              </a:rPr>
              <a:t>内容データ</a:t>
            </a:r>
            <a:endParaRPr kumimoji="1" lang="en-US" altLang="ja-JP" sz="1600" b="1" dirty="0">
              <a:solidFill>
                <a:schemeClr val="tx1"/>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9EEDF99F-E7C9-4559-8675-91491CD6AC14}"/>
              </a:ext>
            </a:extLst>
          </p:cNvPr>
          <p:cNvSpPr/>
          <p:nvPr/>
        </p:nvSpPr>
        <p:spPr>
          <a:xfrm>
            <a:off x="677913" y="3613184"/>
            <a:ext cx="1536023" cy="72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特許データ</a:t>
            </a:r>
            <a:endParaRPr kumimoji="1" lang="en-US" altLang="ja-JP" sz="1600" b="1" dirty="0">
              <a:solidFill>
                <a:schemeClr val="tx1"/>
              </a:solidFill>
              <a:latin typeface="Meiryo UI" panose="020B0604030504040204" pitchFamily="50" charset="-128"/>
              <a:ea typeface="Meiryo UI" panose="020B0604030504040204" pitchFamily="50" charset="-128"/>
            </a:endParaRPr>
          </a:p>
        </p:txBody>
      </p:sp>
      <p:sp>
        <p:nvSpPr>
          <p:cNvPr id="37" name="四角形: 角を丸くする 36">
            <a:extLst>
              <a:ext uri="{FF2B5EF4-FFF2-40B4-BE49-F238E27FC236}">
                <a16:creationId xmlns:a16="http://schemas.microsoft.com/office/drawing/2014/main" id="{1847CDF0-BF5B-4014-A9A7-5E7FEA29B6EB}"/>
              </a:ext>
            </a:extLst>
          </p:cNvPr>
          <p:cNvSpPr/>
          <p:nvPr/>
        </p:nvSpPr>
        <p:spPr>
          <a:xfrm>
            <a:off x="3091733" y="3039782"/>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TF-IDF</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38" name="四角形: 角を丸くする 37">
            <a:extLst>
              <a:ext uri="{FF2B5EF4-FFF2-40B4-BE49-F238E27FC236}">
                <a16:creationId xmlns:a16="http://schemas.microsoft.com/office/drawing/2014/main" id="{C4101D66-C638-497D-85AE-DC287C99D6E5}"/>
              </a:ext>
            </a:extLst>
          </p:cNvPr>
          <p:cNvSpPr/>
          <p:nvPr/>
        </p:nvSpPr>
        <p:spPr>
          <a:xfrm>
            <a:off x="3100246" y="4303817"/>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BERT</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cxnSp>
        <p:nvCxnSpPr>
          <p:cNvPr id="39" name="コネクタ: カギ線 38">
            <a:extLst>
              <a:ext uri="{FF2B5EF4-FFF2-40B4-BE49-F238E27FC236}">
                <a16:creationId xmlns:a16="http://schemas.microsoft.com/office/drawing/2014/main" id="{FD9BE457-BBB3-487D-B4EA-45F84449CE4F}"/>
              </a:ext>
            </a:extLst>
          </p:cNvPr>
          <p:cNvCxnSpPr>
            <a:cxnSpLocks/>
            <a:endCxn id="37" idx="1"/>
          </p:cNvCxnSpPr>
          <p:nvPr/>
        </p:nvCxnSpPr>
        <p:spPr>
          <a:xfrm flipV="1">
            <a:off x="2229174" y="3311018"/>
            <a:ext cx="862559" cy="237661"/>
          </a:xfrm>
          <a:prstGeom prst="bentConnector3">
            <a:avLst>
              <a:gd name="adj1" fmla="val 50027"/>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CB428008-F0E0-40E8-B58F-2EF1B9599A4E}"/>
              </a:ext>
            </a:extLst>
          </p:cNvPr>
          <p:cNvCxnSpPr>
            <a:cxnSpLocks/>
            <a:endCxn id="38" idx="1"/>
          </p:cNvCxnSpPr>
          <p:nvPr/>
        </p:nvCxnSpPr>
        <p:spPr>
          <a:xfrm rot="16200000" flipH="1">
            <a:off x="2360356" y="3835162"/>
            <a:ext cx="1039987" cy="439794"/>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F8B620EA-8990-433D-AE31-8D0E7A52BC79}"/>
              </a:ext>
            </a:extLst>
          </p:cNvPr>
          <p:cNvSpPr txBox="1"/>
          <p:nvPr/>
        </p:nvSpPr>
        <p:spPr>
          <a:xfrm>
            <a:off x="540000" y="5112000"/>
            <a:ext cx="9000000" cy="1569660"/>
          </a:xfrm>
          <a:prstGeom prst="rect">
            <a:avLst/>
          </a:prstGeom>
          <a:noFill/>
        </p:spPr>
        <p:txBody>
          <a:bodyPr wrap="square" rtlCol="0">
            <a:spAutoFit/>
          </a:bodyPr>
          <a:lstStyle/>
          <a:p>
            <a:pPr marL="360000" indent="-360000">
              <a:buFont typeface="Wingdings" panose="05000000000000000000" pitchFamily="2" charset="2"/>
              <a:buChar char="Ø"/>
            </a:pP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データが短い住林問合せ内容データと長い特許データに対して、</a:t>
            </a:r>
            <a:r>
              <a:rPr lang="en-US" altLang="ja-JP" sz="1600" dirty="0">
                <a:latin typeface="Meiryo UI" panose="020B0604030504040204" pitchFamily="50" charset="-128"/>
                <a:ea typeface="Meiryo UI" panose="020B0604030504040204" pitchFamily="50" charset="-128"/>
              </a:rPr>
              <a:t>4</a:t>
            </a:r>
            <a:r>
              <a:rPr lang="ja-JP" altLang="en-US" sz="1600" dirty="0">
                <a:latin typeface="Meiryo UI" panose="020B0604030504040204" pitchFamily="50" charset="-128"/>
                <a:ea typeface="Meiryo UI" panose="020B0604030504040204" pitchFamily="50" charset="-128"/>
              </a:rPr>
              <a:t>種類のアルゴリズムでベクトル化し、クラスタリングした場合、結果にどのような違いが出るかを確認し、長文や短文に対する適切なアルゴリズムを調査します。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クラスタリングには、次元の呪いの影響を排除するため、</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を使用します。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評価の際、各データの所属確立が</a:t>
            </a: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番高いクラスターのみへ所属するとし、クラスタリング結果を正解率で比較するのに加え、</a:t>
            </a:r>
            <a:r>
              <a:rPr kumimoji="1" lang="ja-JP" altLang="en-US" sz="1600" dirty="0">
                <a:latin typeface="Meiryo UI" panose="020B0604030504040204" pitchFamily="50" charset="-128"/>
                <a:ea typeface="Meiryo UI" panose="020B0604030504040204" pitchFamily="50" charset="-128"/>
              </a:rPr>
              <a:t>クラスタリング結果を目視で確認します。</a:t>
            </a:r>
            <a:endParaRPr kumimoji="1" lang="en-US" altLang="ja-JP" sz="1600"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369822DB-1F03-481D-93A6-EB01556E7859}"/>
              </a:ext>
            </a:extLst>
          </p:cNvPr>
          <p:cNvSpPr>
            <a:spLocks noGrp="1"/>
          </p:cNvSpPr>
          <p:nvPr>
            <p:ph type="sldNum" sz="quarter" idx="12"/>
          </p:nvPr>
        </p:nvSpPr>
        <p:spPr/>
        <p:txBody>
          <a:bodyPr/>
          <a:lstStyle/>
          <a:p>
            <a:fld id="{4A0ABA21-04CE-4531-99B2-420D29D6D622}" type="slidenum">
              <a:rPr lang="ja-JP" altLang="en-US" smtClean="0"/>
              <a:pPr/>
              <a:t>18</a:t>
            </a:fld>
            <a:endParaRPr lang="ja-JP" altLang="en-US"/>
          </a:p>
        </p:txBody>
      </p:sp>
    </p:spTree>
    <p:extLst>
      <p:ext uri="{BB962C8B-B14F-4D97-AF65-F5344CB8AC3E}">
        <p14:creationId xmlns:p14="http://schemas.microsoft.com/office/powerpoint/2010/main" val="554409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A6AA1F-41D3-47D2-854C-24CE2840D8D6}"/>
              </a:ext>
            </a:extLst>
          </p:cNvPr>
          <p:cNvSpPr>
            <a:spLocks noGrp="1"/>
          </p:cNvSpPr>
          <p:nvPr>
            <p:ph type="ctrTitle"/>
          </p:nvPr>
        </p:nvSpPr>
        <p:spPr/>
        <p:txBody>
          <a:bodyPr/>
          <a:lstStyle/>
          <a:p>
            <a:r>
              <a:rPr kumimoji="1" lang="ja-JP" altLang="en-US" dirty="0"/>
              <a:t>研究②</a:t>
            </a:r>
          </a:p>
        </p:txBody>
      </p:sp>
      <p:sp>
        <p:nvSpPr>
          <p:cNvPr id="4" name="字幕 3">
            <a:extLst>
              <a:ext uri="{FF2B5EF4-FFF2-40B4-BE49-F238E27FC236}">
                <a16:creationId xmlns:a16="http://schemas.microsoft.com/office/drawing/2014/main" id="{7B5E382D-F406-4897-860B-608F2F43426B}"/>
              </a:ext>
            </a:extLst>
          </p:cNvPr>
          <p:cNvSpPr>
            <a:spLocks noGrp="1"/>
          </p:cNvSpPr>
          <p:nvPr>
            <p:ph type="subTitle" idx="1"/>
          </p:nvPr>
        </p:nvSpPr>
        <p:spPr/>
        <p:txBody>
          <a:bodyPr/>
          <a:lstStyle/>
          <a:p>
            <a:r>
              <a:rPr kumimoji="1" lang="ja-JP" altLang="en-US" dirty="0"/>
              <a:t>クラスタリングアルゴリズム</a:t>
            </a:r>
          </a:p>
        </p:txBody>
      </p:sp>
      <p:sp>
        <p:nvSpPr>
          <p:cNvPr id="3" name="スライド番号プレースホルダー 2">
            <a:extLst>
              <a:ext uri="{FF2B5EF4-FFF2-40B4-BE49-F238E27FC236}">
                <a16:creationId xmlns:a16="http://schemas.microsoft.com/office/drawing/2014/main" id="{6D74D90A-1E7B-4D0E-B342-694EDC73BEA4}"/>
              </a:ext>
            </a:extLst>
          </p:cNvPr>
          <p:cNvSpPr>
            <a:spLocks noGrp="1"/>
          </p:cNvSpPr>
          <p:nvPr>
            <p:ph type="sldNum" sz="quarter" idx="12"/>
          </p:nvPr>
        </p:nvSpPr>
        <p:spPr/>
        <p:txBody>
          <a:bodyPr/>
          <a:lstStyle/>
          <a:p>
            <a:fld id="{4A0ABA21-04CE-4531-99B2-420D29D6D622}" type="slidenum">
              <a:rPr lang="ja-JP" altLang="en-US" smtClean="0"/>
              <a:pPr/>
              <a:t>19</a:t>
            </a:fld>
            <a:endParaRPr lang="ja-JP" altLang="en-US"/>
          </a:p>
        </p:txBody>
      </p:sp>
    </p:spTree>
    <p:extLst>
      <p:ext uri="{BB962C8B-B14F-4D97-AF65-F5344CB8AC3E}">
        <p14:creationId xmlns:p14="http://schemas.microsoft.com/office/powerpoint/2010/main" val="4292105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研究②　クラスタリングアルゴリズム</a:t>
            </a: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研究②</a:t>
            </a:r>
            <a:r>
              <a:rPr lang="ja-JP" altLang="ja-JP" sz="2000" b="1" dirty="0">
                <a:latin typeface="Meiryo UI" panose="020B0604030504040204" pitchFamily="50" charset="-128"/>
                <a:ea typeface="Meiryo UI" panose="020B0604030504040204" pitchFamily="50" charset="-128"/>
              </a:rPr>
              <a:t>では、</a:t>
            </a:r>
            <a:r>
              <a:rPr lang="ja-JP" altLang="en-US" sz="2000" b="1" dirty="0">
                <a:latin typeface="Meiryo UI" panose="020B0604030504040204" pitchFamily="50" charset="-128"/>
                <a:ea typeface="Meiryo UI" panose="020B0604030504040204" pitchFamily="50" charset="-128"/>
              </a:rPr>
              <a:t>クラスタリングアルゴリズムに関する</a:t>
            </a:r>
            <a:r>
              <a:rPr lang="ja-JP" altLang="ja-JP" sz="2000" b="1" dirty="0">
                <a:latin typeface="Meiryo UI" panose="020B0604030504040204" pitchFamily="50" charset="-128"/>
                <a:ea typeface="Meiryo UI" panose="020B0604030504040204" pitchFamily="50" charset="-128"/>
              </a:rPr>
              <a:t>検証を行います。</a:t>
            </a:r>
            <a:endParaRPr lang="en-US" altLang="ja-JP" sz="2000" b="1"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9B49A1D8-82E5-450C-918F-C5A52754060D}"/>
              </a:ext>
            </a:extLst>
          </p:cNvPr>
          <p:cNvSpPr txBox="1"/>
          <p:nvPr/>
        </p:nvSpPr>
        <p:spPr>
          <a:xfrm>
            <a:off x="3170300" y="1980000"/>
            <a:ext cx="3565400"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研究内容　パターン別の目的と概要</a:t>
            </a:r>
          </a:p>
        </p:txBody>
      </p:sp>
      <p:graphicFrame>
        <p:nvGraphicFramePr>
          <p:cNvPr id="8" name="表 31">
            <a:extLst>
              <a:ext uri="{FF2B5EF4-FFF2-40B4-BE49-F238E27FC236}">
                <a16:creationId xmlns:a16="http://schemas.microsoft.com/office/drawing/2014/main" id="{82ED8B57-7A06-4784-A258-C81E654C1CBD}"/>
              </a:ext>
            </a:extLst>
          </p:cNvPr>
          <p:cNvGraphicFramePr>
            <a:graphicFrameLocks noGrp="1"/>
          </p:cNvGraphicFramePr>
          <p:nvPr>
            <p:extLst>
              <p:ext uri="{D42A27DB-BD31-4B8C-83A1-F6EECF244321}">
                <p14:modId xmlns:p14="http://schemas.microsoft.com/office/powerpoint/2010/main" val="2205724647"/>
              </p:ext>
            </p:extLst>
          </p:nvPr>
        </p:nvGraphicFramePr>
        <p:xfrm>
          <a:off x="180000" y="2340000"/>
          <a:ext cx="9632722" cy="2491744"/>
        </p:xfrm>
        <a:graphic>
          <a:graphicData uri="http://schemas.openxmlformats.org/drawingml/2006/table">
            <a:tbl>
              <a:tblPr firstRow="1" bandRow="1">
                <a:tableStyleId>{5940675A-B579-460E-94D1-54222C63F5DA}</a:tableStyleId>
              </a:tblPr>
              <a:tblGrid>
                <a:gridCol w="899478">
                  <a:extLst>
                    <a:ext uri="{9D8B030D-6E8A-4147-A177-3AD203B41FA5}">
                      <a16:colId xmlns:a16="http://schemas.microsoft.com/office/drawing/2014/main" val="2254968443"/>
                    </a:ext>
                  </a:extLst>
                </a:gridCol>
                <a:gridCol w="1459548">
                  <a:extLst>
                    <a:ext uri="{9D8B030D-6E8A-4147-A177-3AD203B41FA5}">
                      <a16:colId xmlns:a16="http://schemas.microsoft.com/office/drawing/2014/main" val="3815941026"/>
                    </a:ext>
                  </a:extLst>
                </a:gridCol>
                <a:gridCol w="3456000">
                  <a:extLst>
                    <a:ext uri="{9D8B030D-6E8A-4147-A177-3AD203B41FA5}">
                      <a16:colId xmlns:a16="http://schemas.microsoft.com/office/drawing/2014/main" val="3308050730"/>
                    </a:ext>
                  </a:extLst>
                </a:gridCol>
                <a:gridCol w="1759534">
                  <a:extLst>
                    <a:ext uri="{9D8B030D-6E8A-4147-A177-3AD203B41FA5}">
                      <a16:colId xmlns:a16="http://schemas.microsoft.com/office/drawing/2014/main" val="297043755"/>
                    </a:ext>
                  </a:extLst>
                </a:gridCol>
                <a:gridCol w="2058162">
                  <a:extLst>
                    <a:ext uri="{9D8B030D-6E8A-4147-A177-3AD203B41FA5}">
                      <a16:colId xmlns:a16="http://schemas.microsoft.com/office/drawing/2014/main" val="352751822"/>
                    </a:ext>
                  </a:extLst>
                </a:gridCol>
              </a:tblGrid>
              <a:tr h="520065">
                <a:tc>
                  <a:txBody>
                    <a:bodyPr/>
                    <a:lstStyle/>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パターン</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クラスタリング</a:t>
                      </a:r>
                      <a:endParaRPr kumimoji="1" lang="en-US" altLang="ja-JP" sz="1600" b="1" dirty="0">
                        <a:solidFill>
                          <a:schemeClr val="tx1"/>
                        </a:solidFill>
                        <a:latin typeface="Meiryo UI" panose="020B0604030504040204" pitchFamily="50" charset="-128"/>
                        <a:ea typeface="Meiryo UI" panose="020B0604030504040204" pitchFamily="50" charset="-128"/>
                      </a:endParaRPr>
                    </a:p>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アルゴリズム</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検証する仮説</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使用するデータ</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ctr"/>
                      <a:r>
                        <a:rPr kumimoji="1" lang="en-US" altLang="ja-JP" sz="1600" b="1" dirty="0">
                          <a:solidFill>
                            <a:schemeClr val="tx1"/>
                          </a:solidFill>
                          <a:latin typeface="Meiryo UI" panose="020B0604030504040204" pitchFamily="50" charset="-128"/>
                          <a:ea typeface="Meiryo UI" panose="020B0604030504040204" pitchFamily="50" charset="-128"/>
                        </a:rPr>
                        <a:t>Word Embedding</a:t>
                      </a:r>
                    </a:p>
                    <a:p>
                      <a:pPr marL="360000" indent="-360000" algn="ctr"/>
                      <a:r>
                        <a:rPr kumimoji="1" lang="ja-JP" altLang="en-US" sz="1600" b="1" dirty="0">
                          <a:solidFill>
                            <a:schemeClr val="tx1"/>
                          </a:solidFill>
                          <a:latin typeface="Meiryo UI" panose="020B0604030504040204" pitchFamily="50" charset="-128"/>
                          <a:ea typeface="Meiryo UI" panose="020B0604030504040204" pitchFamily="50" charset="-128"/>
                        </a:rPr>
                        <a:t>アルゴリズム</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247608"/>
                  </a:ext>
                </a:extLst>
              </a:tr>
              <a:tr h="301308">
                <a:tc>
                  <a:txBody>
                    <a:bodyPr/>
                    <a:lstStyle/>
                    <a:p>
                      <a:pPr marL="360000" indent="-360000" algn="ctr"/>
                      <a:r>
                        <a:rPr kumimoji="1" lang="en-US" altLang="ja-JP" sz="1600" b="0" dirty="0">
                          <a:solidFill>
                            <a:schemeClr val="tx1"/>
                          </a:solidFill>
                          <a:latin typeface="Meiryo UI" panose="020B0604030504040204" pitchFamily="50" charset="-128"/>
                          <a:ea typeface="Meiryo UI" panose="020B0604030504040204" pitchFamily="50" charset="-128"/>
                        </a:rPr>
                        <a:t>A</a:t>
                      </a:r>
                      <a:endParaRPr kumimoji="1" lang="ja-JP" altLang="en-US"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l">
                        <a:buFont typeface="Arial" panose="020B0604020202020204" pitchFamily="34" charset="0"/>
                        <a:buChar char="•"/>
                      </a:pPr>
                      <a:r>
                        <a:rPr kumimoji="1" lang="en-US" altLang="ja-JP" sz="1600" b="0" dirty="0">
                          <a:solidFill>
                            <a:schemeClr val="tx1"/>
                          </a:solidFill>
                          <a:latin typeface="Meiryo UI" panose="020B0604030504040204" pitchFamily="50" charset="-128"/>
                          <a:ea typeface="Meiryo UI" panose="020B0604030504040204" pitchFamily="50" charset="-128"/>
                        </a:rPr>
                        <a:t>K-means</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l">
                        <a:buFont typeface="Arial" panose="020B0604020202020204" pitchFamily="34" charset="0"/>
                        <a:buChar char="•"/>
                      </a:pPr>
                      <a:r>
                        <a:rPr kumimoji="1" lang="ja-JP" altLang="en-US" sz="1600" b="0" dirty="0">
                          <a:solidFill>
                            <a:schemeClr val="tx1"/>
                          </a:solidFill>
                          <a:latin typeface="Meiryo UI" panose="020B0604030504040204" pitchFamily="50" charset="-128"/>
                          <a:ea typeface="Meiryo UI" panose="020B0604030504040204" pitchFamily="50" charset="-128"/>
                        </a:rPr>
                        <a:t>次元数の増加に伴い次元の呪いが発生し、分類がうまくいかなくなるのか</a:t>
                      </a:r>
                      <a:endParaRPr kumimoji="1" lang="en-US" altLang="ja-JP"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住林問合せ内容データ</a:t>
                      </a:r>
                      <a:endPar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a:solidFill>
                            <a:schemeClr val="tx1"/>
                          </a:solidFill>
                          <a:latin typeface="Meiryo UI" panose="020B0604030504040204" pitchFamily="50" charset="-128"/>
                          <a:ea typeface="Meiryo UI" panose="020B0604030504040204" pitchFamily="50" charset="-128"/>
                        </a:rPr>
                        <a:t>word2vec</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6992549"/>
                  </a:ext>
                </a:extLst>
              </a:tr>
              <a:tr h="301308">
                <a:tc>
                  <a:txBody>
                    <a:bodyPr/>
                    <a:lstStyle/>
                    <a:p>
                      <a:pPr marL="360000" indent="-360000" algn="ctr"/>
                      <a:r>
                        <a:rPr kumimoji="1" lang="en-US" altLang="ja-JP" sz="1600" b="0" dirty="0">
                          <a:solidFill>
                            <a:schemeClr val="tx1"/>
                          </a:solidFill>
                          <a:latin typeface="Meiryo UI" panose="020B0604030504040204" pitchFamily="50" charset="-128"/>
                          <a:ea typeface="Meiryo UI" panose="020B0604030504040204" pitchFamily="50" charset="-128"/>
                        </a:rPr>
                        <a:t>B</a:t>
                      </a:r>
                      <a:endParaRPr kumimoji="1" lang="ja-JP" altLang="en-US"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l">
                        <a:buFont typeface="Arial" panose="020B0604020202020204" pitchFamily="34" charset="0"/>
                        <a:buChar char="•"/>
                      </a:pPr>
                      <a:r>
                        <a:rPr kumimoji="1" lang="en-US" altLang="ja-JP" sz="1600" b="0" dirty="0">
                          <a:solidFill>
                            <a:schemeClr val="tx1"/>
                          </a:solidFill>
                          <a:latin typeface="Meiryo UI" panose="020B0604030504040204" pitchFamily="50" charset="-128"/>
                          <a:ea typeface="Meiryo UI" panose="020B0604030504040204" pitchFamily="50" charset="-128"/>
                        </a:rPr>
                        <a:t>K-means</a:t>
                      </a:r>
                    </a:p>
                    <a:p>
                      <a:pPr marL="360000" indent="-360000" algn="l">
                        <a:buFont typeface="Arial" panose="020B0604020202020204" pitchFamily="34" charset="0"/>
                        <a:buChar char="•"/>
                      </a:pPr>
                      <a:r>
                        <a:rPr kumimoji="1" lang="en-US" altLang="ja-JP" sz="1600" b="0" dirty="0">
                          <a:solidFill>
                            <a:schemeClr val="tx1"/>
                          </a:solidFill>
                          <a:latin typeface="Meiryo UI" panose="020B0604030504040204" pitchFamily="50" charset="-128"/>
                          <a:ea typeface="Meiryo UI" panose="020B0604030504040204" pitchFamily="50" charset="-128"/>
                        </a:rPr>
                        <a:t>PLSA</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dirty="0">
                          <a:solidFill>
                            <a:schemeClr val="tx1"/>
                          </a:solidFill>
                          <a:latin typeface="Meiryo UI" panose="020B0604030504040204" pitchFamily="50" charset="-128"/>
                          <a:ea typeface="Meiryo UI" panose="020B0604030504040204" pitchFamily="50" charset="-128"/>
                        </a:rPr>
                        <a:t>K-means</a:t>
                      </a:r>
                      <a:r>
                        <a:rPr kumimoji="1" lang="ja-JP" altLang="en-US" sz="1600" b="0" dirty="0">
                          <a:solidFill>
                            <a:schemeClr val="tx1"/>
                          </a:solidFill>
                          <a:latin typeface="Meiryo UI" panose="020B0604030504040204" pitchFamily="50" charset="-128"/>
                          <a:ea typeface="Meiryo UI" panose="020B0604030504040204" pitchFamily="50" charset="-128"/>
                        </a:rPr>
                        <a:t>で次元の呪いが発生している次元数に対して、</a:t>
                      </a:r>
                      <a:r>
                        <a:rPr kumimoji="1" lang="en-US" altLang="ja-JP" sz="1600" b="0" dirty="0">
                          <a:solidFill>
                            <a:schemeClr val="tx1"/>
                          </a:solidFill>
                          <a:latin typeface="Meiryo UI" panose="020B0604030504040204" pitchFamily="50" charset="-128"/>
                          <a:ea typeface="Meiryo UI" panose="020B0604030504040204" pitchFamily="50" charset="-128"/>
                        </a:rPr>
                        <a:t>PLSA</a:t>
                      </a:r>
                      <a:r>
                        <a:rPr kumimoji="1" lang="ja-JP" altLang="en-US" sz="1600" b="0" dirty="0">
                          <a:solidFill>
                            <a:schemeClr val="tx1"/>
                          </a:solidFill>
                          <a:latin typeface="Meiryo UI" panose="020B0604030504040204" pitchFamily="50" charset="-128"/>
                          <a:ea typeface="Meiryo UI" panose="020B0604030504040204" pitchFamily="50" charset="-128"/>
                        </a:rPr>
                        <a:t>ではクラスタリングの結果がどうなっているのか</a:t>
                      </a:r>
                      <a:endParaRPr kumimoji="1" lang="en-US" altLang="ja-JP"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住林問合せ内容データ</a:t>
                      </a:r>
                      <a:endPar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solidFill>
                            <a:schemeClr val="tx1"/>
                          </a:solidFill>
                          <a:latin typeface="Meiryo UI" panose="020B0604030504040204" pitchFamily="50" charset="-128"/>
                          <a:ea typeface="Meiryo UI" panose="020B0604030504040204" pitchFamily="50" charset="-128"/>
                        </a:rPr>
                        <a:t>BoW</a:t>
                      </a:r>
                      <a:endParaRPr lang="en-US" altLang="ja-JP" sz="160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369605381"/>
                  </a:ext>
                </a:extLst>
              </a:tr>
              <a:tr h="301308">
                <a:tc>
                  <a:txBody>
                    <a:bodyPr/>
                    <a:lstStyle/>
                    <a:p>
                      <a:pPr marL="360000" indent="-360000" algn="ctr"/>
                      <a:r>
                        <a:rPr kumimoji="1" lang="en-US" altLang="ja-JP" sz="1600" b="0" dirty="0">
                          <a:solidFill>
                            <a:schemeClr val="tx1"/>
                          </a:solidFill>
                          <a:latin typeface="Meiryo UI" panose="020B0604030504040204" pitchFamily="50" charset="-128"/>
                          <a:ea typeface="Meiryo UI" panose="020B0604030504040204" pitchFamily="50" charset="-128"/>
                        </a:rPr>
                        <a:t>C</a:t>
                      </a:r>
                      <a:endParaRPr kumimoji="1" lang="ja-JP" altLang="en-US"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indent="-360000" algn="l">
                        <a:buFont typeface="Arial" panose="020B0604020202020204" pitchFamily="34" charset="0"/>
                        <a:buChar char="•"/>
                      </a:pPr>
                      <a:r>
                        <a:rPr kumimoji="1" lang="en-US" altLang="ja-JP" sz="1600" b="0" dirty="0">
                          <a:solidFill>
                            <a:schemeClr val="tx1"/>
                          </a:solidFill>
                          <a:latin typeface="Meiryo UI" panose="020B0604030504040204" pitchFamily="50" charset="-128"/>
                          <a:ea typeface="Meiryo UI" panose="020B0604030504040204" pitchFamily="50" charset="-128"/>
                        </a:rPr>
                        <a:t>PLSA</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dirty="0">
                          <a:solidFill>
                            <a:schemeClr val="tx1"/>
                          </a:solidFill>
                          <a:latin typeface="Meiryo UI" panose="020B0604030504040204" pitchFamily="50" charset="-128"/>
                          <a:ea typeface="Meiryo UI" panose="020B0604030504040204" pitchFamily="50" charset="-128"/>
                        </a:rPr>
                        <a:t>インプットデータによってどのように結果と考察が変わるのか</a:t>
                      </a:r>
                      <a:endParaRPr kumimoji="1" lang="en-US" altLang="ja-JP" sz="16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住林問合せ内容データ</a:t>
                      </a:r>
                      <a:endPar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marL="360000" marR="0" lvl="0" indent="-36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solidFill>
                            <a:schemeClr val="tx1"/>
                          </a:solidFill>
                          <a:latin typeface="Meiryo UI" panose="020B0604030504040204" pitchFamily="50" charset="-128"/>
                          <a:ea typeface="Meiryo UI" panose="020B0604030504040204" pitchFamily="50" charset="-128"/>
                        </a:rPr>
                        <a:t>BoW</a:t>
                      </a:r>
                      <a:endParaRPr lang="en-US" altLang="ja-JP" sz="160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2030941692"/>
                  </a:ext>
                </a:extLst>
              </a:tr>
            </a:tbl>
          </a:graphicData>
        </a:graphic>
      </p:graphicFrame>
      <p:sp>
        <p:nvSpPr>
          <p:cNvPr id="9" name="テキスト ボックス 8">
            <a:extLst>
              <a:ext uri="{FF2B5EF4-FFF2-40B4-BE49-F238E27FC236}">
                <a16:creationId xmlns:a16="http://schemas.microsoft.com/office/drawing/2014/main" id="{3C2C010C-42CC-4D43-8E2A-056ADF8384DD}"/>
              </a:ext>
            </a:extLst>
          </p:cNvPr>
          <p:cNvSpPr txBox="1"/>
          <p:nvPr/>
        </p:nvSpPr>
        <p:spPr>
          <a:xfrm>
            <a:off x="540000" y="5112000"/>
            <a:ext cx="9000000" cy="1323439"/>
          </a:xfrm>
          <a:prstGeom prst="rect">
            <a:avLst/>
          </a:prstGeom>
          <a:noFill/>
        </p:spPr>
        <p:txBody>
          <a:bodyPr wrap="square" rtlCol="0">
            <a:spAutoFit/>
          </a:bodyPr>
          <a:lstStyle/>
          <a:p>
            <a:pPr marL="360000" indent="-360000" algn="l">
              <a:buFont typeface="Wingdings" panose="05000000000000000000" pitchFamily="2" charset="2"/>
              <a:buChar char="Ø"/>
            </a:pPr>
            <a:r>
              <a:rPr lang="en-US" altLang="ja-JP" sz="1600" dirty="0">
                <a:latin typeface="Meiryo UI" panose="020B0604030504040204" pitchFamily="50" charset="-128"/>
                <a:ea typeface="Meiryo UI" panose="020B0604030504040204" pitchFamily="50" charset="-128"/>
              </a:rPr>
              <a:t>K-means</a:t>
            </a:r>
            <a:r>
              <a:rPr lang="ja-JP" altLang="en-US" sz="1600" dirty="0">
                <a:latin typeface="Meiryo UI" panose="020B0604030504040204" pitchFamily="50" charset="-128"/>
                <a:ea typeface="Meiryo UI" panose="020B0604030504040204" pitchFamily="50" charset="-128"/>
              </a:rPr>
              <a:t>では、各データの距離を基に分類を行うため、次元数が多くなると次元の呪いが発生し、分類がうまくいかなくなる恐れがあることから、パターン</a:t>
            </a:r>
            <a:r>
              <a:rPr lang="en-US" altLang="ja-JP" sz="1600" dirty="0">
                <a:latin typeface="Meiryo UI" panose="020B0604030504040204" pitchFamily="50" charset="-128"/>
                <a:ea typeface="Meiryo UI" panose="020B0604030504040204" pitchFamily="50" charset="-128"/>
              </a:rPr>
              <a:t>A</a:t>
            </a:r>
            <a:r>
              <a:rPr lang="ja-JP" altLang="en-US" sz="1600" dirty="0">
                <a:latin typeface="Meiryo UI" panose="020B0604030504040204" pitchFamily="50" charset="-128"/>
                <a:ea typeface="Meiryo UI" panose="020B0604030504040204" pitchFamily="50" charset="-128"/>
              </a:rPr>
              <a:t>では次元の呪いについて検証します。</a:t>
            </a:r>
            <a:endParaRPr lang="en-US" altLang="ja-JP" sz="1600" dirty="0">
              <a:latin typeface="Meiryo UI" panose="020B0604030504040204" pitchFamily="50" charset="-128"/>
              <a:ea typeface="Meiryo UI" panose="020B0604030504040204" pitchFamily="50" charset="-128"/>
            </a:endParaRPr>
          </a:p>
          <a:p>
            <a:pPr marL="360000" indent="-360000" algn="l">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パターン</a:t>
            </a:r>
            <a:r>
              <a:rPr lang="en-US" altLang="ja-JP" sz="1600" dirty="0">
                <a:latin typeface="Meiryo UI" panose="020B0604030504040204" pitchFamily="50" charset="-128"/>
                <a:ea typeface="Meiryo UI" panose="020B0604030504040204" pitchFamily="50" charset="-128"/>
              </a:rPr>
              <a:t>B</a:t>
            </a:r>
            <a:r>
              <a:rPr lang="ja-JP" altLang="en-US" sz="1600" dirty="0">
                <a:latin typeface="Meiryo UI" panose="020B0604030504040204" pitchFamily="50" charset="-128"/>
                <a:ea typeface="Meiryo UI" panose="020B0604030504040204" pitchFamily="50" charset="-128"/>
              </a:rPr>
              <a:t>とパターン</a:t>
            </a:r>
            <a:r>
              <a:rPr lang="en-US" altLang="ja-JP" sz="1600" dirty="0">
                <a:latin typeface="Meiryo UI" panose="020B0604030504040204" pitchFamily="50" charset="-128"/>
                <a:ea typeface="Meiryo UI" panose="020B0604030504040204" pitchFamily="50" charset="-128"/>
              </a:rPr>
              <a:t>C</a:t>
            </a:r>
            <a:r>
              <a:rPr lang="ja-JP" altLang="en-US" sz="1600" dirty="0">
                <a:latin typeface="Meiryo UI" panose="020B0604030504040204" pitchFamily="50" charset="-128"/>
                <a:ea typeface="Meiryo UI" panose="020B0604030504040204" pitchFamily="50" charset="-128"/>
              </a:rPr>
              <a:t>では、次元の呪いが発生しない</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について検証を行います。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パターン</a:t>
            </a:r>
            <a:r>
              <a:rPr lang="en-US" altLang="ja-JP" sz="1600" dirty="0">
                <a:latin typeface="Meiryo UI" panose="020B0604030504040204" pitchFamily="50" charset="-128"/>
                <a:ea typeface="Meiryo UI" panose="020B0604030504040204" pitchFamily="50" charset="-128"/>
              </a:rPr>
              <a:t>B</a:t>
            </a:r>
            <a:r>
              <a:rPr lang="ja-JP" altLang="en-US" sz="1600" dirty="0">
                <a:latin typeface="Meiryo UI" panose="020B0604030504040204" pitchFamily="50" charset="-128"/>
                <a:ea typeface="Meiryo UI" panose="020B0604030504040204" pitchFamily="50" charset="-128"/>
              </a:rPr>
              <a:t>では、どちらのクラスタリングアルゴリズムでも</a:t>
            </a:r>
            <a:r>
              <a:rPr lang="en-US" altLang="ja-JP" sz="1600" dirty="0">
                <a:latin typeface="Meiryo UI" panose="020B0604030504040204" pitchFamily="50" charset="-128"/>
                <a:ea typeface="Meiryo UI" panose="020B0604030504040204" pitchFamily="50" charset="-128"/>
              </a:rPr>
              <a:t>Word Embedding</a:t>
            </a:r>
            <a:r>
              <a:rPr lang="ja-JP" altLang="en-US" sz="1600" dirty="0">
                <a:latin typeface="Meiryo UI" panose="020B0604030504040204" pitchFamily="50" charset="-128"/>
                <a:ea typeface="Meiryo UI" panose="020B0604030504040204" pitchFamily="50" charset="-128"/>
              </a:rPr>
              <a:t>アルゴリズムを統一させる必要があり、パターン</a:t>
            </a:r>
            <a:r>
              <a:rPr lang="en-US" altLang="ja-JP" sz="1600" dirty="0">
                <a:latin typeface="Meiryo UI" panose="020B0604030504040204" pitchFamily="50" charset="-128"/>
                <a:ea typeface="Meiryo UI" panose="020B0604030504040204" pitchFamily="50" charset="-128"/>
              </a:rPr>
              <a:t>C</a:t>
            </a:r>
            <a:r>
              <a:rPr lang="ja-JP" altLang="en-US" sz="1600" dirty="0">
                <a:latin typeface="Meiryo UI" panose="020B0604030504040204" pitchFamily="50" charset="-128"/>
                <a:ea typeface="Meiryo UI" panose="020B0604030504040204" pitchFamily="50" charset="-128"/>
              </a:rPr>
              <a:t>では、インプットデータによる違いを確認するため、</a:t>
            </a: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番シンプルな</a:t>
            </a:r>
            <a:r>
              <a:rPr lang="en-US" altLang="ja-JP" sz="1600" dirty="0" err="1">
                <a:latin typeface="Meiryo UI" panose="020B0604030504040204" pitchFamily="50" charset="-128"/>
                <a:ea typeface="Meiryo UI" panose="020B0604030504040204" pitchFamily="50" charset="-128"/>
              </a:rPr>
              <a:t>BoW</a:t>
            </a:r>
            <a:r>
              <a:rPr lang="ja-JP" altLang="en-US" sz="1600" dirty="0">
                <a:latin typeface="Meiryo UI" panose="020B0604030504040204" pitchFamily="50" charset="-128"/>
                <a:ea typeface="Meiryo UI" panose="020B0604030504040204" pitchFamily="50" charset="-128"/>
              </a:rPr>
              <a:t>を使用します。</a:t>
            </a:r>
            <a:endParaRPr lang="en-US" altLang="ja-JP" sz="1600" dirty="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B4343B42-584D-4CFD-A7DE-53DC56E3D784}"/>
              </a:ext>
            </a:extLst>
          </p:cNvPr>
          <p:cNvSpPr/>
          <p:nvPr/>
        </p:nvSpPr>
        <p:spPr>
          <a:xfrm>
            <a:off x="-1367158" y="2863516"/>
            <a:ext cx="1440000" cy="5400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質問事項⑦</a:t>
            </a:r>
            <a:endParaRPr kumimoji="1" lang="en-US" altLang="ja-JP" sz="1600" b="1" dirty="0">
              <a:solidFill>
                <a:schemeClr val="tx1"/>
              </a:solidFill>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97FBC224-2D96-4C99-B6FC-29553DEE91CA}"/>
              </a:ext>
            </a:extLst>
          </p:cNvPr>
          <p:cNvSpPr>
            <a:spLocks noGrp="1"/>
          </p:cNvSpPr>
          <p:nvPr>
            <p:ph type="sldNum" sz="quarter" idx="12"/>
          </p:nvPr>
        </p:nvSpPr>
        <p:spPr/>
        <p:txBody>
          <a:bodyPr/>
          <a:lstStyle/>
          <a:p>
            <a:fld id="{4A0ABA21-04CE-4531-99B2-420D29D6D622}" type="slidenum">
              <a:rPr lang="ja-JP" altLang="en-US" smtClean="0"/>
              <a:pPr/>
              <a:t>20</a:t>
            </a:fld>
            <a:endParaRPr lang="ja-JP" altLang="en-US" dirty="0"/>
          </a:p>
        </p:txBody>
      </p:sp>
    </p:spTree>
    <p:extLst>
      <p:ext uri="{BB962C8B-B14F-4D97-AF65-F5344CB8AC3E}">
        <p14:creationId xmlns:p14="http://schemas.microsoft.com/office/powerpoint/2010/main" val="2684061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324000" cy="720000"/>
          </a:xfrm>
        </p:spPr>
        <p:txBody>
          <a:bodyPr lIns="72000" tIns="72000" rIns="72000" bIns="72000">
            <a:normAutofit fontScale="90000"/>
          </a:bodyPr>
          <a:lstStyle/>
          <a:p>
            <a:r>
              <a:rPr kumimoji="1" lang="ja-JP" altLang="en-US" sz="3600" dirty="0">
                <a:latin typeface="Meiryo UI" panose="020B0604030504040204" pitchFamily="50" charset="-128"/>
                <a:ea typeface="Meiryo UI" panose="020B0604030504040204" pitchFamily="50" charset="-128"/>
              </a:rPr>
              <a:t>研究②　クラスタリングアルゴリズム　検証方法　パターン</a:t>
            </a:r>
            <a:r>
              <a:rPr kumimoji="1" lang="en-US" altLang="ja-JP" sz="3600" dirty="0">
                <a:latin typeface="Meiryo UI" panose="020B0604030504040204" pitchFamily="50" charset="-128"/>
                <a:ea typeface="Meiryo UI" panose="020B0604030504040204" pitchFamily="50" charset="-128"/>
              </a:rPr>
              <a:t>A</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パターン</a:t>
            </a:r>
            <a:r>
              <a:rPr lang="en-US" altLang="ja-JP" sz="2000" b="1" dirty="0">
                <a:latin typeface="Meiryo UI" panose="020B0604030504040204" pitchFamily="50" charset="-128"/>
                <a:ea typeface="Meiryo UI" panose="020B0604030504040204" pitchFamily="50" charset="-128"/>
              </a:rPr>
              <a:t>A</a:t>
            </a:r>
            <a:r>
              <a:rPr lang="ja-JP" altLang="en-US" sz="2000" b="1" dirty="0">
                <a:latin typeface="Meiryo UI" panose="020B0604030504040204" pitchFamily="50" charset="-128"/>
                <a:ea typeface="Meiryo UI" panose="020B0604030504040204" pitchFamily="50" charset="-128"/>
              </a:rPr>
              <a:t>では、次元の呪いによってデータ間の距離の差が大きくなるのかと、距離の差がクラスタリング結果にどのような影響を与えるかを検証します。</a:t>
            </a:r>
            <a:endParaRPr lang="ja-JP" altLang="ja-JP" sz="2000"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C921004A-A636-4323-B819-68316217B36B}"/>
              </a:ext>
            </a:extLst>
          </p:cNvPr>
          <p:cNvSpPr txBox="1"/>
          <p:nvPr/>
        </p:nvSpPr>
        <p:spPr>
          <a:xfrm>
            <a:off x="3849172" y="1980000"/>
            <a:ext cx="2207656"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検証方法　パターン</a:t>
            </a:r>
            <a:r>
              <a:rPr lang="en-US" altLang="ja-JP" b="1" dirty="0">
                <a:solidFill>
                  <a:prstClr val="black"/>
                </a:solidFill>
                <a:latin typeface="Meiryo UI" panose="020B0604030504040204" pitchFamily="50" charset="-128"/>
                <a:ea typeface="Meiryo UI" panose="020B0604030504040204" pitchFamily="50" charset="-128"/>
              </a:rPr>
              <a:t>A</a:t>
            </a:r>
            <a:endParaRPr lang="ja-JP" altLang="en-US" b="1" dirty="0">
              <a:solidFill>
                <a:prstClr val="black"/>
              </a:solidFill>
              <a:latin typeface="Meiryo UI" panose="020B0604030504040204" pitchFamily="50" charset="-128"/>
              <a:ea typeface="Meiryo UI" panose="020B0604030504040204" pitchFamily="50" charset="-128"/>
            </a:endParaRPr>
          </a:p>
        </p:txBody>
      </p:sp>
      <p:graphicFrame>
        <p:nvGraphicFramePr>
          <p:cNvPr id="7" name="表 4">
            <a:extLst>
              <a:ext uri="{FF2B5EF4-FFF2-40B4-BE49-F238E27FC236}">
                <a16:creationId xmlns:a16="http://schemas.microsoft.com/office/drawing/2014/main" id="{79554F55-F1C4-49A4-B128-7C2CADAC5535}"/>
              </a:ext>
            </a:extLst>
          </p:cNvPr>
          <p:cNvGraphicFramePr>
            <a:graphicFrameLocks noGrp="1"/>
          </p:cNvGraphicFramePr>
          <p:nvPr>
            <p:extLst>
              <p:ext uri="{D42A27DB-BD31-4B8C-83A1-F6EECF244321}">
                <p14:modId xmlns:p14="http://schemas.microsoft.com/office/powerpoint/2010/main" val="15845303"/>
              </p:ext>
            </p:extLst>
          </p:nvPr>
        </p:nvGraphicFramePr>
        <p:xfrm>
          <a:off x="3312867" y="2340000"/>
          <a:ext cx="3280267" cy="1483360"/>
        </p:xfrm>
        <a:graphic>
          <a:graphicData uri="http://schemas.openxmlformats.org/drawingml/2006/table">
            <a:tbl>
              <a:tblPr firstRow="1" bandRow="1">
                <a:tableStyleId>{5940675A-B579-460E-94D1-54222C63F5DA}</a:tableStyleId>
              </a:tblPr>
              <a:tblGrid>
                <a:gridCol w="1332000">
                  <a:extLst>
                    <a:ext uri="{9D8B030D-6E8A-4147-A177-3AD203B41FA5}">
                      <a16:colId xmlns:a16="http://schemas.microsoft.com/office/drawing/2014/main" val="3471387442"/>
                    </a:ext>
                  </a:extLst>
                </a:gridCol>
                <a:gridCol w="616267">
                  <a:extLst>
                    <a:ext uri="{9D8B030D-6E8A-4147-A177-3AD203B41FA5}">
                      <a16:colId xmlns:a16="http://schemas.microsoft.com/office/drawing/2014/main" val="1685744524"/>
                    </a:ext>
                  </a:extLst>
                </a:gridCol>
                <a:gridCol w="1332000">
                  <a:extLst>
                    <a:ext uri="{9D8B030D-6E8A-4147-A177-3AD203B41FA5}">
                      <a16:colId xmlns:a16="http://schemas.microsoft.com/office/drawing/2014/main" val="42850387"/>
                    </a:ext>
                  </a:extLst>
                </a:gridCol>
              </a:tblGrid>
              <a:tr h="370840">
                <a:tc>
                  <a:txBody>
                    <a:bodyPr/>
                    <a:lstStyle/>
                    <a:p>
                      <a:pPr algn="ctr"/>
                      <a:r>
                        <a:rPr kumimoji="1" lang="ja-JP" altLang="en-US" sz="1600" b="1" dirty="0">
                          <a:latin typeface="Meiryo UI" panose="020B0604030504040204" pitchFamily="50" charset="-128"/>
                          <a:ea typeface="Meiryo UI" panose="020B0604030504040204" pitchFamily="50" charset="-128"/>
                        </a:rPr>
                        <a:t>クラスター</a:t>
                      </a:r>
                      <a:r>
                        <a:rPr kumimoji="1" lang="en-US" altLang="ja-JP" sz="1600" b="1" dirty="0">
                          <a:latin typeface="Meiryo UI" panose="020B0604030504040204" pitchFamily="50" charset="-128"/>
                          <a:ea typeface="Meiryo UI" panose="020B0604030504040204" pitchFamily="50" charset="-128"/>
                        </a:rPr>
                        <a:t>1</a:t>
                      </a:r>
                      <a:endParaRPr kumimoji="1" lang="ja-JP" altLang="en-US" sz="1600" b="1"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600" b="1" dirty="0">
                          <a:latin typeface="Meiryo UI" panose="020B0604030504040204" pitchFamily="50" charset="-128"/>
                          <a:ea typeface="Meiryo UI" panose="020B0604030504040204" pitchFamily="50" charset="-128"/>
                        </a:rPr>
                        <a:t>・・・</a:t>
                      </a:r>
                    </a:p>
                  </a:txBody>
                  <a:tcPr/>
                </a:tc>
                <a:tc>
                  <a:txBody>
                    <a:bodyPr/>
                    <a:lstStyle/>
                    <a:p>
                      <a:pPr algn="ctr"/>
                      <a:r>
                        <a:rPr kumimoji="1" lang="ja-JP" altLang="en-US" sz="1600" b="1" dirty="0">
                          <a:latin typeface="Meiryo UI" panose="020B0604030504040204" pitchFamily="50" charset="-128"/>
                          <a:ea typeface="Meiryo UI" panose="020B0604030504040204" pitchFamily="50" charset="-128"/>
                        </a:rPr>
                        <a:t>クラスター</a:t>
                      </a:r>
                      <a:r>
                        <a:rPr kumimoji="1" lang="en-US" altLang="ja-JP" sz="1600" b="1" dirty="0">
                          <a:latin typeface="Meiryo UI" panose="020B0604030504040204" pitchFamily="50" charset="-128"/>
                          <a:ea typeface="Meiryo UI" panose="020B0604030504040204" pitchFamily="50" charset="-128"/>
                        </a:rPr>
                        <a:t>3</a:t>
                      </a:r>
                      <a:endParaRPr kumimoji="1" lang="ja-JP" altLang="en-US" sz="1600" b="1"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42093906"/>
                  </a:ext>
                </a:extLst>
              </a:tr>
              <a:tr h="370840">
                <a:tc>
                  <a:txBody>
                    <a:bodyPr/>
                    <a:lstStyle/>
                    <a:p>
                      <a:r>
                        <a:rPr kumimoji="1" lang="ja-JP" altLang="en-US" sz="1600">
                          <a:latin typeface="Meiryo UI" panose="020B0604030504040204" pitchFamily="50" charset="-128"/>
                          <a:ea typeface="Meiryo UI" panose="020B0604030504040204" pitchFamily="50" charset="-128"/>
                        </a:rPr>
                        <a:t>データ</a:t>
                      </a:r>
                      <a:r>
                        <a:rPr kumimoji="1" lang="en-US" altLang="ja-JP" sz="1600">
                          <a:latin typeface="Meiryo UI" panose="020B0604030504040204" pitchFamily="50" charset="-128"/>
                          <a:ea typeface="Meiryo UI" panose="020B0604030504040204" pitchFamily="50" charset="-128"/>
                        </a:rPr>
                        <a:t>1</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r>
                        <a:rPr kumimoji="1" lang="ja-JP" altLang="en-US" sz="1600" dirty="0">
                          <a:latin typeface="Meiryo UI" panose="020B0604030504040204" pitchFamily="50" charset="-128"/>
                          <a:ea typeface="Meiryo UI" panose="020B0604030504040204" pitchFamily="50" charset="-128"/>
                        </a:rPr>
                        <a:t>データ</a:t>
                      </a:r>
                      <a:r>
                        <a:rPr kumimoji="1" lang="en-US" altLang="ja-JP" sz="1600" dirty="0">
                          <a:latin typeface="Meiryo UI" panose="020B0604030504040204" pitchFamily="50" charset="-128"/>
                          <a:ea typeface="Meiryo UI" panose="020B0604030504040204" pitchFamily="50" charset="-128"/>
                        </a:rPr>
                        <a:t>98</a:t>
                      </a: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0830896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eiryo UI" panose="020B0604030504040204" pitchFamily="50" charset="-128"/>
                          <a:ea typeface="Meiryo UI" panose="020B0604030504040204" pitchFamily="50" charset="-128"/>
                        </a:rPr>
                        <a:t>データ</a:t>
                      </a:r>
                      <a:r>
                        <a:rPr kumimoji="1" lang="en-US" altLang="ja-JP" sz="1600">
                          <a:latin typeface="Meiryo UI" panose="020B0604030504040204" pitchFamily="50" charset="-128"/>
                          <a:ea typeface="Meiryo UI" panose="020B0604030504040204" pitchFamily="50" charset="-128"/>
                        </a:rPr>
                        <a:t>2</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eiryo UI" panose="020B0604030504040204" pitchFamily="50" charset="-128"/>
                          <a:ea typeface="Meiryo UI" panose="020B0604030504040204" pitchFamily="50" charset="-128"/>
                        </a:rPr>
                        <a:t>データ</a:t>
                      </a:r>
                      <a:r>
                        <a:rPr kumimoji="1" lang="en-US" altLang="ja-JP" sz="1600" dirty="0">
                          <a:latin typeface="Meiryo UI" panose="020B0604030504040204" pitchFamily="50" charset="-128"/>
                          <a:ea typeface="Meiryo UI" panose="020B0604030504040204" pitchFamily="50" charset="-128"/>
                        </a:rPr>
                        <a:t>99</a:t>
                      </a: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20388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eiryo UI" panose="020B0604030504040204" pitchFamily="50" charset="-128"/>
                          <a:ea typeface="Meiryo UI" panose="020B0604030504040204" pitchFamily="50" charset="-128"/>
                        </a:rPr>
                        <a:t>データ</a:t>
                      </a:r>
                      <a:r>
                        <a:rPr kumimoji="1" lang="en-US" altLang="ja-JP" sz="1600" dirty="0">
                          <a:latin typeface="Meiryo UI" panose="020B0604030504040204" pitchFamily="50" charset="-128"/>
                          <a:ea typeface="Meiryo UI" panose="020B0604030504040204" pitchFamily="50" charset="-128"/>
                        </a:rPr>
                        <a:t>3</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eiryo UI" panose="020B0604030504040204" pitchFamily="50" charset="-128"/>
                          <a:ea typeface="Meiryo UI" panose="020B0604030504040204" pitchFamily="50" charset="-128"/>
                        </a:rPr>
                        <a:t>データ</a:t>
                      </a:r>
                      <a:r>
                        <a:rPr kumimoji="1" lang="en-US" altLang="ja-JP" sz="1600" dirty="0">
                          <a:latin typeface="Meiryo UI" panose="020B0604030504040204" pitchFamily="50" charset="-128"/>
                          <a:ea typeface="Meiryo UI" panose="020B0604030504040204" pitchFamily="50" charset="-128"/>
                        </a:rPr>
                        <a:t>100</a:t>
                      </a: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624227601"/>
                  </a:ext>
                </a:extLst>
              </a:tr>
            </a:tbl>
          </a:graphicData>
        </a:graphic>
      </p:graphicFrame>
      <p:sp>
        <p:nvSpPr>
          <p:cNvPr id="8" name="テキスト ボックス 7">
            <a:extLst>
              <a:ext uri="{FF2B5EF4-FFF2-40B4-BE49-F238E27FC236}">
                <a16:creationId xmlns:a16="http://schemas.microsoft.com/office/drawing/2014/main" id="{99AB2725-964C-41D5-BD71-8F4A6ED35290}"/>
              </a:ext>
            </a:extLst>
          </p:cNvPr>
          <p:cNvSpPr txBox="1"/>
          <p:nvPr/>
        </p:nvSpPr>
        <p:spPr>
          <a:xfrm>
            <a:off x="754400" y="4235546"/>
            <a:ext cx="9031644" cy="2062103"/>
          </a:xfrm>
          <a:prstGeom prst="rect">
            <a:avLst/>
          </a:prstGeom>
          <a:noFill/>
        </p:spPr>
        <p:txBody>
          <a:bodyPr wrap="square" rtlCol="0">
            <a:spAutoFit/>
          </a:bodyPr>
          <a:lstStyle/>
          <a:p>
            <a:pPr marL="360000" indent="-360000" algn="l">
              <a:buFont typeface="+mj-ea"/>
              <a:buAutoNum type="circleNumDbPlain"/>
            </a:pPr>
            <a:r>
              <a:rPr lang="ja-JP" altLang="en-US" sz="1600" dirty="0">
                <a:latin typeface="Meiryo UI" panose="020B0604030504040204" pitchFamily="50" charset="-128"/>
                <a:ea typeface="Meiryo UI" panose="020B0604030504040204" pitchFamily="50" charset="-128"/>
              </a:rPr>
              <a:t>クラスター数は正解データの</a:t>
            </a:r>
            <a:r>
              <a:rPr lang="en-US" altLang="ja-JP" sz="1600" dirty="0">
                <a:latin typeface="Meiryo UI" panose="020B0604030504040204" pitchFamily="50" charset="-128"/>
                <a:ea typeface="Meiryo UI" panose="020B0604030504040204" pitchFamily="50" charset="-128"/>
              </a:rPr>
              <a:t>3</a:t>
            </a:r>
            <a:r>
              <a:rPr lang="ja-JP" altLang="en-US" sz="1600" dirty="0">
                <a:latin typeface="Meiryo UI" panose="020B0604030504040204" pitchFamily="50" charset="-128"/>
                <a:ea typeface="Meiryo UI" panose="020B0604030504040204" pitchFamily="50" charset="-128"/>
              </a:rPr>
              <a:t>種類と合わせた</a:t>
            </a:r>
            <a:r>
              <a:rPr lang="en-US" altLang="ja-JP" sz="1600" dirty="0">
                <a:latin typeface="Meiryo UI" panose="020B0604030504040204" pitchFamily="50" charset="-128"/>
                <a:ea typeface="Meiryo UI" panose="020B0604030504040204" pitchFamily="50" charset="-128"/>
              </a:rPr>
              <a:t>3</a:t>
            </a:r>
            <a:r>
              <a:rPr lang="ja-JP" altLang="en-US" sz="1600" dirty="0">
                <a:latin typeface="Meiryo UI" panose="020B0604030504040204" pitchFamily="50" charset="-128"/>
                <a:ea typeface="Meiryo UI" panose="020B0604030504040204" pitchFamily="50" charset="-128"/>
              </a:rPr>
              <a:t>個に設定し、入力データの次元数を</a:t>
            </a:r>
            <a:r>
              <a:rPr lang="en-US" altLang="ja-JP" sz="1600" dirty="0">
                <a:latin typeface="Meiryo UI" panose="020B0604030504040204" pitchFamily="50" charset="-128"/>
                <a:ea typeface="Meiryo UI" panose="020B0604030504040204" pitchFamily="50" charset="-128"/>
              </a:rPr>
              <a:t>100</a:t>
            </a:r>
            <a:r>
              <a:rPr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1000</a:t>
            </a:r>
            <a:r>
              <a:rPr lang="ja-JP" altLang="en-US" sz="1600" dirty="0">
                <a:latin typeface="Meiryo UI" panose="020B0604030504040204" pitchFamily="50" charset="-128"/>
                <a:ea typeface="Meiryo UI" panose="020B0604030504040204" pitchFamily="50" charset="-128"/>
              </a:rPr>
              <a:t>へ増加させ、下記の距離をそれぞれヒストグラムで確認します。</a:t>
            </a:r>
            <a:endParaRPr lang="en-US" altLang="ja-JP" sz="1600" dirty="0">
              <a:latin typeface="Meiryo UI" panose="020B0604030504040204" pitchFamily="50" charset="-128"/>
              <a:ea typeface="Meiryo UI" panose="020B0604030504040204" pitchFamily="50" charset="-128"/>
            </a:endParaRPr>
          </a:p>
          <a:p>
            <a:pPr marL="360000" indent="-360000">
              <a:buFont typeface="+mj-ea"/>
              <a:buAutoNum type="circleNumDbPlain"/>
            </a:pPr>
            <a:endParaRPr lang="en-US" altLang="ja-JP" sz="1600" dirty="0">
              <a:latin typeface="Meiryo UI" panose="020B0604030504040204" pitchFamily="50" charset="-128"/>
              <a:ea typeface="Meiryo UI" panose="020B0604030504040204" pitchFamily="50" charset="-128"/>
            </a:endParaRPr>
          </a:p>
          <a:p>
            <a:pPr marL="360000" indent="-360000">
              <a:buFont typeface="+mj-ea"/>
              <a:buAutoNum type="circleNumDbPlain"/>
            </a:pPr>
            <a:endParaRPr lang="en-US" altLang="ja-JP" sz="1600" dirty="0">
              <a:latin typeface="Meiryo UI" panose="020B0604030504040204" pitchFamily="50" charset="-128"/>
              <a:ea typeface="Meiryo UI" panose="020B0604030504040204" pitchFamily="50" charset="-128"/>
            </a:endParaRPr>
          </a:p>
          <a:p>
            <a:pPr marL="360000" indent="-360000">
              <a:buFont typeface="+mj-ea"/>
              <a:buAutoNum type="circleNumDbPlain"/>
            </a:pPr>
            <a:endParaRPr lang="en-US" altLang="ja-JP" sz="1600" dirty="0">
              <a:latin typeface="Meiryo UI" panose="020B0604030504040204" pitchFamily="50" charset="-128"/>
              <a:ea typeface="Meiryo UI" panose="020B0604030504040204" pitchFamily="50" charset="-128"/>
            </a:endParaRPr>
          </a:p>
          <a:p>
            <a:pPr marL="360000" indent="-360000">
              <a:buFont typeface="+mj-ea"/>
              <a:buAutoNum type="circleNumDbPlain"/>
            </a:pPr>
            <a:endParaRPr lang="en-US" altLang="ja-JP" sz="1600" dirty="0">
              <a:latin typeface="Meiryo UI" panose="020B0604030504040204" pitchFamily="50" charset="-128"/>
              <a:ea typeface="Meiryo UI" panose="020B0604030504040204" pitchFamily="50" charset="-128"/>
            </a:endParaRPr>
          </a:p>
          <a:p>
            <a:pPr marL="360000" indent="-360000">
              <a:buFont typeface="+mj-ea"/>
              <a:buAutoNum type="circleNumDbPlain"/>
            </a:pPr>
            <a:r>
              <a:rPr lang="ja-JP" altLang="en-US" sz="1600" dirty="0">
                <a:latin typeface="Meiryo UI" panose="020B0604030504040204" pitchFamily="50" charset="-128"/>
                <a:ea typeface="Meiryo UI" panose="020B0604030504040204" pitchFamily="50" charset="-128"/>
              </a:rPr>
              <a:t>データ同士の距離の差が大きくなるということが、どれくらいクラスタリングの結果に影響しているのかを確認するために、大カテゴリの正解率と次元数</a:t>
            </a:r>
            <a:r>
              <a:rPr lang="en-US" altLang="ja-JP" sz="1600" dirty="0">
                <a:latin typeface="Meiryo UI" panose="020B0604030504040204" pitchFamily="50" charset="-128"/>
                <a:ea typeface="Meiryo UI" panose="020B0604030504040204" pitchFamily="50" charset="-128"/>
              </a:rPr>
              <a:t>100,200,500,1000</a:t>
            </a:r>
            <a:r>
              <a:rPr lang="ja-JP" altLang="en-US" sz="1600" dirty="0">
                <a:latin typeface="Meiryo UI" panose="020B0604030504040204" pitchFamily="50" charset="-128"/>
                <a:ea typeface="Meiryo UI" panose="020B0604030504040204" pitchFamily="50" charset="-128"/>
              </a:rPr>
              <a:t>のクラスタリング結果を目視で確認します。</a:t>
            </a:r>
            <a:endParaRPr lang="en-US" altLang="ja-JP" sz="1600" dirty="0">
              <a:latin typeface="Meiryo UI" panose="020B0604030504040204" pitchFamily="50" charset="-128"/>
              <a:ea typeface="Meiryo UI" panose="020B0604030504040204" pitchFamily="50" charset="-128"/>
            </a:endParaRPr>
          </a:p>
        </p:txBody>
      </p:sp>
      <p:sp>
        <p:nvSpPr>
          <p:cNvPr id="9" name="フローチャート: 組合せ 8">
            <a:extLst>
              <a:ext uri="{FF2B5EF4-FFF2-40B4-BE49-F238E27FC236}">
                <a16:creationId xmlns:a16="http://schemas.microsoft.com/office/drawing/2014/main" id="{EFFA9E8A-ED57-4D37-A914-4177ABDEAC47}"/>
              </a:ext>
            </a:extLst>
          </p:cNvPr>
          <p:cNvSpPr/>
          <p:nvPr/>
        </p:nvSpPr>
        <p:spPr>
          <a:xfrm rot="16200000">
            <a:off x="6254013" y="2936744"/>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cxnSp>
        <p:nvCxnSpPr>
          <p:cNvPr id="10" name="直線矢印コネクタ 9">
            <a:extLst>
              <a:ext uri="{FF2B5EF4-FFF2-40B4-BE49-F238E27FC236}">
                <a16:creationId xmlns:a16="http://schemas.microsoft.com/office/drawing/2014/main" id="{2C18A0D8-76BD-41C1-9B3A-8EEA94CD7802}"/>
              </a:ext>
            </a:extLst>
          </p:cNvPr>
          <p:cNvCxnSpPr>
            <a:cxnSpLocks/>
          </p:cNvCxnSpPr>
          <p:nvPr/>
        </p:nvCxnSpPr>
        <p:spPr>
          <a:xfrm flipV="1">
            <a:off x="7380841" y="3692915"/>
            <a:ext cx="10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5BFE40A3-BC68-4824-B974-63840EE65702}"/>
              </a:ext>
            </a:extLst>
          </p:cNvPr>
          <p:cNvCxnSpPr>
            <a:cxnSpLocks/>
          </p:cNvCxnSpPr>
          <p:nvPr/>
        </p:nvCxnSpPr>
        <p:spPr>
          <a:xfrm flipV="1">
            <a:off x="7380841" y="260880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フローチャート: 組合せ 17">
            <a:extLst>
              <a:ext uri="{FF2B5EF4-FFF2-40B4-BE49-F238E27FC236}">
                <a16:creationId xmlns:a16="http://schemas.microsoft.com/office/drawing/2014/main" id="{B82AE93C-9835-4CB8-A3E2-E35D2B4BC1CA}"/>
              </a:ext>
            </a:extLst>
          </p:cNvPr>
          <p:cNvSpPr/>
          <p:nvPr/>
        </p:nvSpPr>
        <p:spPr>
          <a:xfrm rot="16200000">
            <a:off x="2188252" y="2936744"/>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D3355D47-8D37-4027-B57D-4B4F7FE8D994}"/>
              </a:ext>
            </a:extLst>
          </p:cNvPr>
          <p:cNvSpPr/>
          <p:nvPr/>
        </p:nvSpPr>
        <p:spPr>
          <a:xfrm>
            <a:off x="1007823" y="2349332"/>
            <a:ext cx="1536023" cy="50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次元数</a:t>
            </a:r>
            <a:endParaRPr kumimoji="1" lang="en-US" altLang="ja-JP" sz="1600" b="1" dirty="0">
              <a:solidFill>
                <a:schemeClr val="tx1"/>
              </a:solidFill>
              <a:latin typeface="Meiryo UI" panose="020B0604030504040204" pitchFamily="50" charset="-128"/>
              <a:ea typeface="Meiryo UI" panose="020B0604030504040204" pitchFamily="50" charset="-128"/>
            </a:endParaRPr>
          </a:p>
          <a:p>
            <a:pPr algn="ctr"/>
            <a:r>
              <a:rPr kumimoji="1" lang="en-US" altLang="ja-JP" sz="1600" b="1" dirty="0">
                <a:solidFill>
                  <a:schemeClr val="tx1"/>
                </a:solidFill>
                <a:latin typeface="Meiryo UI" panose="020B0604030504040204" pitchFamily="50" charset="-128"/>
                <a:ea typeface="Meiryo UI" panose="020B0604030504040204" pitchFamily="50" charset="-128"/>
              </a:rPr>
              <a:t>100</a:t>
            </a:r>
            <a:endParaRPr kumimoji="1" lang="ja-JP" altLang="en-US" sz="1600" b="1" dirty="0">
              <a:solidFill>
                <a:schemeClr val="tx1"/>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BB9058AC-B42F-46F2-8063-E685E3EF1E39}"/>
              </a:ext>
            </a:extLst>
          </p:cNvPr>
          <p:cNvSpPr/>
          <p:nvPr/>
        </p:nvSpPr>
        <p:spPr>
          <a:xfrm>
            <a:off x="1007823" y="3540376"/>
            <a:ext cx="1536023" cy="50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次元数</a:t>
            </a:r>
            <a:endParaRPr kumimoji="1" lang="en-US" altLang="ja-JP" sz="1600" b="1" dirty="0">
              <a:solidFill>
                <a:schemeClr val="tx1"/>
              </a:solidFill>
              <a:latin typeface="Meiryo UI" panose="020B0604030504040204" pitchFamily="50" charset="-128"/>
              <a:ea typeface="Meiryo UI" panose="020B0604030504040204" pitchFamily="50" charset="-128"/>
            </a:endParaRPr>
          </a:p>
          <a:p>
            <a:pPr algn="ctr"/>
            <a:r>
              <a:rPr kumimoji="1" lang="en-US" altLang="ja-JP" sz="1600" b="1" dirty="0">
                <a:solidFill>
                  <a:schemeClr val="tx1"/>
                </a:solidFill>
                <a:latin typeface="Meiryo UI" panose="020B0604030504040204" pitchFamily="50" charset="-128"/>
                <a:ea typeface="Meiryo UI" panose="020B0604030504040204" pitchFamily="50" charset="-128"/>
              </a:rPr>
              <a:t>1000</a:t>
            </a:r>
            <a:endParaRPr kumimoji="1" lang="ja-JP" altLang="en-US" sz="1600" b="1" dirty="0">
              <a:solidFill>
                <a:schemeClr val="tx1"/>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B6C1BCF9-C277-4C21-A7A3-4CC88EA0A3DE}"/>
              </a:ext>
            </a:extLst>
          </p:cNvPr>
          <p:cNvSpPr/>
          <p:nvPr/>
        </p:nvSpPr>
        <p:spPr>
          <a:xfrm>
            <a:off x="7380841" y="3508806"/>
            <a:ext cx="138366" cy="18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3F60454B-99A1-437E-BE9C-D2D3193D7DC5}"/>
              </a:ext>
            </a:extLst>
          </p:cNvPr>
          <p:cNvSpPr/>
          <p:nvPr/>
        </p:nvSpPr>
        <p:spPr>
          <a:xfrm>
            <a:off x="7519207" y="3330861"/>
            <a:ext cx="138366" cy="36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6DEF15CE-5745-4072-815E-74EC35946071}"/>
              </a:ext>
            </a:extLst>
          </p:cNvPr>
          <p:cNvSpPr/>
          <p:nvPr/>
        </p:nvSpPr>
        <p:spPr>
          <a:xfrm>
            <a:off x="7613291" y="3330861"/>
            <a:ext cx="138366" cy="36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DE574B6-D284-42D7-9B98-7F3741808735}"/>
              </a:ext>
            </a:extLst>
          </p:cNvPr>
          <p:cNvSpPr/>
          <p:nvPr/>
        </p:nvSpPr>
        <p:spPr>
          <a:xfrm>
            <a:off x="7751657" y="3508806"/>
            <a:ext cx="138366" cy="18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5613048A-19DD-4867-843C-55F1DE8D37C6}"/>
              </a:ext>
            </a:extLst>
          </p:cNvPr>
          <p:cNvSpPr/>
          <p:nvPr/>
        </p:nvSpPr>
        <p:spPr>
          <a:xfrm>
            <a:off x="7877942" y="3330861"/>
            <a:ext cx="138366" cy="36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C0FD95B5-8944-4348-A7EA-AA2D39ACEC48}"/>
              </a:ext>
            </a:extLst>
          </p:cNvPr>
          <p:cNvSpPr/>
          <p:nvPr/>
        </p:nvSpPr>
        <p:spPr>
          <a:xfrm>
            <a:off x="8016308" y="3511888"/>
            <a:ext cx="138366" cy="18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正方形/長方形 25">
            <a:extLst>
              <a:ext uri="{FF2B5EF4-FFF2-40B4-BE49-F238E27FC236}">
                <a16:creationId xmlns:a16="http://schemas.microsoft.com/office/drawing/2014/main" id="{0959F9CE-6BE9-4C49-8271-95E58D89234C}"/>
              </a:ext>
            </a:extLst>
          </p:cNvPr>
          <p:cNvSpPr/>
          <p:nvPr/>
        </p:nvSpPr>
        <p:spPr>
          <a:xfrm>
            <a:off x="8142593" y="3330861"/>
            <a:ext cx="138366" cy="36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710ABF5E-6F0E-413F-8996-14682AFF9C55}"/>
              </a:ext>
            </a:extLst>
          </p:cNvPr>
          <p:cNvCxnSpPr>
            <a:cxnSpLocks/>
          </p:cNvCxnSpPr>
          <p:nvPr/>
        </p:nvCxnSpPr>
        <p:spPr>
          <a:xfrm flipV="1">
            <a:off x="8779206" y="3692915"/>
            <a:ext cx="10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FC8DD70D-E023-48DE-A86D-46075C3D1B9C}"/>
              </a:ext>
            </a:extLst>
          </p:cNvPr>
          <p:cNvCxnSpPr>
            <a:cxnSpLocks/>
          </p:cNvCxnSpPr>
          <p:nvPr/>
        </p:nvCxnSpPr>
        <p:spPr>
          <a:xfrm flipV="1">
            <a:off x="8779206" y="260880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208E81A4-0340-427F-8E4D-361BDD5D0ACC}"/>
              </a:ext>
            </a:extLst>
          </p:cNvPr>
          <p:cNvSpPr/>
          <p:nvPr/>
        </p:nvSpPr>
        <p:spPr>
          <a:xfrm>
            <a:off x="9379337" y="3149260"/>
            <a:ext cx="138366" cy="54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4EDD73FC-5990-472E-AE2F-3B11876DCEF3}"/>
              </a:ext>
            </a:extLst>
          </p:cNvPr>
          <p:cNvSpPr/>
          <p:nvPr/>
        </p:nvSpPr>
        <p:spPr>
          <a:xfrm>
            <a:off x="9517703" y="2968807"/>
            <a:ext cx="138366" cy="72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31A49A9-3B19-4587-B998-8727ACEC7FCA}"/>
              </a:ext>
            </a:extLst>
          </p:cNvPr>
          <p:cNvSpPr txBox="1"/>
          <p:nvPr/>
        </p:nvSpPr>
        <p:spPr>
          <a:xfrm>
            <a:off x="7354403" y="3713974"/>
            <a:ext cx="1219596" cy="523220"/>
          </a:xfrm>
          <a:prstGeom prst="rect">
            <a:avLst/>
          </a:prstGeom>
          <a:noFill/>
        </p:spPr>
        <p:txBody>
          <a:bodyPr wrap="square" rtlCol="0">
            <a:spAutoFit/>
          </a:bodyPr>
          <a:lstStyle/>
          <a:p>
            <a:pPr algn="ctr"/>
            <a:r>
              <a:rPr kumimoji="1" lang="ja-JP" altLang="en-US" sz="1400" dirty="0">
                <a:latin typeface="Meiryo UI" panose="020B0604030504040204" pitchFamily="50" charset="-128"/>
                <a:ea typeface="Meiryo UI" panose="020B0604030504040204" pitchFamily="50" charset="-128"/>
              </a:rPr>
              <a:t>次元数</a:t>
            </a:r>
            <a:r>
              <a:rPr kumimoji="1" lang="en-US" altLang="ja-JP" sz="1400" dirty="0">
                <a:latin typeface="Meiryo UI" panose="020B0604030504040204" pitchFamily="50" charset="-128"/>
                <a:ea typeface="Meiryo UI" panose="020B0604030504040204" pitchFamily="50" charset="-128"/>
              </a:rPr>
              <a:t>100</a:t>
            </a:r>
            <a:r>
              <a:rPr kumimoji="1" lang="ja-JP" altLang="en-US" sz="1400" dirty="0">
                <a:latin typeface="Meiryo UI" panose="020B0604030504040204" pitchFamily="50" charset="-128"/>
                <a:ea typeface="Meiryo UI" panose="020B0604030504040204" pitchFamily="50" charset="-128"/>
              </a:rPr>
              <a:t>のヒストグラム</a:t>
            </a:r>
          </a:p>
        </p:txBody>
      </p:sp>
      <p:sp>
        <p:nvSpPr>
          <p:cNvPr id="38" name="テキスト ボックス 37">
            <a:extLst>
              <a:ext uri="{FF2B5EF4-FFF2-40B4-BE49-F238E27FC236}">
                <a16:creationId xmlns:a16="http://schemas.microsoft.com/office/drawing/2014/main" id="{B94C166C-4C8D-48CE-9BA0-4E560749C8DA}"/>
              </a:ext>
            </a:extLst>
          </p:cNvPr>
          <p:cNvSpPr txBox="1"/>
          <p:nvPr/>
        </p:nvSpPr>
        <p:spPr>
          <a:xfrm>
            <a:off x="8574000" y="3713974"/>
            <a:ext cx="1332000" cy="523220"/>
          </a:xfrm>
          <a:prstGeom prst="rect">
            <a:avLst/>
          </a:prstGeom>
          <a:noFill/>
        </p:spPr>
        <p:txBody>
          <a:bodyPr wrap="square" rtlCol="0">
            <a:spAutoFit/>
          </a:bodyPr>
          <a:lstStyle/>
          <a:p>
            <a:pPr algn="ctr"/>
            <a:r>
              <a:rPr kumimoji="1" lang="ja-JP" altLang="en-US" sz="1400" dirty="0">
                <a:latin typeface="Meiryo UI" panose="020B0604030504040204" pitchFamily="50" charset="-128"/>
                <a:ea typeface="Meiryo UI" panose="020B0604030504040204" pitchFamily="50" charset="-128"/>
              </a:rPr>
              <a:t>次元数</a:t>
            </a:r>
            <a:r>
              <a:rPr kumimoji="1" lang="en-US" altLang="ja-JP" sz="1400" dirty="0">
                <a:latin typeface="Meiryo UI" panose="020B0604030504040204" pitchFamily="50" charset="-128"/>
                <a:ea typeface="Meiryo UI" panose="020B0604030504040204" pitchFamily="50" charset="-128"/>
              </a:rPr>
              <a:t>1000</a:t>
            </a:r>
            <a:r>
              <a:rPr kumimoji="1" lang="ja-JP" altLang="en-US" sz="1400" dirty="0">
                <a:latin typeface="Meiryo UI" panose="020B0604030504040204" pitchFamily="50" charset="-128"/>
                <a:ea typeface="Meiryo UI" panose="020B0604030504040204" pitchFamily="50" charset="-128"/>
              </a:rPr>
              <a:t>のヒストグラム</a:t>
            </a:r>
          </a:p>
        </p:txBody>
      </p:sp>
      <p:graphicFrame>
        <p:nvGraphicFramePr>
          <p:cNvPr id="13" name="表 13">
            <a:extLst>
              <a:ext uri="{FF2B5EF4-FFF2-40B4-BE49-F238E27FC236}">
                <a16:creationId xmlns:a16="http://schemas.microsoft.com/office/drawing/2014/main" id="{F8EBBD24-2156-4005-866B-16CF3ED8445C}"/>
              </a:ext>
            </a:extLst>
          </p:cNvPr>
          <p:cNvGraphicFramePr>
            <a:graphicFrameLocks noGrp="1"/>
          </p:cNvGraphicFramePr>
          <p:nvPr>
            <p:extLst>
              <p:ext uri="{D42A27DB-BD31-4B8C-83A1-F6EECF244321}">
                <p14:modId xmlns:p14="http://schemas.microsoft.com/office/powerpoint/2010/main" val="1334907046"/>
              </p:ext>
            </p:extLst>
          </p:nvPr>
        </p:nvGraphicFramePr>
        <p:xfrm>
          <a:off x="1144038" y="4905786"/>
          <a:ext cx="7131318" cy="609600"/>
        </p:xfrm>
        <a:graphic>
          <a:graphicData uri="http://schemas.openxmlformats.org/drawingml/2006/table">
            <a:tbl>
              <a:tblPr firstRow="1" bandRow="1">
                <a:tableStyleId>{5940675A-B579-460E-94D1-54222C63F5DA}</a:tableStyleId>
              </a:tblPr>
              <a:tblGrid>
                <a:gridCol w="2667318">
                  <a:extLst>
                    <a:ext uri="{9D8B030D-6E8A-4147-A177-3AD203B41FA5}">
                      <a16:colId xmlns:a16="http://schemas.microsoft.com/office/drawing/2014/main" val="2011403973"/>
                    </a:ext>
                  </a:extLst>
                </a:gridCol>
                <a:gridCol w="4464000">
                  <a:extLst>
                    <a:ext uri="{9D8B030D-6E8A-4147-A177-3AD203B41FA5}">
                      <a16:colId xmlns:a16="http://schemas.microsoft.com/office/drawing/2014/main" val="2272106812"/>
                    </a:ext>
                  </a:extLst>
                </a:gridCol>
              </a:tblGrid>
              <a:tr h="156259">
                <a:tc>
                  <a:txBody>
                    <a:bodyPr/>
                    <a:lstStyle/>
                    <a:p>
                      <a:pPr algn="ctr"/>
                      <a:r>
                        <a:rPr kumimoji="1" lang="ja-JP" altLang="en-US" sz="1400" b="1" dirty="0">
                          <a:latin typeface="Meiryo UI" panose="020B0604030504040204" pitchFamily="50" charset="-128"/>
                          <a:ea typeface="Meiryo UI" panose="020B0604030504040204" pitchFamily="50" charset="-128"/>
                        </a:rPr>
                        <a:t>検証指標</a:t>
                      </a:r>
                    </a:p>
                  </a:txBody>
                  <a:tcPr/>
                </a:tc>
                <a:tc>
                  <a:txBody>
                    <a:bodyPr/>
                    <a:lstStyle/>
                    <a:p>
                      <a:pPr algn="ctr"/>
                      <a:r>
                        <a:rPr kumimoji="1" lang="ja-JP" altLang="en-US" sz="1400" b="1" dirty="0">
                          <a:latin typeface="Meiryo UI" panose="020B0604030504040204" pitchFamily="50" charset="-128"/>
                          <a:ea typeface="Meiryo UI" panose="020B0604030504040204" pitchFamily="50" charset="-128"/>
                        </a:rPr>
                        <a:t>狙い</a:t>
                      </a:r>
                    </a:p>
                  </a:txBody>
                  <a:tcPr/>
                </a:tc>
                <a:extLst>
                  <a:ext uri="{0D108BD9-81ED-4DB2-BD59-A6C34878D82A}">
                    <a16:rowId xmlns:a16="http://schemas.microsoft.com/office/drawing/2014/main" val="2169194284"/>
                  </a:ext>
                </a:extLst>
              </a:tr>
              <a:tr h="192649">
                <a:tc>
                  <a:txBody>
                    <a:bodyPr/>
                    <a:lstStyle/>
                    <a:p>
                      <a:pPr marL="0" indent="0" algn="l">
                        <a:buFont typeface="+mj-ea"/>
                        <a:buNone/>
                      </a:pPr>
                      <a:r>
                        <a:rPr lang="ja-JP" altLang="en-US" sz="1400" dirty="0">
                          <a:latin typeface="Meiryo UI" panose="020B0604030504040204" pitchFamily="50" charset="-128"/>
                          <a:ea typeface="Meiryo UI" panose="020B0604030504040204" pitchFamily="50" charset="-128"/>
                        </a:rPr>
                        <a:t>あるデータとその他のデータとの距離</a:t>
                      </a:r>
                      <a:endParaRPr lang="en-US" altLang="ja-JP" sz="1400" dirty="0">
                        <a:latin typeface="Meiryo UI" panose="020B0604030504040204" pitchFamily="50" charset="-128"/>
                        <a:ea typeface="Meiryo UI" panose="020B0604030504040204" pitchFamily="50" charset="-128"/>
                      </a:endParaRPr>
                    </a:p>
                  </a:txBody>
                  <a:tcPr/>
                </a:tc>
                <a:tc>
                  <a:txBody>
                    <a:bodyPr/>
                    <a:lstStyle/>
                    <a:p>
                      <a:r>
                        <a:rPr lang="ja-JP" altLang="en-US" sz="1400" dirty="0">
                          <a:latin typeface="Meiryo UI" panose="020B0604030504040204" pitchFamily="50" charset="-128"/>
                          <a:ea typeface="Meiryo UI" panose="020B0604030504040204" pitchFamily="50" charset="-128"/>
                        </a:rPr>
                        <a:t>次元数が増えてるごとに、距離が遠くなっていくのかを確認する</a:t>
                      </a:r>
                      <a:endParaRPr kumimoji="1" lang="ja-JP" altLang="en-US"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889586564"/>
                  </a:ext>
                </a:extLst>
              </a:tr>
            </a:tbl>
          </a:graphicData>
        </a:graphic>
      </p:graphicFrame>
      <p:sp>
        <p:nvSpPr>
          <p:cNvPr id="4" name="スライド番号プレースホルダー 3">
            <a:extLst>
              <a:ext uri="{FF2B5EF4-FFF2-40B4-BE49-F238E27FC236}">
                <a16:creationId xmlns:a16="http://schemas.microsoft.com/office/drawing/2014/main" id="{DB5A52F0-91D6-4063-828C-C27A06197A93}"/>
              </a:ext>
            </a:extLst>
          </p:cNvPr>
          <p:cNvSpPr>
            <a:spLocks noGrp="1"/>
          </p:cNvSpPr>
          <p:nvPr>
            <p:ph type="sldNum" sz="quarter" idx="12"/>
          </p:nvPr>
        </p:nvSpPr>
        <p:spPr/>
        <p:txBody>
          <a:bodyPr/>
          <a:lstStyle/>
          <a:p>
            <a:fld id="{4A0ABA21-04CE-4531-99B2-420D29D6D622}" type="slidenum">
              <a:rPr lang="ja-JP" altLang="en-US" smtClean="0"/>
              <a:pPr/>
              <a:t>21</a:t>
            </a:fld>
            <a:endParaRPr lang="ja-JP" altLang="en-US" dirty="0"/>
          </a:p>
        </p:txBody>
      </p:sp>
      <p:sp>
        <p:nvSpPr>
          <p:cNvPr id="14" name="テキスト ボックス 13">
            <a:extLst>
              <a:ext uri="{FF2B5EF4-FFF2-40B4-BE49-F238E27FC236}">
                <a16:creationId xmlns:a16="http://schemas.microsoft.com/office/drawing/2014/main" id="{BB6DC477-9A02-4760-AC2C-7C75E992CBF3}"/>
              </a:ext>
            </a:extLst>
          </p:cNvPr>
          <p:cNvSpPr txBox="1"/>
          <p:nvPr/>
        </p:nvSpPr>
        <p:spPr>
          <a:xfrm>
            <a:off x="1558805" y="2881191"/>
            <a:ext cx="430887" cy="707886"/>
          </a:xfrm>
          <a:prstGeom prst="rect">
            <a:avLst/>
          </a:prstGeom>
          <a:noFill/>
        </p:spPr>
        <p:txBody>
          <a:bodyPr vert="eaVert" wrap="none" rtlCol="0">
            <a:spAutoFit/>
          </a:bodyPr>
          <a:lstStyle/>
          <a:p>
            <a:pPr algn="l"/>
            <a:r>
              <a:rPr kumimoji="1" lang="ja-JP" altLang="en-US" sz="1600" dirty="0">
                <a:latin typeface="Meiryo UI" panose="020B0604030504040204" pitchFamily="50" charset="-128"/>
                <a:ea typeface="Meiryo UI" panose="020B0604030504040204" pitchFamily="50" charset="-128"/>
              </a:rPr>
              <a:t>・・・</a:t>
            </a:r>
          </a:p>
        </p:txBody>
      </p:sp>
      <p:sp>
        <p:nvSpPr>
          <p:cNvPr id="30" name="正方形/長方形 29">
            <a:extLst>
              <a:ext uri="{FF2B5EF4-FFF2-40B4-BE49-F238E27FC236}">
                <a16:creationId xmlns:a16="http://schemas.microsoft.com/office/drawing/2014/main" id="{AC9BEEF2-6554-4895-B7A0-BFDF5C0353B9}"/>
              </a:ext>
            </a:extLst>
          </p:cNvPr>
          <p:cNvSpPr/>
          <p:nvPr/>
        </p:nvSpPr>
        <p:spPr>
          <a:xfrm>
            <a:off x="-1367158" y="2863516"/>
            <a:ext cx="1440000" cy="5400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質問事項⑦</a:t>
            </a:r>
            <a:endParaRPr kumimoji="1" lang="en-US" altLang="ja-JP" sz="1600"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12423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324000" cy="720000"/>
          </a:xfrm>
        </p:spPr>
        <p:txBody>
          <a:bodyPr lIns="72000" tIns="72000" rIns="72000" bIns="72000">
            <a:normAutofit fontScale="90000"/>
          </a:bodyPr>
          <a:lstStyle/>
          <a:p>
            <a:r>
              <a:rPr kumimoji="1" lang="ja-JP" altLang="en-US" sz="3600" dirty="0">
                <a:latin typeface="Meiryo UI" panose="020B0604030504040204" pitchFamily="50" charset="-128"/>
                <a:ea typeface="Meiryo UI" panose="020B0604030504040204" pitchFamily="50" charset="-128"/>
              </a:rPr>
              <a:t>研究②　クラスタリングアルゴリズム　検証</a:t>
            </a:r>
            <a:r>
              <a:rPr lang="ja-JP" altLang="en-US" dirty="0"/>
              <a:t>方法　パターン</a:t>
            </a:r>
            <a:r>
              <a:rPr lang="en-US" altLang="ja-JP" dirty="0"/>
              <a:t>B</a:t>
            </a:r>
            <a:r>
              <a:rPr kumimoji="1" lang="ja-JP" altLang="en-US" sz="3600" dirty="0">
                <a:latin typeface="Meiryo UI" panose="020B0604030504040204" pitchFamily="50" charset="-128"/>
                <a:ea typeface="Meiryo UI" panose="020B0604030504040204" pitchFamily="50" charset="-128"/>
              </a:rPr>
              <a:t>　</a:t>
            </a: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パターン</a:t>
            </a:r>
            <a:r>
              <a:rPr lang="en-US" altLang="ja-JP" sz="2000" b="1" dirty="0">
                <a:latin typeface="Meiryo UI" panose="020B0604030504040204" pitchFamily="50" charset="-128"/>
                <a:ea typeface="Meiryo UI" panose="020B0604030504040204" pitchFamily="50" charset="-128"/>
              </a:rPr>
              <a:t>B</a:t>
            </a:r>
            <a:r>
              <a:rPr lang="ja-JP" altLang="en-US" sz="2000" b="1" dirty="0">
                <a:latin typeface="Meiryo UI" panose="020B0604030504040204" pitchFamily="50" charset="-128"/>
                <a:ea typeface="Meiryo UI" panose="020B0604030504040204" pitchFamily="50" charset="-128"/>
              </a:rPr>
              <a:t>では、</a:t>
            </a:r>
            <a:r>
              <a:rPr lang="en-US" altLang="ja-JP" sz="2000" b="1" dirty="0">
                <a:latin typeface="Meiryo UI" panose="020B0604030504040204" pitchFamily="50" charset="-128"/>
                <a:ea typeface="Meiryo UI" panose="020B0604030504040204" pitchFamily="50" charset="-128"/>
              </a:rPr>
              <a:t>k-means</a:t>
            </a:r>
            <a:r>
              <a:rPr lang="ja-JP" altLang="en-US" sz="2000" b="1" dirty="0">
                <a:latin typeface="Meiryo UI" panose="020B0604030504040204" pitchFamily="50" charset="-128"/>
                <a:ea typeface="Meiryo UI" panose="020B0604030504040204" pitchFamily="50" charset="-128"/>
              </a:rPr>
              <a:t>で次元の呪いが発生している次元数の場合、</a:t>
            </a:r>
            <a:r>
              <a:rPr lang="en-US" altLang="ja-JP" sz="2000" b="1" dirty="0">
                <a:latin typeface="Meiryo UI" panose="020B0604030504040204" pitchFamily="50" charset="-128"/>
                <a:ea typeface="Meiryo UI" panose="020B0604030504040204" pitchFamily="50" charset="-128"/>
              </a:rPr>
              <a:t>PLSA</a:t>
            </a:r>
            <a:r>
              <a:rPr lang="ja-JP" altLang="en-US" sz="2000" b="1" dirty="0">
                <a:latin typeface="Meiryo UI" panose="020B0604030504040204" pitchFamily="50" charset="-128"/>
                <a:ea typeface="Meiryo UI" panose="020B0604030504040204" pitchFamily="50" charset="-128"/>
              </a:rPr>
              <a:t>ではクラスタリングが正常に行えているかを確認します。</a:t>
            </a:r>
            <a:endParaRPr lang="ja-JP" altLang="ja-JP" sz="2000"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C921004A-A636-4323-B819-68316217B36B}"/>
              </a:ext>
            </a:extLst>
          </p:cNvPr>
          <p:cNvSpPr txBox="1"/>
          <p:nvPr/>
        </p:nvSpPr>
        <p:spPr>
          <a:xfrm>
            <a:off x="3849172" y="1980000"/>
            <a:ext cx="2207656"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検証方法　パターン</a:t>
            </a:r>
            <a:r>
              <a:rPr lang="en-US" altLang="ja-JP" b="1" dirty="0">
                <a:solidFill>
                  <a:prstClr val="black"/>
                </a:solidFill>
                <a:latin typeface="Meiryo UI" panose="020B0604030504040204" pitchFamily="50" charset="-128"/>
                <a:ea typeface="Meiryo UI" panose="020B0604030504040204" pitchFamily="50" charset="-128"/>
              </a:rPr>
              <a:t>B</a:t>
            </a:r>
            <a:endParaRPr lang="ja-JP" altLang="en-US" b="1" dirty="0">
              <a:solidFill>
                <a:prstClr val="black"/>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99AB2725-964C-41D5-BD71-8F4A6ED35290}"/>
              </a:ext>
            </a:extLst>
          </p:cNvPr>
          <p:cNvSpPr txBox="1"/>
          <p:nvPr/>
        </p:nvSpPr>
        <p:spPr>
          <a:xfrm>
            <a:off x="540000" y="5112000"/>
            <a:ext cx="9000000" cy="1077218"/>
          </a:xfrm>
          <a:prstGeom prst="rect">
            <a:avLst/>
          </a:prstGeom>
          <a:noFill/>
        </p:spPr>
        <p:txBody>
          <a:bodyPr wrap="square" rtlCol="0">
            <a:spAutoFit/>
          </a:bodyPr>
          <a:lstStyle/>
          <a:p>
            <a:pPr marL="360000" indent="-360000">
              <a:buFont typeface="Wingdings" panose="05000000000000000000" pitchFamily="2" charset="2"/>
              <a:buChar char="Ø"/>
            </a:pPr>
            <a:r>
              <a:rPr lang="en-US" altLang="ja-JP" sz="1600" dirty="0">
                <a:latin typeface="Meiryo UI" panose="020B0604030504040204" pitchFamily="50" charset="-128"/>
                <a:ea typeface="Meiryo UI" panose="020B0604030504040204" pitchFamily="50" charset="-128"/>
              </a:rPr>
              <a:t>K-means</a:t>
            </a:r>
            <a:r>
              <a:rPr lang="ja-JP" altLang="en-US" sz="1600" dirty="0">
                <a:latin typeface="Meiryo UI" panose="020B0604030504040204" pitchFamily="50" charset="-128"/>
                <a:ea typeface="Meiryo UI" panose="020B0604030504040204" pitchFamily="50" charset="-128"/>
              </a:rPr>
              <a:t>で次元の呪いが発生している次元数</a:t>
            </a:r>
            <a:r>
              <a:rPr lang="en-US" altLang="ja-JP" sz="1600" dirty="0">
                <a:latin typeface="Meiryo UI" panose="020B0604030504040204" pitchFamily="50" charset="-128"/>
                <a:ea typeface="Meiryo UI" panose="020B0604030504040204" pitchFamily="50" charset="-128"/>
              </a:rPr>
              <a:t>1000</a:t>
            </a:r>
            <a:r>
              <a:rPr lang="ja-JP" altLang="en-US" sz="1600" dirty="0">
                <a:latin typeface="Meiryo UI" panose="020B0604030504040204" pitchFamily="50" charset="-128"/>
                <a:ea typeface="Meiryo UI" panose="020B0604030504040204" pitchFamily="50" charset="-128"/>
              </a:rPr>
              <a:t>のデータに対して、</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でも同様にクラスタリングを行うことで、</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ではクラスタリングが正常に行えているかを確認します。</a:t>
            </a:r>
            <a:endParaRPr kumimoji="1"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評価の際、</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は各データの所属確立が</a:t>
            </a: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番高いクラスターのみへ所属するとし、</a:t>
            </a:r>
            <a:r>
              <a:rPr lang="en-US" altLang="ja-JP" sz="1600" dirty="0">
                <a:latin typeface="Meiryo UI" panose="020B0604030504040204" pitchFamily="50" charset="-128"/>
                <a:ea typeface="Meiryo UI" panose="020B0604030504040204" pitchFamily="50" charset="-128"/>
              </a:rPr>
              <a:t>2</a:t>
            </a:r>
            <a:r>
              <a:rPr lang="ja-JP" altLang="en-US" sz="1600" dirty="0">
                <a:latin typeface="Meiryo UI" panose="020B0604030504040204" pitchFamily="50" charset="-128"/>
                <a:ea typeface="Meiryo UI" panose="020B0604030504040204" pitchFamily="50" charset="-128"/>
              </a:rPr>
              <a:t>種類のクラスタリングアルゴリズムのクラスタリング結果を正解率で比較するのに加え、</a:t>
            </a:r>
            <a:r>
              <a:rPr kumimoji="1" lang="ja-JP" altLang="en-US" sz="1600" dirty="0">
                <a:latin typeface="Meiryo UI" panose="020B0604030504040204" pitchFamily="50" charset="-128"/>
                <a:ea typeface="Meiryo UI" panose="020B0604030504040204" pitchFamily="50" charset="-128"/>
              </a:rPr>
              <a:t>クラスタリング結果を目視で確認します。</a:t>
            </a:r>
            <a:endParaRPr kumimoji="1" lang="en-US" altLang="ja-JP" sz="1600" dirty="0">
              <a:latin typeface="Meiryo UI" panose="020B0604030504040204" pitchFamily="50" charset="-128"/>
              <a:ea typeface="Meiryo UI" panose="020B0604030504040204" pitchFamily="50" charset="-128"/>
            </a:endParaRPr>
          </a:p>
        </p:txBody>
      </p:sp>
      <p:sp>
        <p:nvSpPr>
          <p:cNvPr id="9" name="フローチャート: 組合せ 8">
            <a:extLst>
              <a:ext uri="{FF2B5EF4-FFF2-40B4-BE49-F238E27FC236}">
                <a16:creationId xmlns:a16="http://schemas.microsoft.com/office/drawing/2014/main" id="{EFFA9E8A-ED57-4D37-A914-4177ABDEAC47}"/>
              </a:ext>
            </a:extLst>
          </p:cNvPr>
          <p:cNvSpPr/>
          <p:nvPr/>
        </p:nvSpPr>
        <p:spPr>
          <a:xfrm rot="16200000">
            <a:off x="4234275" y="2936744"/>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BB9058AC-B42F-46F2-8063-E685E3EF1E39}"/>
              </a:ext>
            </a:extLst>
          </p:cNvPr>
          <p:cNvSpPr/>
          <p:nvPr/>
        </p:nvSpPr>
        <p:spPr>
          <a:xfrm>
            <a:off x="419100" y="2969370"/>
            <a:ext cx="1536023" cy="72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次元数</a:t>
            </a:r>
            <a:endParaRPr kumimoji="1" lang="en-US" altLang="ja-JP" sz="1600" b="1" dirty="0">
              <a:solidFill>
                <a:schemeClr val="tx1"/>
              </a:solidFill>
              <a:latin typeface="Meiryo UI" panose="020B0604030504040204" pitchFamily="50" charset="-128"/>
              <a:ea typeface="Meiryo UI" panose="020B0604030504040204" pitchFamily="50" charset="-128"/>
            </a:endParaRPr>
          </a:p>
          <a:p>
            <a:pPr algn="ctr"/>
            <a:r>
              <a:rPr kumimoji="1" lang="en-US" altLang="ja-JP" sz="1600" b="1" dirty="0">
                <a:solidFill>
                  <a:schemeClr val="tx1"/>
                </a:solidFill>
                <a:latin typeface="Meiryo UI" panose="020B0604030504040204" pitchFamily="50" charset="-128"/>
                <a:ea typeface="Meiryo UI" panose="020B0604030504040204" pitchFamily="50" charset="-128"/>
              </a:rPr>
              <a:t>1000</a:t>
            </a:r>
            <a:endParaRPr kumimoji="1" lang="ja-JP" altLang="en-US" sz="1600" b="1" dirty="0">
              <a:solidFill>
                <a:schemeClr val="tx1"/>
              </a:solidFill>
              <a:latin typeface="Meiryo UI" panose="020B0604030504040204" pitchFamily="50" charset="-128"/>
              <a:ea typeface="Meiryo UI" panose="020B0604030504040204" pitchFamily="50" charset="-128"/>
            </a:endParaRPr>
          </a:p>
        </p:txBody>
      </p:sp>
      <p:cxnSp>
        <p:nvCxnSpPr>
          <p:cNvPr id="25" name="コネクタ: カギ線 24">
            <a:extLst>
              <a:ext uri="{FF2B5EF4-FFF2-40B4-BE49-F238E27FC236}">
                <a16:creationId xmlns:a16="http://schemas.microsoft.com/office/drawing/2014/main" id="{41480DF7-E17C-4958-9B59-4726BB8AFCC0}"/>
              </a:ext>
            </a:extLst>
          </p:cNvPr>
          <p:cNvCxnSpPr>
            <a:cxnSpLocks/>
            <a:stCxn id="20" idx="3"/>
            <a:endCxn id="38" idx="1"/>
          </p:cNvCxnSpPr>
          <p:nvPr/>
        </p:nvCxnSpPr>
        <p:spPr>
          <a:xfrm flipV="1">
            <a:off x="1955123" y="2994508"/>
            <a:ext cx="887245" cy="334862"/>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214BA0D6-6DE9-49A7-8BAA-9EBA0AE4743C}"/>
              </a:ext>
            </a:extLst>
          </p:cNvPr>
          <p:cNvSpPr/>
          <p:nvPr/>
        </p:nvSpPr>
        <p:spPr>
          <a:xfrm>
            <a:off x="2842368" y="2723272"/>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K-means</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graphicFrame>
        <p:nvGraphicFramePr>
          <p:cNvPr id="3" name="表 3">
            <a:extLst>
              <a:ext uri="{FF2B5EF4-FFF2-40B4-BE49-F238E27FC236}">
                <a16:creationId xmlns:a16="http://schemas.microsoft.com/office/drawing/2014/main" id="{81ADE046-4E47-42EA-8DD0-F2078376B4D4}"/>
              </a:ext>
            </a:extLst>
          </p:cNvPr>
          <p:cNvGraphicFramePr>
            <a:graphicFrameLocks noGrp="1"/>
          </p:cNvGraphicFramePr>
          <p:nvPr>
            <p:extLst>
              <p:ext uri="{D42A27DB-BD31-4B8C-83A1-F6EECF244321}">
                <p14:modId xmlns:p14="http://schemas.microsoft.com/office/powerpoint/2010/main" val="103269554"/>
              </p:ext>
            </p:extLst>
          </p:nvPr>
        </p:nvGraphicFramePr>
        <p:xfrm>
          <a:off x="5420885" y="2700000"/>
          <a:ext cx="2746307" cy="1112520"/>
        </p:xfrm>
        <a:graphic>
          <a:graphicData uri="http://schemas.openxmlformats.org/drawingml/2006/table">
            <a:tbl>
              <a:tblPr firstRow="1" bandRow="1">
                <a:tableStyleId>{5940675A-B579-460E-94D1-54222C63F5DA}</a:tableStyleId>
              </a:tblPr>
              <a:tblGrid>
                <a:gridCol w="1251268">
                  <a:extLst>
                    <a:ext uri="{9D8B030D-6E8A-4147-A177-3AD203B41FA5}">
                      <a16:colId xmlns:a16="http://schemas.microsoft.com/office/drawing/2014/main" val="2683408322"/>
                    </a:ext>
                  </a:extLst>
                </a:gridCol>
                <a:gridCol w="1495039">
                  <a:extLst>
                    <a:ext uri="{9D8B030D-6E8A-4147-A177-3AD203B41FA5}">
                      <a16:colId xmlns:a16="http://schemas.microsoft.com/office/drawing/2014/main" val="143763030"/>
                    </a:ext>
                  </a:extLst>
                </a:gridCol>
              </a:tblGrid>
              <a:tr h="370840">
                <a:tc>
                  <a:txBody>
                    <a:bodyPr/>
                    <a:lstStyle/>
                    <a:p>
                      <a:endParaRPr kumimoji="1" lang="ja-JP" altLang="en-US" sz="1600">
                        <a:latin typeface="Meiryo UI" panose="020B0604030504040204" pitchFamily="50" charset="-128"/>
                        <a:ea typeface="Meiryo UI" panose="020B0604030504040204" pitchFamily="50" charset="-128"/>
                      </a:endParaRPr>
                    </a:p>
                  </a:txBody>
                  <a:tcPr/>
                </a:tc>
                <a:tc>
                  <a:txBody>
                    <a:bodyPr/>
                    <a:lstStyle/>
                    <a:p>
                      <a:r>
                        <a:rPr kumimoji="1" lang="ja-JP" altLang="en-US" sz="1600" dirty="0">
                          <a:latin typeface="Meiryo UI" panose="020B0604030504040204" pitchFamily="50" charset="-128"/>
                          <a:ea typeface="Meiryo UI" panose="020B0604030504040204" pitchFamily="50" charset="-128"/>
                        </a:rPr>
                        <a:t>次元数</a:t>
                      </a:r>
                      <a:r>
                        <a:rPr kumimoji="1" lang="en-US" altLang="ja-JP" sz="1600" dirty="0">
                          <a:latin typeface="Meiryo UI" panose="020B0604030504040204" pitchFamily="50" charset="-128"/>
                          <a:ea typeface="Meiryo UI" panose="020B0604030504040204" pitchFamily="50" charset="-128"/>
                        </a:rPr>
                        <a:t>1000</a:t>
                      </a: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43099639"/>
                  </a:ext>
                </a:extLst>
              </a:tr>
              <a:tr h="370840">
                <a:tc>
                  <a:txBody>
                    <a:bodyPr/>
                    <a:lstStyle/>
                    <a:p>
                      <a:r>
                        <a:rPr kumimoji="1" lang="en-US" altLang="ja-JP" sz="1600" dirty="0">
                          <a:latin typeface="Meiryo UI" panose="020B0604030504040204" pitchFamily="50" charset="-128"/>
                          <a:ea typeface="Meiryo UI" panose="020B0604030504040204" pitchFamily="50" charset="-128"/>
                        </a:rPr>
                        <a:t>K-means</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r>
                        <a:rPr kumimoji="1" lang="en-US" altLang="ja-JP" sz="1600" dirty="0">
                          <a:latin typeface="Meiryo UI" panose="020B0604030504040204" pitchFamily="50" charset="-128"/>
                          <a:ea typeface="Meiryo UI" panose="020B0604030504040204" pitchFamily="50" charset="-128"/>
                        </a:rPr>
                        <a:t>30%</a:t>
                      </a: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082380595"/>
                  </a:ext>
                </a:extLst>
              </a:tr>
              <a:tr h="370840">
                <a:tc>
                  <a:txBody>
                    <a:bodyPr/>
                    <a:lstStyle/>
                    <a:p>
                      <a:r>
                        <a:rPr kumimoji="1" lang="en-US" altLang="ja-JP" sz="1600" dirty="0">
                          <a:latin typeface="Meiryo UI" panose="020B0604030504040204" pitchFamily="50" charset="-128"/>
                          <a:ea typeface="Meiryo UI" panose="020B0604030504040204" pitchFamily="50" charset="-128"/>
                        </a:rPr>
                        <a:t>PLSA</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r>
                        <a:rPr kumimoji="1" lang="en-US" altLang="ja-JP" sz="1600" dirty="0">
                          <a:latin typeface="Meiryo UI" panose="020B0604030504040204" pitchFamily="50" charset="-128"/>
                          <a:ea typeface="Meiryo UI" panose="020B0604030504040204" pitchFamily="50" charset="-128"/>
                        </a:rPr>
                        <a:t>60%</a:t>
                      </a: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454971141"/>
                  </a:ext>
                </a:extLst>
              </a:tr>
            </a:tbl>
          </a:graphicData>
        </a:graphic>
      </p:graphicFrame>
      <p:sp>
        <p:nvSpPr>
          <p:cNvPr id="14" name="テキスト ボックス 13">
            <a:extLst>
              <a:ext uri="{FF2B5EF4-FFF2-40B4-BE49-F238E27FC236}">
                <a16:creationId xmlns:a16="http://schemas.microsoft.com/office/drawing/2014/main" id="{0785C689-E905-4506-9FB1-32955342E940}"/>
              </a:ext>
            </a:extLst>
          </p:cNvPr>
          <p:cNvSpPr txBox="1"/>
          <p:nvPr/>
        </p:nvSpPr>
        <p:spPr>
          <a:xfrm>
            <a:off x="6532853" y="2340000"/>
            <a:ext cx="1811359" cy="338554"/>
          </a:xfrm>
          <a:prstGeom prst="rect">
            <a:avLst/>
          </a:prstGeom>
          <a:noFill/>
        </p:spPr>
        <p:txBody>
          <a:bodyPr wrap="square" rtlCol="0">
            <a:spAutoFit/>
          </a:bodyPr>
          <a:lstStyle/>
          <a:p>
            <a:pPr algn="l"/>
            <a:r>
              <a:rPr lang="ja-JP" altLang="en-US" sz="1600" dirty="0">
                <a:latin typeface="Meiryo UI" panose="020B0604030504040204" pitchFamily="50" charset="-128"/>
                <a:ea typeface="Meiryo UI" panose="020B0604030504040204" pitchFamily="50" charset="-128"/>
              </a:rPr>
              <a:t>アウトプットイメージ</a:t>
            </a:r>
            <a:endParaRPr lang="en-US" altLang="ja-JP" sz="1600" dirty="0">
              <a:latin typeface="Meiryo UI" panose="020B0604030504040204" pitchFamily="50" charset="-128"/>
              <a:ea typeface="Meiryo UI" panose="020B0604030504040204" pitchFamily="50" charset="-128"/>
            </a:endParaRPr>
          </a:p>
        </p:txBody>
      </p:sp>
      <p:sp>
        <p:nvSpPr>
          <p:cNvPr id="26" name="四角形: 角を丸くする 25">
            <a:extLst>
              <a:ext uri="{FF2B5EF4-FFF2-40B4-BE49-F238E27FC236}">
                <a16:creationId xmlns:a16="http://schemas.microsoft.com/office/drawing/2014/main" id="{5A934A2A-2AD0-4A0B-B653-E9D72F5D46EF}"/>
              </a:ext>
            </a:extLst>
          </p:cNvPr>
          <p:cNvSpPr/>
          <p:nvPr/>
        </p:nvSpPr>
        <p:spPr>
          <a:xfrm>
            <a:off x="2842368" y="3435441"/>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PLSA</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cxnSp>
        <p:nvCxnSpPr>
          <p:cNvPr id="27" name="コネクタ: カギ線 26">
            <a:extLst>
              <a:ext uri="{FF2B5EF4-FFF2-40B4-BE49-F238E27FC236}">
                <a16:creationId xmlns:a16="http://schemas.microsoft.com/office/drawing/2014/main" id="{D0A0FF29-9B41-4001-BAFB-1A5B9B3E8089}"/>
              </a:ext>
            </a:extLst>
          </p:cNvPr>
          <p:cNvCxnSpPr>
            <a:cxnSpLocks/>
            <a:stCxn id="20" idx="3"/>
            <a:endCxn id="26" idx="1"/>
          </p:cNvCxnSpPr>
          <p:nvPr/>
        </p:nvCxnSpPr>
        <p:spPr>
          <a:xfrm>
            <a:off x="1955123" y="3329370"/>
            <a:ext cx="887245" cy="377307"/>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スライド番号プレースホルダー 10">
            <a:extLst>
              <a:ext uri="{FF2B5EF4-FFF2-40B4-BE49-F238E27FC236}">
                <a16:creationId xmlns:a16="http://schemas.microsoft.com/office/drawing/2014/main" id="{47A036BA-38D1-4DCC-918B-AC167A168F18}"/>
              </a:ext>
            </a:extLst>
          </p:cNvPr>
          <p:cNvSpPr>
            <a:spLocks noGrp="1"/>
          </p:cNvSpPr>
          <p:nvPr>
            <p:ph type="sldNum" sz="quarter" idx="12"/>
          </p:nvPr>
        </p:nvSpPr>
        <p:spPr/>
        <p:txBody>
          <a:bodyPr/>
          <a:lstStyle/>
          <a:p>
            <a:fld id="{4A0ABA21-04CE-4531-99B2-420D29D6D622}" type="slidenum">
              <a:rPr lang="ja-JP" altLang="en-US" smtClean="0"/>
              <a:pPr/>
              <a:t>22</a:t>
            </a:fld>
            <a:endParaRPr lang="ja-JP" altLang="en-US" dirty="0"/>
          </a:p>
        </p:txBody>
      </p:sp>
    </p:spTree>
    <p:extLst>
      <p:ext uri="{BB962C8B-B14F-4D97-AF65-F5344CB8AC3E}">
        <p14:creationId xmlns:p14="http://schemas.microsoft.com/office/powerpoint/2010/main" val="1341059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252000" cy="720000"/>
          </a:xfrm>
        </p:spPr>
        <p:txBody>
          <a:bodyPr lIns="72000" tIns="72000" rIns="72000" bIns="72000">
            <a:normAutofit fontScale="90000"/>
          </a:bodyPr>
          <a:lstStyle/>
          <a:p>
            <a:r>
              <a:rPr kumimoji="1" lang="ja-JP" altLang="en-US" sz="3600" dirty="0">
                <a:latin typeface="Meiryo UI" panose="020B0604030504040204" pitchFamily="50" charset="-128"/>
                <a:ea typeface="Meiryo UI" panose="020B0604030504040204" pitchFamily="50" charset="-128"/>
              </a:rPr>
              <a:t>研究②　クラスタリングアルゴリズム　検証</a:t>
            </a:r>
            <a:r>
              <a:rPr lang="ja-JP" altLang="en-US" dirty="0"/>
              <a:t>方法　パターン</a:t>
            </a:r>
            <a:r>
              <a:rPr lang="en-US" altLang="ja-JP" dirty="0"/>
              <a:t>C</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パターン</a:t>
            </a:r>
            <a:r>
              <a:rPr lang="en-US" altLang="ja-JP" sz="2000" b="1" dirty="0">
                <a:latin typeface="Meiryo UI" panose="020B0604030504040204" pitchFamily="50" charset="-128"/>
                <a:ea typeface="Meiryo UI" panose="020B0604030504040204" pitchFamily="50" charset="-128"/>
              </a:rPr>
              <a:t>C</a:t>
            </a:r>
            <a:r>
              <a:rPr lang="ja-JP" altLang="en-US" sz="2000" b="1" dirty="0">
                <a:latin typeface="Meiryo UI" panose="020B0604030504040204" pitchFamily="50" charset="-128"/>
                <a:ea typeface="Meiryo UI" panose="020B0604030504040204" pitchFamily="50" charset="-128"/>
              </a:rPr>
              <a:t>では、</a:t>
            </a:r>
            <a:r>
              <a:rPr lang="en-US" altLang="ja-JP" sz="2000" b="1" dirty="0">
                <a:latin typeface="Meiryo UI" panose="020B0604030504040204" pitchFamily="50" charset="-128"/>
                <a:ea typeface="Meiryo UI" panose="020B0604030504040204" pitchFamily="50" charset="-128"/>
              </a:rPr>
              <a:t>PLSA</a:t>
            </a:r>
            <a:r>
              <a:rPr lang="ja-JP" altLang="en-US" sz="2000" b="1" dirty="0">
                <a:latin typeface="Meiryo UI" panose="020B0604030504040204" pitchFamily="50" charset="-128"/>
                <a:ea typeface="Meiryo UI" panose="020B0604030504040204" pitchFamily="50" charset="-128"/>
              </a:rPr>
              <a:t>の使い方や結果を確認します。インプットデータの形式を変えることで、データ加工や結果の違いを確認し、メリットとデメリットを整理します。</a:t>
            </a:r>
            <a:endParaRPr lang="ja-JP" altLang="ja-JP" sz="2000"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0389AE45-A926-49BB-8CB6-D97A942BE8A8}"/>
              </a:ext>
            </a:extLst>
          </p:cNvPr>
          <p:cNvSpPr/>
          <p:nvPr/>
        </p:nvSpPr>
        <p:spPr>
          <a:xfrm>
            <a:off x="180000" y="5112000"/>
            <a:ext cx="4752000" cy="1323439"/>
          </a:xfrm>
          <a:prstGeom prst="rect">
            <a:avLst/>
          </a:prstGeom>
        </p:spPr>
        <p:txBody>
          <a:bodyPr wrap="square">
            <a:spAutoFit/>
          </a:bodyPr>
          <a:lstStyle/>
          <a:p>
            <a:pPr marL="360000" indent="-360000">
              <a:buFont typeface="Wingdings" panose="05000000000000000000" pitchFamily="2" charset="2"/>
              <a:buChar char="Ø"/>
            </a:pPr>
            <a:r>
              <a:rPr lang="ja-JP" altLang="en-US" sz="1600" dirty="0">
                <a:solidFill>
                  <a:srgbClr val="333333"/>
                </a:solidFill>
                <a:latin typeface="Meiryo UI" panose="020B0604030504040204" pitchFamily="50" charset="-128"/>
                <a:ea typeface="Meiryo UI" panose="020B0604030504040204" pitchFamily="50" charset="-128"/>
              </a:rPr>
              <a:t>問合せ内容が似ている顧客とその問合せ傾向を構成する単語を同時にクラスタリングします。</a:t>
            </a:r>
            <a:endParaRPr lang="en-US" altLang="ja-JP" sz="1600" dirty="0">
              <a:solidFill>
                <a:srgbClr val="333333"/>
              </a:solidFill>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solidFill>
                  <a:srgbClr val="333333"/>
                </a:solidFill>
                <a:latin typeface="Meiryo UI" panose="020B0604030504040204" pitchFamily="50" charset="-128"/>
                <a:ea typeface="Meiryo UI" panose="020B0604030504040204" pitchFamily="50" charset="-128"/>
              </a:rPr>
              <a:t>問合せ傾向に基づいた顧客グループを把握することができ、どのような問合せ内容が存在するのかや、全体で多いのかなどを把握することが可能です。</a:t>
            </a:r>
            <a:endParaRPr lang="ja-JP" altLang="en-US" sz="1600" dirty="0">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085F6FDE-73CC-4BE7-83AC-E0F661A87364}"/>
              </a:ext>
            </a:extLst>
          </p:cNvPr>
          <p:cNvSpPr/>
          <p:nvPr/>
        </p:nvSpPr>
        <p:spPr>
          <a:xfrm>
            <a:off x="1021832" y="2340000"/>
            <a:ext cx="2996333" cy="338554"/>
          </a:xfrm>
          <a:prstGeom prst="rect">
            <a:avLst/>
          </a:prstGeom>
        </p:spPr>
        <p:txBody>
          <a:bodyPr wrap="none">
            <a:spAutoFit/>
          </a:bodyPr>
          <a:lstStyle/>
          <a:p>
            <a:pPr algn="ctr"/>
            <a:r>
              <a:rPr lang="ja-JP" altLang="en-US" sz="1600" dirty="0">
                <a:latin typeface="Meiryo UI" panose="020B0604030504040204" pitchFamily="50" charset="-128"/>
                <a:ea typeface="Meiryo UI" panose="020B0604030504040204" pitchFamily="50" charset="-128"/>
              </a:rPr>
              <a:t>行：問合せ</a:t>
            </a:r>
            <a:r>
              <a:rPr lang="en-US" altLang="ja-JP" sz="1600" dirty="0">
                <a:latin typeface="Meiryo UI" panose="020B0604030504040204" pitchFamily="50" charset="-128"/>
                <a:ea typeface="Meiryo UI" panose="020B0604030504040204" pitchFamily="50" charset="-128"/>
              </a:rPr>
              <a:t>No</a:t>
            </a:r>
            <a:r>
              <a:rPr lang="ja-JP" altLang="en-US" sz="1600" dirty="0">
                <a:latin typeface="Meiryo UI" panose="020B0604030504040204" pitchFamily="50" charset="-128"/>
                <a:ea typeface="Meiryo UI" panose="020B0604030504040204" pitchFamily="50" charset="-128"/>
              </a:rPr>
              <a:t>　列：問合せ単語</a:t>
            </a:r>
          </a:p>
        </p:txBody>
      </p:sp>
      <p:graphicFrame>
        <p:nvGraphicFramePr>
          <p:cNvPr id="14" name="表 13">
            <a:extLst>
              <a:ext uri="{FF2B5EF4-FFF2-40B4-BE49-F238E27FC236}">
                <a16:creationId xmlns:a16="http://schemas.microsoft.com/office/drawing/2014/main" id="{8789B899-BFF4-4232-AA8E-F02AC4A4C168}"/>
              </a:ext>
            </a:extLst>
          </p:cNvPr>
          <p:cNvGraphicFramePr>
            <a:graphicFrameLocks noGrp="1"/>
          </p:cNvGraphicFramePr>
          <p:nvPr>
            <p:extLst>
              <p:ext uri="{D42A27DB-BD31-4B8C-83A1-F6EECF244321}">
                <p14:modId xmlns:p14="http://schemas.microsoft.com/office/powerpoint/2010/main" val="2906485416"/>
              </p:ext>
            </p:extLst>
          </p:nvPr>
        </p:nvGraphicFramePr>
        <p:xfrm>
          <a:off x="180000" y="2700000"/>
          <a:ext cx="4673485" cy="1800000"/>
        </p:xfrm>
        <a:graphic>
          <a:graphicData uri="http://schemas.openxmlformats.org/drawingml/2006/table">
            <a:tbl>
              <a:tblPr firstRow="1" bandRow="1">
                <a:tableStyleId>{5940675A-B579-460E-94D1-54222C63F5DA}</a:tableStyleId>
              </a:tblPr>
              <a:tblGrid>
                <a:gridCol w="1296000">
                  <a:extLst>
                    <a:ext uri="{9D8B030D-6E8A-4147-A177-3AD203B41FA5}">
                      <a16:colId xmlns:a16="http://schemas.microsoft.com/office/drawing/2014/main" val="4240035533"/>
                    </a:ext>
                  </a:extLst>
                </a:gridCol>
                <a:gridCol w="1163955">
                  <a:extLst>
                    <a:ext uri="{9D8B030D-6E8A-4147-A177-3AD203B41FA5}">
                      <a16:colId xmlns:a16="http://schemas.microsoft.com/office/drawing/2014/main" val="887689995"/>
                    </a:ext>
                  </a:extLst>
                </a:gridCol>
                <a:gridCol w="828000">
                  <a:extLst>
                    <a:ext uri="{9D8B030D-6E8A-4147-A177-3AD203B41FA5}">
                      <a16:colId xmlns:a16="http://schemas.microsoft.com/office/drawing/2014/main" val="707931833"/>
                    </a:ext>
                  </a:extLst>
                </a:gridCol>
                <a:gridCol w="828000">
                  <a:extLst>
                    <a:ext uri="{9D8B030D-6E8A-4147-A177-3AD203B41FA5}">
                      <a16:colId xmlns:a16="http://schemas.microsoft.com/office/drawing/2014/main" val="2439130266"/>
                    </a:ext>
                  </a:extLst>
                </a:gridCol>
                <a:gridCol w="557530">
                  <a:extLst>
                    <a:ext uri="{9D8B030D-6E8A-4147-A177-3AD203B41FA5}">
                      <a16:colId xmlns:a16="http://schemas.microsoft.com/office/drawing/2014/main" val="3258212917"/>
                    </a:ext>
                  </a:extLst>
                </a:gridCol>
              </a:tblGrid>
              <a:tr h="360000">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600" dirty="0">
                          <a:latin typeface="Meiryo UI" panose="020B0604030504040204" pitchFamily="50" charset="-128"/>
                          <a:ea typeface="Meiryo UI" panose="020B0604030504040204" pitchFamily="50" charset="-128"/>
                        </a:rPr>
                        <a:t>エネファーム</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eiryo UI" panose="020B0604030504040204" pitchFamily="50" charset="-128"/>
                          <a:ea typeface="Meiryo UI" panose="020B0604030504040204" pitchFamily="50" charset="-128"/>
                        </a:rPr>
                        <a:t>モニター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eiryo UI" panose="020B0604030504040204" pitchFamily="50" charset="-128"/>
                          <a:ea typeface="Meiryo UI" panose="020B0604030504040204" pitchFamily="50" charset="-128"/>
                        </a:rPr>
                        <a:t>発電</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842112605"/>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問合せ</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ID=1</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1</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0</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1</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190987057"/>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問合せ</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ID=2</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0</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3</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0</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456190560"/>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問合せ</a:t>
                      </a:r>
                      <a:r>
                        <a:rPr kumimoji="1" lang="en-US" altLang="ja-JP"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ID=3</a:t>
                      </a:r>
                      <a:endPar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2</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0</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0</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787124268"/>
                  </a:ext>
                </a:extLst>
              </a:tr>
              <a:tr h="360000">
                <a:tc>
                  <a:txBody>
                    <a:bodyPr/>
                    <a:lstStyle/>
                    <a:p>
                      <a:pPr algn="ctr"/>
                      <a:r>
                        <a:rPr kumimoji="1" lang="ja-JP" altLang="en-US" sz="1600" dirty="0">
                          <a:latin typeface="Meiryo UI" panose="020B0604030504040204" pitchFamily="50" charset="-128"/>
                          <a:ea typeface="Meiryo UI" panose="020B0604030504040204" pitchFamily="50" charset="-128"/>
                        </a:rPr>
                        <a:t>・・・</a:t>
                      </a:r>
                    </a:p>
                  </a:txBody>
                  <a:tcPr/>
                </a:tc>
                <a:tc>
                  <a:txBody>
                    <a:bodyPr/>
                    <a:lstStyle/>
                    <a:p>
                      <a:pPr algn="ctr"/>
                      <a:endParaRPr kumimoji="1" lang="ja-JP" altLang="en-US" sz="160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600275739"/>
                  </a:ext>
                </a:extLst>
              </a:tr>
            </a:tbl>
          </a:graphicData>
        </a:graphic>
      </p:graphicFrame>
      <p:sp>
        <p:nvSpPr>
          <p:cNvPr id="15" name="正方形/長方形 14">
            <a:extLst>
              <a:ext uri="{FF2B5EF4-FFF2-40B4-BE49-F238E27FC236}">
                <a16:creationId xmlns:a16="http://schemas.microsoft.com/office/drawing/2014/main" id="{F3A3A031-47AE-4F7D-ABB2-2D6A73DB62E9}"/>
              </a:ext>
            </a:extLst>
          </p:cNvPr>
          <p:cNvSpPr/>
          <p:nvPr/>
        </p:nvSpPr>
        <p:spPr>
          <a:xfrm>
            <a:off x="4932000" y="5112000"/>
            <a:ext cx="4752000" cy="1323439"/>
          </a:xfrm>
          <a:prstGeom prst="rect">
            <a:avLst/>
          </a:prstGeom>
        </p:spPr>
        <p:txBody>
          <a:bodyPr wrap="square">
            <a:spAutoFit/>
          </a:bodyPr>
          <a:lstStyle/>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問合せの観点となる単語とその問合せの具体的な内容となる係り受け表現を同時にクラスタリングします。</a:t>
            </a:r>
            <a:endParaRPr lang="en-US" altLang="ja-JP" sz="1600" dirty="0">
              <a:latin typeface="Meiryo UI" panose="020B0604030504040204" pitchFamily="50" charset="-128"/>
              <a:ea typeface="Meiryo UI" panose="020B0604030504040204" pitchFamily="50" charset="-128"/>
            </a:endParaRPr>
          </a:p>
          <a:p>
            <a:pPr marL="360000" indent="-360000">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問合せ内容について、どのような問合せ内容が存在するのかや、全体で多いのかなどをより具体的に把握することが可能です。</a:t>
            </a:r>
            <a:endParaRPr lang="en-US" altLang="ja-JP" sz="1600" dirty="0">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724680E0-DBD1-4869-AB45-1745112A4E00}"/>
              </a:ext>
            </a:extLst>
          </p:cNvPr>
          <p:cNvSpPr/>
          <p:nvPr/>
        </p:nvSpPr>
        <p:spPr>
          <a:xfrm>
            <a:off x="5849176" y="2340000"/>
            <a:ext cx="2845651" cy="338554"/>
          </a:xfrm>
          <a:prstGeom prst="rect">
            <a:avLst/>
          </a:prstGeom>
        </p:spPr>
        <p:txBody>
          <a:bodyPr wrap="none">
            <a:spAutoFit/>
          </a:bodyPr>
          <a:lstStyle/>
          <a:p>
            <a:pPr algn="ctr"/>
            <a:r>
              <a:rPr lang="ja-JP" altLang="en-US" sz="1600" dirty="0">
                <a:solidFill>
                  <a:srgbClr val="333333"/>
                </a:solidFill>
                <a:latin typeface="Meiryo UI" panose="020B0604030504040204" pitchFamily="50" charset="-128"/>
                <a:ea typeface="Meiryo UI" panose="020B0604030504040204" pitchFamily="50" charset="-128"/>
              </a:rPr>
              <a:t>行：問合せ単語　列：係り受け</a:t>
            </a:r>
            <a:endParaRPr lang="ja-JP" altLang="en-US" sz="1600" dirty="0">
              <a:solidFill>
                <a:prstClr val="black"/>
              </a:solidFill>
              <a:latin typeface="Meiryo UI" panose="020B0604030504040204" pitchFamily="50" charset="-128"/>
              <a:ea typeface="Meiryo UI" panose="020B0604030504040204" pitchFamily="50" charset="-128"/>
            </a:endParaRPr>
          </a:p>
        </p:txBody>
      </p:sp>
      <p:graphicFrame>
        <p:nvGraphicFramePr>
          <p:cNvPr id="17" name="表 13">
            <a:extLst>
              <a:ext uri="{FF2B5EF4-FFF2-40B4-BE49-F238E27FC236}">
                <a16:creationId xmlns:a16="http://schemas.microsoft.com/office/drawing/2014/main" id="{A652A948-EF6B-4EFE-8835-81829F1C1142}"/>
              </a:ext>
            </a:extLst>
          </p:cNvPr>
          <p:cNvGraphicFramePr>
            <a:graphicFrameLocks noGrp="1"/>
          </p:cNvGraphicFramePr>
          <p:nvPr>
            <p:extLst>
              <p:ext uri="{D42A27DB-BD31-4B8C-83A1-F6EECF244321}">
                <p14:modId xmlns:p14="http://schemas.microsoft.com/office/powerpoint/2010/main" val="486423831"/>
              </p:ext>
            </p:extLst>
          </p:nvPr>
        </p:nvGraphicFramePr>
        <p:xfrm>
          <a:off x="5195709" y="2700000"/>
          <a:ext cx="4152583" cy="1800000"/>
        </p:xfrm>
        <a:graphic>
          <a:graphicData uri="http://schemas.openxmlformats.org/drawingml/2006/table">
            <a:tbl>
              <a:tblPr firstRow="1" bandRow="1">
                <a:tableStyleId>{5940675A-B579-460E-94D1-54222C63F5DA}</a:tableStyleId>
              </a:tblPr>
              <a:tblGrid>
                <a:gridCol w="1132205">
                  <a:extLst>
                    <a:ext uri="{9D8B030D-6E8A-4147-A177-3AD203B41FA5}">
                      <a16:colId xmlns:a16="http://schemas.microsoft.com/office/drawing/2014/main" val="4240035533"/>
                    </a:ext>
                  </a:extLst>
                </a:gridCol>
                <a:gridCol w="1194118">
                  <a:extLst>
                    <a:ext uri="{9D8B030D-6E8A-4147-A177-3AD203B41FA5}">
                      <a16:colId xmlns:a16="http://schemas.microsoft.com/office/drawing/2014/main" val="887689995"/>
                    </a:ext>
                  </a:extLst>
                </a:gridCol>
                <a:gridCol w="1316355">
                  <a:extLst>
                    <a:ext uri="{9D8B030D-6E8A-4147-A177-3AD203B41FA5}">
                      <a16:colId xmlns:a16="http://schemas.microsoft.com/office/drawing/2014/main" val="707931833"/>
                    </a:ext>
                  </a:extLst>
                </a:gridCol>
                <a:gridCol w="509905">
                  <a:extLst>
                    <a:ext uri="{9D8B030D-6E8A-4147-A177-3AD203B41FA5}">
                      <a16:colId xmlns:a16="http://schemas.microsoft.com/office/drawing/2014/main" val="3258212917"/>
                    </a:ext>
                  </a:extLst>
                </a:gridCol>
              </a:tblGrid>
              <a:tr h="360000">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latin typeface="Meiryo UI" panose="020B0604030504040204" pitchFamily="50" charset="-128"/>
                          <a:ea typeface="Meiryo UI" panose="020B0604030504040204" pitchFamily="50" charset="-128"/>
                        </a:rPr>
                        <a:t>給油</a:t>
                      </a:r>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使える</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eiryo UI" panose="020B0604030504040204" pitchFamily="50" charset="-128"/>
                          <a:ea typeface="Meiryo UI" panose="020B0604030504040204" pitchFamily="50" charset="-128"/>
                        </a:rPr>
                        <a:t>発電</a:t>
                      </a:r>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できない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842112605"/>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エネファーム</a:t>
                      </a: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127</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32</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190987057"/>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モニター</a:t>
                      </a: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24</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9</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456190560"/>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給油</a:t>
                      </a: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41</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600" dirty="0">
                          <a:latin typeface="Meiryo UI" panose="020B0604030504040204" pitchFamily="50" charset="-128"/>
                          <a:ea typeface="Meiryo UI" panose="020B0604030504040204" pitchFamily="50" charset="-128"/>
                        </a:rPr>
                        <a:t>119</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787124268"/>
                  </a:ext>
                </a:extLst>
              </a:tr>
              <a:tr h="360000">
                <a:tc>
                  <a:txBody>
                    <a:bodyPr/>
                    <a:lstStyle/>
                    <a:p>
                      <a:pPr algn="ctr"/>
                      <a:r>
                        <a:rPr kumimoji="1" lang="ja-JP" altLang="en-US" sz="1600" dirty="0">
                          <a:latin typeface="Meiryo UI" panose="020B0604030504040204" pitchFamily="50" charset="-128"/>
                          <a:ea typeface="Meiryo UI" panose="020B0604030504040204" pitchFamily="50" charset="-128"/>
                        </a:rPr>
                        <a:t>・・・</a:t>
                      </a:r>
                    </a:p>
                  </a:txBody>
                  <a:tcPr/>
                </a:tc>
                <a:tc>
                  <a:txBody>
                    <a:bodyPr/>
                    <a:lstStyle/>
                    <a:p>
                      <a:pPr algn="ctr"/>
                      <a:endParaRPr kumimoji="1" lang="ja-JP" altLang="en-US" sz="160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600275739"/>
                  </a:ext>
                </a:extLst>
              </a:tr>
            </a:tbl>
          </a:graphicData>
        </a:graphic>
      </p:graphicFrame>
      <p:sp>
        <p:nvSpPr>
          <p:cNvPr id="19" name="テキスト ボックス 18">
            <a:extLst>
              <a:ext uri="{FF2B5EF4-FFF2-40B4-BE49-F238E27FC236}">
                <a16:creationId xmlns:a16="http://schemas.microsoft.com/office/drawing/2014/main" id="{B578756F-FF10-418D-B5DD-418470FFF541}"/>
              </a:ext>
            </a:extLst>
          </p:cNvPr>
          <p:cNvSpPr txBox="1"/>
          <p:nvPr/>
        </p:nvSpPr>
        <p:spPr>
          <a:xfrm>
            <a:off x="3849172" y="1980000"/>
            <a:ext cx="2194832"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検証方法　パターン</a:t>
            </a:r>
            <a:r>
              <a:rPr lang="en-US" altLang="ja-JP" b="1" dirty="0">
                <a:solidFill>
                  <a:prstClr val="black"/>
                </a:solidFill>
                <a:latin typeface="Meiryo UI" panose="020B0604030504040204" pitchFamily="50" charset="-128"/>
                <a:ea typeface="Meiryo UI" panose="020B0604030504040204" pitchFamily="50" charset="-128"/>
              </a:rPr>
              <a:t>C</a:t>
            </a:r>
          </a:p>
        </p:txBody>
      </p:sp>
      <p:sp>
        <p:nvSpPr>
          <p:cNvPr id="11" name="正方形/長方形 10">
            <a:extLst>
              <a:ext uri="{FF2B5EF4-FFF2-40B4-BE49-F238E27FC236}">
                <a16:creationId xmlns:a16="http://schemas.microsoft.com/office/drawing/2014/main" id="{344B9226-8C77-4AA3-BE0C-9401EB24AFB1}"/>
              </a:ext>
            </a:extLst>
          </p:cNvPr>
          <p:cNvSpPr/>
          <p:nvPr/>
        </p:nvSpPr>
        <p:spPr>
          <a:xfrm>
            <a:off x="-1471443" y="2408554"/>
            <a:ext cx="1440000" cy="5400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質問事項⑧</a:t>
            </a:r>
            <a:endParaRPr kumimoji="1" lang="en-US" altLang="ja-JP" sz="1600" b="1" dirty="0">
              <a:solidFill>
                <a:schemeClr val="tx1"/>
              </a:solidFill>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F60C812D-DD86-4A3A-9A72-6BCCD6C5A059}"/>
              </a:ext>
            </a:extLst>
          </p:cNvPr>
          <p:cNvSpPr>
            <a:spLocks noGrp="1"/>
          </p:cNvSpPr>
          <p:nvPr>
            <p:ph type="sldNum" sz="quarter" idx="12"/>
          </p:nvPr>
        </p:nvSpPr>
        <p:spPr/>
        <p:txBody>
          <a:bodyPr/>
          <a:lstStyle/>
          <a:p>
            <a:fld id="{4A0ABA21-04CE-4531-99B2-420D29D6D622}" type="slidenum">
              <a:rPr lang="ja-JP" altLang="en-US" smtClean="0"/>
              <a:pPr/>
              <a:t>23</a:t>
            </a:fld>
            <a:endParaRPr lang="ja-JP" altLang="en-US" dirty="0"/>
          </a:p>
        </p:txBody>
      </p:sp>
    </p:spTree>
    <p:extLst>
      <p:ext uri="{BB962C8B-B14F-4D97-AF65-F5344CB8AC3E}">
        <p14:creationId xmlns:p14="http://schemas.microsoft.com/office/powerpoint/2010/main" val="3142949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95E2D7-1C9B-4D05-AF72-87C8984C767C}"/>
              </a:ext>
            </a:extLst>
          </p:cNvPr>
          <p:cNvSpPr>
            <a:spLocks noGrp="1"/>
          </p:cNvSpPr>
          <p:nvPr>
            <p:ph type="title"/>
          </p:nvPr>
        </p:nvSpPr>
        <p:spPr/>
        <p:txBody>
          <a:bodyPr>
            <a:noAutofit/>
          </a:bodyPr>
          <a:lstStyle/>
          <a:p>
            <a:r>
              <a:rPr kumimoji="1" lang="ja-JP" altLang="en-US" sz="2800" dirty="0"/>
              <a:t>質問事項　</a:t>
            </a:r>
            <a:r>
              <a:rPr lang="ja-JP" altLang="en-US" sz="2800" dirty="0"/>
              <a:t>検証データと前処理</a:t>
            </a:r>
            <a:endParaRPr kumimoji="1" lang="ja-JP" altLang="en-US" sz="2800" dirty="0"/>
          </a:p>
        </p:txBody>
      </p:sp>
      <p:sp>
        <p:nvSpPr>
          <p:cNvPr id="3" name="テキスト プレースホルダー 2">
            <a:extLst>
              <a:ext uri="{FF2B5EF4-FFF2-40B4-BE49-F238E27FC236}">
                <a16:creationId xmlns:a16="http://schemas.microsoft.com/office/drawing/2014/main" id="{0F631D2F-6D02-4395-8A61-46BE66AF140A}"/>
              </a:ext>
            </a:extLst>
          </p:cNvPr>
          <p:cNvSpPr>
            <a:spLocks noGrp="1"/>
          </p:cNvSpPr>
          <p:nvPr>
            <p:ph type="body" idx="1"/>
          </p:nvPr>
        </p:nvSpPr>
        <p:spPr>
          <a:xfrm>
            <a:off x="539999" y="1260000"/>
            <a:ext cx="9360000" cy="1722897"/>
          </a:xfrm>
        </p:spPr>
        <p:txBody>
          <a:bodyPr>
            <a:noAutofit/>
          </a:bodyPr>
          <a:lstStyle/>
          <a:p>
            <a:pPr marL="457200" indent="-457200">
              <a:lnSpc>
                <a:spcPct val="100000"/>
              </a:lnSpc>
              <a:buFont typeface="+mj-ea"/>
              <a:buAutoNum type="circleNumDbPlain"/>
            </a:pPr>
            <a:r>
              <a:rPr lang="ja-JP" altLang="en-US" sz="1800" dirty="0"/>
              <a:t>検証データの種類数が少ないでしょうか？（</a:t>
            </a:r>
            <a:r>
              <a:rPr lang="en-US" altLang="ja-JP" sz="1800" dirty="0"/>
              <a:t>P13</a:t>
            </a:r>
            <a:r>
              <a:rPr lang="ja-JP" altLang="en-US" sz="1800" dirty="0"/>
              <a:t>）</a:t>
            </a:r>
            <a:endParaRPr lang="en-US" altLang="ja-JP" sz="1800" dirty="0"/>
          </a:p>
          <a:p>
            <a:pPr lvl="1" indent="0">
              <a:lnSpc>
                <a:spcPct val="100000"/>
              </a:lnSpc>
              <a:buNone/>
            </a:pPr>
            <a:r>
              <a:rPr lang="ja-JP" altLang="en-US" sz="1600" dirty="0">
                <a:latin typeface="Meiryo UI" panose="020B0604030504040204" pitchFamily="50" charset="-128"/>
                <a:ea typeface="Meiryo UI" panose="020B0604030504040204" pitchFamily="50" charset="-128"/>
              </a:rPr>
              <a:t>長文や短文に対応するデータ種類が</a:t>
            </a: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種類のみの場合、各データのテキストの性質が違う（問合せデータは口語的な文章であり、特許データは比較的整った文章）と思われることから、厳密な検証が不可能だと考えています。データの長さによって結果が変化するかどうかを確認したいですが、テキストの性質を揃えてデータを用意することが難しいのため、厳密な検証は難しいと考えています。</a:t>
            </a:r>
            <a:endParaRPr lang="en-US" altLang="ja-JP" sz="1600" dirty="0">
              <a:latin typeface="Meiryo UI" panose="020B0604030504040204" pitchFamily="50" charset="-128"/>
              <a:ea typeface="Meiryo UI" panose="020B0604030504040204" pitchFamily="50" charset="-128"/>
            </a:endParaRPr>
          </a:p>
          <a:p>
            <a:pPr lvl="1" indent="0">
              <a:lnSpc>
                <a:spcPct val="100000"/>
              </a:lnSpc>
              <a:buNone/>
            </a:pPr>
            <a:endParaRPr lang="en-US" altLang="ja-JP" sz="1600" dirty="0">
              <a:latin typeface="Meiryo UI" panose="020B0604030504040204" pitchFamily="50" charset="-128"/>
              <a:ea typeface="Meiryo UI" panose="020B0604030504040204" pitchFamily="50" charset="-128"/>
            </a:endParaRPr>
          </a:p>
          <a:p>
            <a:pPr marL="457200" indent="-457200">
              <a:lnSpc>
                <a:spcPct val="100000"/>
              </a:lnSpc>
              <a:buFont typeface="+mj-ea"/>
              <a:buAutoNum type="circleNumDbPlain"/>
            </a:pPr>
            <a:r>
              <a:rPr lang="ja-JP" altLang="en-US" sz="1800" dirty="0"/>
              <a:t>前処理において、単語の出現回数が特定のしきい値未満の単語を除外する処理は、</a:t>
            </a:r>
            <a:r>
              <a:rPr lang="en-US" altLang="ja-JP" sz="1800" dirty="0"/>
              <a:t>TF-IDF</a:t>
            </a:r>
            <a:r>
              <a:rPr lang="ja-JP" altLang="en-US" sz="1800" dirty="0"/>
              <a:t>の考え方と矛盾しているようにも思えますが、問題ないでしょうか？（</a:t>
            </a:r>
            <a:r>
              <a:rPr lang="en-US" altLang="ja-JP" sz="1800" dirty="0"/>
              <a:t>P14</a:t>
            </a:r>
            <a:r>
              <a:rPr lang="ja-JP" altLang="en-US" sz="1800" dirty="0"/>
              <a:t>）</a:t>
            </a:r>
            <a:endParaRPr lang="en-US" altLang="ja-JP" sz="1800" dirty="0"/>
          </a:p>
          <a:p>
            <a:pPr lvl="1" indent="0">
              <a:lnSpc>
                <a:spcPct val="100000"/>
              </a:lnSpc>
              <a:buNone/>
            </a:pPr>
            <a:r>
              <a:rPr lang="ja-JP" altLang="en-US" sz="1600" dirty="0">
                <a:latin typeface="Meiryo UI" panose="020B0604030504040204" pitchFamily="50" charset="-128"/>
                <a:ea typeface="Meiryo UI" panose="020B0604030504040204" pitchFamily="50" charset="-128"/>
              </a:rPr>
              <a:t>前処理において、どのアルゴリズムを使用する際にも、単語の出現回数が特定のしきい値未満の単語は除外して分析を進めようと考えています。</a:t>
            </a:r>
            <a:r>
              <a:rPr lang="en-US" altLang="ja-JP" sz="1600" dirty="0">
                <a:latin typeface="Meiryo UI" panose="020B0604030504040204" pitchFamily="50" charset="-128"/>
                <a:ea typeface="Meiryo UI" panose="020B0604030504040204" pitchFamily="50" charset="-128"/>
              </a:rPr>
              <a:t>TF-IDF</a:t>
            </a:r>
            <a:r>
              <a:rPr lang="ja-JP" altLang="en-US" sz="1600" dirty="0">
                <a:latin typeface="Meiryo UI" panose="020B0604030504040204" pitchFamily="50" charset="-128"/>
                <a:ea typeface="Meiryo UI" panose="020B0604030504040204" pitchFamily="50" charset="-128"/>
              </a:rPr>
              <a:t>を行った場合、件数が少ない単語は重要かどうかの信頼度が小さいため、単語の出現回数が特定のしきい値未満の単語は除外したほうがよいと考えています。</a:t>
            </a:r>
            <a:endParaRPr lang="en-US" altLang="ja-JP" sz="1600"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BB505A69-26C8-4B11-B93E-D3F6FA65B2E6}"/>
              </a:ext>
            </a:extLst>
          </p:cNvPr>
          <p:cNvSpPr>
            <a:spLocks noGrp="1"/>
          </p:cNvSpPr>
          <p:nvPr>
            <p:ph type="sldNum" sz="quarter" idx="12"/>
          </p:nvPr>
        </p:nvSpPr>
        <p:spPr/>
        <p:txBody>
          <a:bodyPr/>
          <a:lstStyle/>
          <a:p>
            <a:fld id="{4A0ABA21-04CE-4531-99B2-420D29D6D622}" type="slidenum">
              <a:rPr lang="ja-JP" altLang="en-US" smtClean="0"/>
              <a:pPr/>
              <a:t>24</a:t>
            </a:fld>
            <a:endParaRPr lang="ja-JP" altLang="en-US" dirty="0"/>
          </a:p>
        </p:txBody>
      </p:sp>
    </p:spTree>
    <p:extLst>
      <p:ext uri="{BB962C8B-B14F-4D97-AF65-F5344CB8AC3E}">
        <p14:creationId xmlns:p14="http://schemas.microsoft.com/office/powerpoint/2010/main" val="555655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95E2D7-1C9B-4D05-AF72-87C8984C767C}"/>
              </a:ext>
            </a:extLst>
          </p:cNvPr>
          <p:cNvSpPr>
            <a:spLocks noGrp="1"/>
          </p:cNvSpPr>
          <p:nvPr>
            <p:ph type="title"/>
          </p:nvPr>
        </p:nvSpPr>
        <p:spPr/>
        <p:txBody>
          <a:bodyPr>
            <a:noAutofit/>
          </a:bodyPr>
          <a:lstStyle/>
          <a:p>
            <a:r>
              <a:rPr kumimoji="1" lang="ja-JP" altLang="en-US" sz="2800" dirty="0"/>
              <a:t>質問事項　評価方法</a:t>
            </a:r>
          </a:p>
        </p:txBody>
      </p:sp>
      <p:sp>
        <p:nvSpPr>
          <p:cNvPr id="3" name="テキスト プレースホルダー 2">
            <a:extLst>
              <a:ext uri="{FF2B5EF4-FFF2-40B4-BE49-F238E27FC236}">
                <a16:creationId xmlns:a16="http://schemas.microsoft.com/office/drawing/2014/main" id="{0F631D2F-6D02-4395-8A61-46BE66AF140A}"/>
              </a:ext>
            </a:extLst>
          </p:cNvPr>
          <p:cNvSpPr>
            <a:spLocks noGrp="1"/>
          </p:cNvSpPr>
          <p:nvPr>
            <p:ph type="body" idx="1"/>
          </p:nvPr>
        </p:nvSpPr>
        <p:spPr>
          <a:xfrm>
            <a:off x="539999" y="1260000"/>
            <a:ext cx="9360000" cy="1722897"/>
          </a:xfrm>
        </p:spPr>
        <p:txBody>
          <a:bodyPr>
            <a:noAutofit/>
          </a:bodyPr>
          <a:lstStyle/>
          <a:p>
            <a:pPr marL="457200" indent="-457200">
              <a:lnSpc>
                <a:spcPct val="100000"/>
              </a:lnSpc>
              <a:buFont typeface="+mj-ea"/>
              <a:buAutoNum type="circleNumDbPlain" startAt="3"/>
            </a:pPr>
            <a:r>
              <a:rPr lang="ja-JP" altLang="en-US" sz="1800" dirty="0"/>
              <a:t>問合せデータや特許データのカテゴリ付けがそもそも間違えている可能性があるため、カテゴリを基にしてクラスタリング結果を比較することは、有効な検証方法ではないでしょうか？</a:t>
            </a:r>
            <a:endParaRPr lang="en-US" altLang="ja-JP" sz="1800" dirty="0"/>
          </a:p>
          <a:p>
            <a:pPr lvl="1" indent="0">
              <a:lnSpc>
                <a:spcPct val="100000"/>
              </a:lnSpc>
              <a:buNone/>
            </a:pPr>
            <a:r>
              <a:rPr lang="ja-JP" altLang="en-US" sz="1600" dirty="0">
                <a:latin typeface="Meiryo UI" panose="020B0604030504040204" pitchFamily="50" charset="-128"/>
                <a:ea typeface="Meiryo UI" panose="020B0604030504040204" pitchFamily="50" charset="-128"/>
              </a:rPr>
              <a:t>クラスタリングがうまくいっているかどうかを定量的に確認するために、カテゴリを正解データとして正解率でクラスタリング結果を確認しようとしています。クラスタリングの正解は必ずしも</a:t>
            </a: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つではないため、参考程度にしか正解率を見ることができないと考えていますが、定量的に結果を比較するためには正解率を使用するのが最善だと考えています。</a:t>
            </a:r>
            <a:endParaRPr lang="en-US" altLang="ja-JP" sz="1600" dirty="0">
              <a:latin typeface="Meiryo UI" panose="020B0604030504040204" pitchFamily="50" charset="-128"/>
              <a:ea typeface="Meiryo UI" panose="020B0604030504040204" pitchFamily="50" charset="-128"/>
            </a:endParaRPr>
          </a:p>
          <a:p>
            <a:pPr>
              <a:lnSpc>
                <a:spcPct val="100000"/>
              </a:lnSpc>
            </a:pPr>
            <a:endParaRPr lang="en-US" altLang="ja-JP" sz="1800" dirty="0"/>
          </a:p>
          <a:p>
            <a:pPr marL="457200" indent="-457200">
              <a:lnSpc>
                <a:spcPct val="100000"/>
              </a:lnSpc>
              <a:buFont typeface="+mj-ea"/>
              <a:buAutoNum type="circleNumDbPlain" startAt="4"/>
            </a:pPr>
            <a:r>
              <a:rPr lang="ja-JP" altLang="en-US" sz="1600" dirty="0"/>
              <a:t>クラスタリング結果を目視で確認して、各クラスタリング結果を比較することは、有効な検証方法ではないでしょうか？</a:t>
            </a:r>
            <a:endParaRPr lang="en-US" altLang="ja-JP" sz="1800" dirty="0"/>
          </a:p>
          <a:p>
            <a:pPr lvl="1" indent="0">
              <a:lnSpc>
                <a:spcPct val="100000"/>
              </a:lnSpc>
              <a:buNone/>
            </a:pPr>
            <a:r>
              <a:rPr lang="ja-JP" altLang="en-US" sz="1600" dirty="0">
                <a:latin typeface="Meiryo UI" panose="020B0604030504040204" pitchFamily="50" charset="-128"/>
                <a:ea typeface="Meiryo UI" panose="020B0604030504040204" pitchFamily="50" charset="-128"/>
              </a:rPr>
              <a:t>目視でクラスタリング結果を比較することは、定量的じゃないことに加えて作業量的に時間が必要になると思います。また、一人で作業しないと分類基準が変わることや、目で見ていく中で分類基準が変わってしまう可能性があると思います。しかし、数値だけでクラスタリング結果を比較するだけでは正しく評価できないと考えているため、目視でクラスタリング結果を確認する必要があると考えています。</a:t>
            </a:r>
            <a:endParaRPr lang="en-US" altLang="ja-JP" sz="1600"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BB505A69-26C8-4B11-B93E-D3F6FA65B2E6}"/>
              </a:ext>
            </a:extLst>
          </p:cNvPr>
          <p:cNvSpPr>
            <a:spLocks noGrp="1"/>
          </p:cNvSpPr>
          <p:nvPr>
            <p:ph type="sldNum" sz="quarter" idx="12"/>
          </p:nvPr>
        </p:nvSpPr>
        <p:spPr/>
        <p:txBody>
          <a:bodyPr/>
          <a:lstStyle/>
          <a:p>
            <a:fld id="{4A0ABA21-04CE-4531-99B2-420D29D6D622}" type="slidenum">
              <a:rPr lang="ja-JP" altLang="en-US" smtClean="0"/>
              <a:pPr/>
              <a:t>25</a:t>
            </a:fld>
            <a:endParaRPr lang="ja-JP" altLang="en-US" dirty="0"/>
          </a:p>
        </p:txBody>
      </p:sp>
    </p:spTree>
    <p:extLst>
      <p:ext uri="{BB962C8B-B14F-4D97-AF65-F5344CB8AC3E}">
        <p14:creationId xmlns:p14="http://schemas.microsoft.com/office/powerpoint/2010/main" val="1368108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95E2D7-1C9B-4D05-AF72-87C8984C767C}"/>
              </a:ext>
            </a:extLst>
          </p:cNvPr>
          <p:cNvSpPr>
            <a:spLocks noGrp="1"/>
          </p:cNvSpPr>
          <p:nvPr>
            <p:ph type="title"/>
          </p:nvPr>
        </p:nvSpPr>
        <p:spPr/>
        <p:txBody>
          <a:bodyPr>
            <a:noAutofit/>
          </a:bodyPr>
          <a:lstStyle/>
          <a:p>
            <a:r>
              <a:rPr kumimoji="1" lang="ja-JP" altLang="en-US" sz="2800" dirty="0"/>
              <a:t>質問事項　研究①　</a:t>
            </a:r>
            <a:r>
              <a:rPr kumimoji="1" lang="en-US" altLang="ja-JP" sz="2800" dirty="0"/>
              <a:t>Word Embedding</a:t>
            </a:r>
            <a:r>
              <a:rPr kumimoji="1" lang="ja-JP" altLang="en-US" sz="2800" dirty="0"/>
              <a:t>アルゴリズム</a:t>
            </a:r>
          </a:p>
        </p:txBody>
      </p:sp>
      <p:sp>
        <p:nvSpPr>
          <p:cNvPr id="3" name="テキスト プレースホルダー 2">
            <a:extLst>
              <a:ext uri="{FF2B5EF4-FFF2-40B4-BE49-F238E27FC236}">
                <a16:creationId xmlns:a16="http://schemas.microsoft.com/office/drawing/2014/main" id="{0F631D2F-6D02-4395-8A61-46BE66AF140A}"/>
              </a:ext>
            </a:extLst>
          </p:cNvPr>
          <p:cNvSpPr>
            <a:spLocks noGrp="1"/>
          </p:cNvSpPr>
          <p:nvPr>
            <p:ph type="body" idx="1"/>
          </p:nvPr>
        </p:nvSpPr>
        <p:spPr>
          <a:xfrm>
            <a:off x="539999" y="1260000"/>
            <a:ext cx="9360000" cy="3598399"/>
          </a:xfrm>
        </p:spPr>
        <p:txBody>
          <a:bodyPr>
            <a:noAutofit/>
          </a:bodyPr>
          <a:lstStyle/>
          <a:p>
            <a:pPr marL="457200" indent="-457200">
              <a:lnSpc>
                <a:spcPct val="100000"/>
              </a:lnSpc>
              <a:buFont typeface="+mj-ea"/>
              <a:buAutoNum type="circleNumDbPlain" startAt="5"/>
            </a:pPr>
            <a:r>
              <a:rPr kumimoji="1" lang="ja-JP" altLang="en-US" sz="1800" dirty="0"/>
              <a:t>クラスタリング手法に</a:t>
            </a:r>
            <a:r>
              <a:rPr kumimoji="1" lang="en-US" altLang="ja-JP" sz="1800" dirty="0"/>
              <a:t>k-means</a:t>
            </a:r>
            <a:r>
              <a:rPr kumimoji="1" lang="ja-JP" altLang="en-US" sz="1800" dirty="0"/>
              <a:t>を使った場合、</a:t>
            </a:r>
            <a:r>
              <a:rPr lang="en-US" altLang="ja-JP" sz="1800" dirty="0"/>
              <a:t>word2vec</a:t>
            </a:r>
            <a:r>
              <a:rPr lang="ja-JP" altLang="en-US" sz="1800" dirty="0"/>
              <a:t>の次元数を変化させた際に、ベクトル表現の変化によるクラスタリング結果の違いを検証</a:t>
            </a:r>
            <a:r>
              <a:rPr kumimoji="1" lang="ja-JP" altLang="en-US" sz="1800" dirty="0"/>
              <a:t>することが</a:t>
            </a:r>
            <a:r>
              <a:rPr lang="ja-JP" altLang="en-US" sz="1800" dirty="0"/>
              <a:t>可能</a:t>
            </a:r>
            <a:r>
              <a:rPr kumimoji="1" lang="ja-JP" altLang="en-US" sz="1800" dirty="0"/>
              <a:t>でしょうか？（</a:t>
            </a:r>
            <a:r>
              <a:rPr kumimoji="1" lang="en-US" altLang="ja-JP" sz="1800" dirty="0"/>
              <a:t>P16</a:t>
            </a:r>
            <a:r>
              <a:rPr kumimoji="1" lang="ja-JP" altLang="en-US" sz="1800" dirty="0"/>
              <a:t>）</a:t>
            </a:r>
            <a:endParaRPr kumimoji="1" lang="en-US" altLang="ja-JP" sz="1800" dirty="0"/>
          </a:p>
          <a:p>
            <a:pPr lvl="1" indent="0">
              <a:lnSpc>
                <a:spcPct val="100000"/>
              </a:lnSpc>
              <a:buNone/>
            </a:pPr>
            <a:r>
              <a:rPr lang="en-US" altLang="ja-JP" sz="1600" dirty="0">
                <a:latin typeface="Meiryo UI" panose="020B0604030504040204" pitchFamily="50" charset="-128"/>
                <a:ea typeface="Meiryo UI" panose="020B0604030504040204" pitchFamily="50" charset="-128"/>
              </a:rPr>
              <a:t>k-means</a:t>
            </a:r>
            <a:r>
              <a:rPr lang="ja-JP" altLang="en-US" sz="1600" dirty="0">
                <a:latin typeface="Meiryo UI" panose="020B0604030504040204" pitchFamily="50" charset="-128"/>
                <a:ea typeface="Meiryo UI" panose="020B0604030504040204" pitchFamily="50" charset="-128"/>
              </a:rPr>
              <a:t>を使う場合、</a:t>
            </a:r>
            <a:r>
              <a:rPr lang="en-US" altLang="ja-JP" sz="1600" dirty="0">
                <a:latin typeface="Meiryo UI" panose="020B0604030504040204" pitchFamily="50" charset="-128"/>
                <a:ea typeface="Meiryo UI" panose="020B0604030504040204" pitchFamily="50" charset="-128"/>
              </a:rPr>
              <a:t>word2vec</a:t>
            </a:r>
            <a:r>
              <a:rPr lang="ja-JP" altLang="en-US" sz="1600" dirty="0">
                <a:latin typeface="Meiryo UI" panose="020B0604030504040204" pitchFamily="50" charset="-128"/>
                <a:ea typeface="Meiryo UI" panose="020B0604030504040204" pitchFamily="50" charset="-128"/>
              </a:rPr>
              <a:t>の次元数の変化による影響だけでなく、次元の呪いによる影響もあり、どちらの影響か切り分けができないかと考えています。</a:t>
            </a:r>
            <a:endParaRPr lang="en-US" altLang="ja-JP" sz="1600" dirty="0">
              <a:latin typeface="Meiryo UI" panose="020B0604030504040204" pitchFamily="50" charset="-128"/>
              <a:ea typeface="Meiryo UI" panose="020B0604030504040204" pitchFamily="50" charset="-128"/>
            </a:endParaRPr>
          </a:p>
          <a:p>
            <a:pPr lvl="1" indent="0">
              <a:lnSpc>
                <a:spcPct val="100000"/>
              </a:lnSpc>
              <a:buNone/>
            </a:pPr>
            <a:endParaRPr kumimoji="1" lang="en-US" altLang="ja-JP" sz="1600" dirty="0">
              <a:latin typeface="Meiryo UI" panose="020B0604030504040204" pitchFamily="50" charset="-128"/>
              <a:ea typeface="Meiryo UI" panose="020B0604030504040204" pitchFamily="50" charset="-128"/>
            </a:endParaRPr>
          </a:p>
          <a:p>
            <a:pPr marL="457200" indent="-457200">
              <a:lnSpc>
                <a:spcPct val="100000"/>
              </a:lnSpc>
              <a:buFont typeface="+mj-ea"/>
              <a:buAutoNum type="circleNumDbPlain" startAt="5"/>
            </a:pPr>
            <a:r>
              <a:rPr lang="ja-JP" altLang="en-US" sz="1800" dirty="0"/>
              <a:t>推論ベースの手法でベクトル化後に</a:t>
            </a:r>
            <a:r>
              <a:rPr lang="en-US" altLang="ja-JP" sz="1800" dirty="0"/>
              <a:t>PLSA</a:t>
            </a:r>
            <a:r>
              <a:rPr lang="ja-JP" altLang="en-US" sz="1800" dirty="0"/>
              <a:t>を用いた分析を行うことは可能でしょうか？（</a:t>
            </a:r>
            <a:r>
              <a:rPr lang="en-US" altLang="ja-JP" sz="1800" dirty="0"/>
              <a:t>P16</a:t>
            </a:r>
            <a:r>
              <a:rPr lang="ja-JP" altLang="en-US" sz="1800" dirty="0"/>
              <a:t>）</a:t>
            </a:r>
            <a:endParaRPr lang="en-US" altLang="ja-JP" sz="1800" dirty="0"/>
          </a:p>
          <a:p>
            <a:pPr lvl="1" indent="0">
              <a:lnSpc>
                <a:spcPct val="100000"/>
              </a:lnSpc>
              <a:buNone/>
            </a:pPr>
            <a:r>
              <a:rPr lang="ja-JP" altLang="en-US" sz="1600" dirty="0">
                <a:latin typeface="Meiryo UI" panose="020B0604030504040204" pitchFamily="50" charset="-128"/>
                <a:ea typeface="Meiryo UI" panose="020B0604030504040204" pitchFamily="50" charset="-128"/>
              </a:rPr>
              <a:t>行に文書</a:t>
            </a:r>
            <a:r>
              <a:rPr lang="en-US" altLang="ja-JP" sz="1600" dirty="0">
                <a:latin typeface="Meiryo UI" panose="020B0604030504040204" pitchFamily="50" charset="-128"/>
                <a:ea typeface="Meiryo UI" panose="020B0604030504040204" pitchFamily="50" charset="-128"/>
              </a:rPr>
              <a:t>No</a:t>
            </a:r>
            <a:r>
              <a:rPr lang="ja-JP" altLang="en-US" sz="1600" dirty="0">
                <a:latin typeface="Meiryo UI" panose="020B0604030504040204" pitchFamily="50" charset="-128"/>
                <a:ea typeface="Meiryo UI" panose="020B0604030504040204" pitchFamily="50" charset="-128"/>
              </a:rPr>
              <a:t>、列にベクトルを使用して</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を行う場合、ブラックボックスにはなってしまいますが、</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を用いた分析は問題無いと考えています。（列にベクトルを使用すると行に単語、列に係り受けなどのクラスタリングが不可能なため、実案件で</a:t>
            </a:r>
            <a:r>
              <a:rPr lang="en-US" altLang="ja-JP" sz="1600" dirty="0">
                <a:latin typeface="Meiryo UI" panose="020B0604030504040204" pitchFamily="50" charset="-128"/>
                <a:ea typeface="Meiryo UI" panose="020B0604030504040204" pitchFamily="50" charset="-128"/>
              </a:rPr>
              <a:t>PLSA</a:t>
            </a:r>
            <a:r>
              <a:rPr lang="ja-JP" altLang="en-US" sz="1600" dirty="0">
                <a:latin typeface="Meiryo UI" panose="020B0604030504040204" pitchFamily="50" charset="-128"/>
                <a:ea typeface="Meiryo UI" panose="020B0604030504040204" pitchFamily="50" charset="-128"/>
              </a:rPr>
              <a:t>を使用する場合、推論ベースの</a:t>
            </a:r>
            <a:r>
              <a:rPr lang="en-US" altLang="ja-JP" sz="1600" dirty="0">
                <a:latin typeface="Meiryo UI" panose="020B0604030504040204" pitchFamily="50" charset="-128"/>
                <a:ea typeface="Meiryo UI" panose="020B0604030504040204" pitchFamily="50" charset="-128"/>
              </a:rPr>
              <a:t>Word Embedding</a:t>
            </a:r>
            <a:r>
              <a:rPr lang="ja-JP" altLang="en-US" sz="1600" dirty="0">
                <a:latin typeface="Meiryo UI" panose="020B0604030504040204" pitchFamily="50" charset="-128"/>
                <a:ea typeface="Meiryo UI" panose="020B0604030504040204" pitchFamily="50" charset="-128"/>
              </a:rPr>
              <a:t>アルゴリズムを使用することは好ましくないと考えています。）</a:t>
            </a:r>
            <a:endParaRPr lang="en-US" altLang="ja-JP" sz="1800" dirty="0"/>
          </a:p>
        </p:txBody>
      </p:sp>
      <p:sp>
        <p:nvSpPr>
          <p:cNvPr id="4" name="スライド番号プレースホルダー 3">
            <a:extLst>
              <a:ext uri="{FF2B5EF4-FFF2-40B4-BE49-F238E27FC236}">
                <a16:creationId xmlns:a16="http://schemas.microsoft.com/office/drawing/2014/main" id="{5737FD69-AE31-4145-B48F-61BCE5472CDE}"/>
              </a:ext>
            </a:extLst>
          </p:cNvPr>
          <p:cNvSpPr>
            <a:spLocks noGrp="1"/>
          </p:cNvSpPr>
          <p:nvPr>
            <p:ph type="sldNum" sz="quarter" idx="12"/>
          </p:nvPr>
        </p:nvSpPr>
        <p:spPr/>
        <p:txBody>
          <a:bodyPr/>
          <a:lstStyle/>
          <a:p>
            <a:fld id="{4A0ABA21-04CE-4531-99B2-420D29D6D622}" type="slidenum">
              <a:rPr lang="ja-JP" altLang="en-US" smtClean="0"/>
              <a:pPr/>
              <a:t>26</a:t>
            </a:fld>
            <a:endParaRPr lang="ja-JP" altLang="en-US" dirty="0"/>
          </a:p>
        </p:txBody>
      </p:sp>
    </p:spTree>
    <p:extLst>
      <p:ext uri="{BB962C8B-B14F-4D97-AF65-F5344CB8AC3E}">
        <p14:creationId xmlns:p14="http://schemas.microsoft.com/office/powerpoint/2010/main" val="950122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95E2D7-1C9B-4D05-AF72-87C8984C767C}"/>
              </a:ext>
            </a:extLst>
          </p:cNvPr>
          <p:cNvSpPr>
            <a:spLocks noGrp="1"/>
          </p:cNvSpPr>
          <p:nvPr>
            <p:ph type="title"/>
          </p:nvPr>
        </p:nvSpPr>
        <p:spPr/>
        <p:txBody>
          <a:bodyPr/>
          <a:lstStyle/>
          <a:p>
            <a:r>
              <a:rPr lang="ja-JP" altLang="en-US" dirty="0"/>
              <a:t>質問事項　研究②　クラスタリングアルゴリズム</a:t>
            </a:r>
            <a:endParaRPr kumimoji="1" lang="ja-JP" altLang="en-US" dirty="0"/>
          </a:p>
        </p:txBody>
      </p:sp>
      <p:sp>
        <p:nvSpPr>
          <p:cNvPr id="7" name="テキスト プレースホルダー 2">
            <a:extLst>
              <a:ext uri="{FF2B5EF4-FFF2-40B4-BE49-F238E27FC236}">
                <a16:creationId xmlns:a16="http://schemas.microsoft.com/office/drawing/2014/main" id="{7F085C55-86D3-42AA-99CB-E512CD127313}"/>
              </a:ext>
            </a:extLst>
          </p:cNvPr>
          <p:cNvSpPr txBox="1">
            <a:spLocks/>
          </p:cNvSpPr>
          <p:nvPr/>
        </p:nvSpPr>
        <p:spPr>
          <a:xfrm>
            <a:off x="540000" y="1260000"/>
            <a:ext cx="9360000" cy="45762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0"/>
              </a:spcBef>
              <a:buFont typeface="Arial" panose="020B0604020202020204" pitchFamily="34" charset="0"/>
              <a:buNone/>
              <a:defRPr kumimoji="1" sz="2000" b="1"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ea"/>
              <a:buAutoNum type="circleNumDbPlain" startAt="7"/>
            </a:pPr>
            <a:r>
              <a:rPr lang="ja-JP" altLang="en-US" sz="1800" dirty="0"/>
              <a:t>次元の呪いだけの影響を把握することが難しいため、次元の呪いについて基礎調査研究を行うことは有効でないでしょうか？</a:t>
            </a:r>
            <a:r>
              <a:rPr lang="en-US" altLang="ja-JP" sz="1800" dirty="0"/>
              <a:t>(P20</a:t>
            </a:r>
            <a:r>
              <a:rPr lang="ja-JP" altLang="en-US" sz="1800" dirty="0"/>
              <a:t>、</a:t>
            </a:r>
            <a:r>
              <a:rPr lang="en-US" altLang="ja-JP" sz="1800" dirty="0"/>
              <a:t>P21)</a:t>
            </a:r>
          </a:p>
          <a:p>
            <a:pPr lvl="1" indent="0">
              <a:lnSpc>
                <a:spcPct val="100000"/>
              </a:lnSpc>
              <a:buNone/>
            </a:pPr>
            <a:r>
              <a:rPr lang="en-US" altLang="ja-JP" sz="1600" dirty="0">
                <a:latin typeface="Meiryo UI" panose="020B0604030504040204" pitchFamily="50" charset="-128"/>
                <a:ea typeface="Meiryo UI" panose="020B0604030504040204" pitchFamily="50" charset="-128"/>
              </a:rPr>
              <a:t>Word2vec</a:t>
            </a:r>
            <a:r>
              <a:rPr lang="ja-JP" altLang="en-US" sz="1600" dirty="0">
                <a:latin typeface="Meiryo UI" panose="020B0604030504040204" pitchFamily="50" charset="-128"/>
                <a:ea typeface="Meiryo UI" panose="020B0604030504040204" pitchFamily="50" charset="-128"/>
              </a:rPr>
              <a:t>の次元数を変化させることで、次元の呪いの影響を検証しようと考えています。しかし、次元の呪いによる影響か、</a:t>
            </a:r>
            <a:r>
              <a:rPr lang="en-US" altLang="ja-JP" sz="1600" dirty="0">
                <a:latin typeface="Meiryo UI" panose="020B0604030504040204" pitchFamily="50" charset="-128"/>
                <a:ea typeface="Meiryo UI" panose="020B0604030504040204" pitchFamily="50" charset="-128"/>
              </a:rPr>
              <a:t>word2vec</a:t>
            </a:r>
            <a:r>
              <a:rPr lang="ja-JP" altLang="en-US" sz="1600" dirty="0">
                <a:latin typeface="Meiryo UI" panose="020B0604030504040204" pitchFamily="50" charset="-128"/>
                <a:ea typeface="Meiryo UI" panose="020B0604030504040204" pitchFamily="50" charset="-128"/>
              </a:rPr>
              <a:t>の次元数の変化による影響かを切り分けることが不可能なことから、次元の呪いのみの影響を検証することが不可能なため、調査研究が有用ではない可能性があると考えています。</a:t>
            </a:r>
            <a:endParaRPr lang="en-US" altLang="ja-JP" sz="1800" dirty="0"/>
          </a:p>
          <a:p>
            <a:pPr marL="457200" indent="-457200">
              <a:lnSpc>
                <a:spcPct val="100000"/>
              </a:lnSpc>
              <a:buFont typeface="+mj-ea"/>
              <a:buAutoNum type="circleNumDbPlain" startAt="7"/>
            </a:pPr>
            <a:endParaRPr lang="en-US" altLang="ja-JP" sz="1800" dirty="0"/>
          </a:p>
          <a:p>
            <a:pPr marL="457200" indent="-457200">
              <a:lnSpc>
                <a:spcPct val="100000"/>
              </a:lnSpc>
              <a:buFont typeface="+mj-ea"/>
              <a:buAutoNum type="circleNumDbPlain" startAt="7"/>
            </a:pPr>
            <a:r>
              <a:rPr lang="ja-JP" altLang="en-US" sz="1800" dirty="0"/>
              <a:t>野守様は、</a:t>
            </a:r>
            <a:r>
              <a:rPr lang="en-US" altLang="ja-JP" sz="1800" dirty="0"/>
              <a:t>PLSA</a:t>
            </a:r>
            <a:r>
              <a:rPr lang="ja-JP" altLang="en-US" sz="1800" dirty="0"/>
              <a:t>のインプットデータの形式をどのように変えているのでしょうか？（</a:t>
            </a:r>
            <a:r>
              <a:rPr lang="en-US" altLang="ja-JP" sz="1800" dirty="0"/>
              <a:t>P23</a:t>
            </a:r>
            <a:r>
              <a:rPr lang="ja-JP" altLang="en-US" sz="1800" dirty="0"/>
              <a:t>）</a:t>
            </a:r>
            <a:endParaRPr lang="en-US" altLang="ja-JP" sz="1800" dirty="0"/>
          </a:p>
          <a:p>
            <a:pPr lvl="1" indent="0">
              <a:lnSpc>
                <a:spcPct val="100000"/>
              </a:lnSpc>
              <a:buNone/>
            </a:pPr>
            <a:r>
              <a:rPr lang="ja-JP" altLang="en-US" sz="1600" dirty="0">
                <a:latin typeface="Meiryo UI" panose="020B0604030504040204" pitchFamily="50" charset="-128"/>
                <a:ea typeface="Meiryo UI" panose="020B0604030504040204" pitchFamily="50" charset="-128"/>
              </a:rPr>
              <a:t>行が文章</a:t>
            </a:r>
            <a:r>
              <a:rPr lang="en-US" altLang="ja-JP" sz="1600" dirty="0">
                <a:latin typeface="Meiryo UI" panose="020B0604030504040204" pitchFamily="50" charset="-128"/>
                <a:ea typeface="Meiryo UI" panose="020B0604030504040204" pitchFamily="50" charset="-128"/>
              </a:rPr>
              <a:t>No</a:t>
            </a:r>
            <a:r>
              <a:rPr lang="ja-JP" altLang="en-US" sz="1600" dirty="0">
                <a:latin typeface="Meiryo UI" panose="020B0604030504040204" pitchFamily="50" charset="-128"/>
                <a:ea typeface="Meiryo UI" panose="020B0604030504040204" pitchFamily="50" charset="-128"/>
              </a:rPr>
              <a:t>などを表す一意な値の場合、特徴として得られる情報が少なくなることから、クラスターへ名前を付けることが難しいため、基本的には単語と単語の共起データをインプットデータとして使用し、データに合わせて係り受けや品詞を調整したほうがよいのではないかと考えています。</a:t>
            </a:r>
            <a:endParaRPr lang="en-US" altLang="ja-JP" sz="1600"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A422552-75A4-4D79-89F5-06FCAE8CD695}"/>
              </a:ext>
            </a:extLst>
          </p:cNvPr>
          <p:cNvSpPr>
            <a:spLocks noGrp="1"/>
          </p:cNvSpPr>
          <p:nvPr>
            <p:ph type="sldNum" sz="quarter" idx="12"/>
          </p:nvPr>
        </p:nvSpPr>
        <p:spPr/>
        <p:txBody>
          <a:bodyPr/>
          <a:lstStyle/>
          <a:p>
            <a:fld id="{4A0ABA21-04CE-4531-99B2-420D29D6D622}" type="slidenum">
              <a:rPr lang="ja-JP" altLang="en-US" smtClean="0"/>
              <a:pPr/>
              <a:t>27</a:t>
            </a:fld>
            <a:endParaRPr lang="ja-JP" altLang="en-US" dirty="0"/>
          </a:p>
        </p:txBody>
      </p:sp>
    </p:spTree>
    <p:extLst>
      <p:ext uri="{BB962C8B-B14F-4D97-AF65-F5344CB8AC3E}">
        <p14:creationId xmlns:p14="http://schemas.microsoft.com/office/powerpoint/2010/main" val="1362763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A6AA1F-41D3-47D2-854C-24CE2840D8D6}"/>
              </a:ext>
            </a:extLst>
          </p:cNvPr>
          <p:cNvSpPr>
            <a:spLocks noGrp="1"/>
          </p:cNvSpPr>
          <p:nvPr>
            <p:ph type="ctrTitle"/>
          </p:nvPr>
        </p:nvSpPr>
        <p:spPr/>
        <p:txBody>
          <a:bodyPr/>
          <a:lstStyle/>
          <a:p>
            <a:r>
              <a:rPr lang="ja-JP" altLang="en-US" dirty="0"/>
              <a:t>まとめ</a:t>
            </a:r>
            <a:endParaRPr kumimoji="1" lang="ja-JP" altLang="en-US" dirty="0"/>
          </a:p>
        </p:txBody>
      </p:sp>
      <p:sp>
        <p:nvSpPr>
          <p:cNvPr id="4" name="字幕 3">
            <a:extLst>
              <a:ext uri="{FF2B5EF4-FFF2-40B4-BE49-F238E27FC236}">
                <a16:creationId xmlns:a16="http://schemas.microsoft.com/office/drawing/2014/main" id="{7B5E382D-F406-4897-860B-608F2F43426B}"/>
              </a:ext>
            </a:extLst>
          </p:cNvPr>
          <p:cNvSpPr>
            <a:spLocks noGrp="1"/>
          </p:cNvSpPr>
          <p:nvPr>
            <p:ph type="subTitle" idx="1"/>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916AD419-F327-4FDA-8D9E-C5C7053D4029}"/>
              </a:ext>
            </a:extLst>
          </p:cNvPr>
          <p:cNvSpPr>
            <a:spLocks noGrp="1"/>
          </p:cNvSpPr>
          <p:nvPr>
            <p:ph type="sldNum" sz="quarter" idx="12"/>
          </p:nvPr>
        </p:nvSpPr>
        <p:spPr/>
        <p:txBody>
          <a:bodyPr/>
          <a:lstStyle/>
          <a:p>
            <a:fld id="{4A0ABA21-04CE-4531-99B2-420D29D6D622}" type="slidenum">
              <a:rPr lang="ja-JP" altLang="en-US" smtClean="0"/>
              <a:pPr/>
              <a:t>28</a:t>
            </a:fld>
            <a:endParaRPr lang="ja-JP" altLang="en-US"/>
          </a:p>
        </p:txBody>
      </p:sp>
    </p:spTree>
    <p:extLst>
      <p:ext uri="{BB962C8B-B14F-4D97-AF65-F5344CB8AC3E}">
        <p14:creationId xmlns:p14="http://schemas.microsoft.com/office/powerpoint/2010/main" val="14985008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研究①　</a:t>
            </a:r>
            <a:r>
              <a:rPr kumimoji="1" lang="en-US" altLang="ja-JP" sz="3600" dirty="0">
                <a:latin typeface="Meiryo UI" panose="020B0604030504040204" pitchFamily="50" charset="-128"/>
                <a:ea typeface="Meiryo UI" panose="020B0604030504040204" pitchFamily="50" charset="-128"/>
              </a:rPr>
              <a:t>Word Embedding</a:t>
            </a:r>
            <a:r>
              <a:rPr kumimoji="1" lang="ja-JP" altLang="en-US" sz="3600" dirty="0">
                <a:latin typeface="Meiryo UI" panose="020B0604030504040204" pitchFamily="50" charset="-128"/>
                <a:ea typeface="Meiryo UI" panose="020B0604030504040204" pitchFamily="50" charset="-128"/>
              </a:rPr>
              <a:t>アルゴリズム　結論　</a:t>
            </a: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ja-JP" sz="2000" b="1" dirty="0">
                <a:latin typeface="Meiryo UI" panose="020B0604030504040204" pitchFamily="50" charset="-128"/>
                <a:ea typeface="Meiryo UI" panose="020B0604030504040204" pitchFamily="50" charset="-128"/>
              </a:rPr>
              <a:t>研究</a:t>
            </a:r>
            <a:r>
              <a:rPr lang="ja-JP" altLang="en-US" sz="2000" b="1" dirty="0">
                <a:latin typeface="Meiryo UI" panose="020B0604030504040204" pitchFamily="50" charset="-128"/>
                <a:ea typeface="Meiryo UI" panose="020B0604030504040204" pitchFamily="50" charset="-128"/>
              </a:rPr>
              <a:t>①</a:t>
            </a:r>
            <a:r>
              <a:rPr lang="ja-JP" altLang="ja-JP" sz="2000" b="1" dirty="0">
                <a:latin typeface="Meiryo UI" panose="020B0604030504040204" pitchFamily="50" charset="-128"/>
                <a:ea typeface="Meiryo UI" panose="020B0604030504040204" pitchFamily="50" charset="-128"/>
              </a:rPr>
              <a:t>では、</a:t>
            </a:r>
            <a:r>
              <a:rPr lang="en-US" altLang="ja-JP" sz="2000" b="1" dirty="0">
                <a:latin typeface="Meiryo UI" panose="020B0604030504040204" pitchFamily="50" charset="-128"/>
                <a:ea typeface="Meiryo UI" panose="020B0604030504040204" pitchFamily="50" charset="-128"/>
              </a:rPr>
              <a:t>Word Embedding</a:t>
            </a:r>
            <a:r>
              <a:rPr lang="ja-JP" altLang="en-US" sz="2000" b="1" dirty="0">
                <a:latin typeface="Meiryo UI" panose="020B0604030504040204" pitchFamily="50" charset="-128"/>
                <a:ea typeface="Meiryo UI" panose="020B0604030504040204" pitchFamily="50" charset="-128"/>
              </a:rPr>
              <a:t>アルゴリズム</a:t>
            </a:r>
            <a:r>
              <a:rPr lang="ja-JP" altLang="ja-JP" sz="2000" b="1" dirty="0">
                <a:latin typeface="Meiryo UI" panose="020B0604030504040204" pitchFamily="50" charset="-128"/>
                <a:ea typeface="Meiryo UI" panose="020B0604030504040204" pitchFamily="50" charset="-128"/>
              </a:rPr>
              <a:t>の違いを確認しま</a:t>
            </a:r>
            <a:r>
              <a:rPr lang="ja-JP" altLang="en-US" sz="2000" b="1" dirty="0">
                <a:latin typeface="Meiryo UI" panose="020B0604030504040204" pitchFamily="50" charset="-128"/>
                <a:ea typeface="Meiryo UI" panose="020B0604030504040204" pitchFamily="50" charset="-128"/>
              </a:rPr>
              <a:t>した</a:t>
            </a:r>
            <a:r>
              <a:rPr lang="ja-JP" altLang="ja-JP" sz="2000" b="1" dirty="0">
                <a:latin typeface="Meiryo UI" panose="020B0604030504040204" pitchFamily="50" charset="-128"/>
                <a:ea typeface="Meiryo UI" panose="020B0604030504040204" pitchFamily="50" charset="-128"/>
              </a:rPr>
              <a:t>。</a:t>
            </a:r>
            <a:endParaRPr lang="en-US" altLang="ja-JP" sz="2000" b="1" dirty="0">
              <a:latin typeface="Meiryo UI" panose="020B0604030504040204" pitchFamily="50" charset="-128"/>
              <a:ea typeface="Meiryo UI" panose="020B0604030504040204" pitchFamily="50" charset="-128"/>
            </a:endParaRPr>
          </a:p>
          <a:p>
            <a:pPr marL="0" indent="0">
              <a:spcBef>
                <a:spcPts val="0"/>
              </a:spcBef>
              <a:buNone/>
            </a:pPr>
            <a:r>
              <a:rPr lang="ja-JP" altLang="en-US" sz="2000" b="1" dirty="0">
                <a:latin typeface="Meiryo UI" panose="020B0604030504040204" pitchFamily="50" charset="-128"/>
                <a:ea typeface="Meiryo UI" panose="020B0604030504040204" pitchFamily="50" charset="-128"/>
              </a:rPr>
              <a:t>データによって</a:t>
            </a:r>
            <a:r>
              <a:rPr lang="en-US" altLang="ja-JP" sz="2000" b="1" dirty="0">
                <a:latin typeface="Meiryo UI" panose="020B0604030504040204" pitchFamily="50" charset="-128"/>
                <a:ea typeface="Meiryo UI" panose="020B0604030504040204" pitchFamily="50" charset="-128"/>
              </a:rPr>
              <a:t>Word Embedding</a:t>
            </a:r>
            <a:r>
              <a:rPr lang="ja-JP" altLang="en-US" sz="2000" b="1" dirty="0">
                <a:latin typeface="Meiryo UI" panose="020B0604030504040204" pitchFamily="50" charset="-128"/>
                <a:ea typeface="Meiryo UI" panose="020B0604030504040204" pitchFamily="50" charset="-128"/>
              </a:rPr>
              <a:t>アルゴリズムを使い分けることが重要だと思われます。</a:t>
            </a:r>
            <a:endParaRPr lang="ja-JP" altLang="ja-JP" sz="20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F420E128-4BD1-458A-BC6A-DB0F8A984F8E}"/>
              </a:ext>
            </a:extLst>
          </p:cNvPr>
          <p:cNvSpPr/>
          <p:nvPr/>
        </p:nvSpPr>
        <p:spPr>
          <a:xfrm>
            <a:off x="540000" y="1989138"/>
            <a:ext cx="8388100" cy="39290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Meiryo UI" panose="020B0604030504040204" pitchFamily="50" charset="-128"/>
                <a:ea typeface="Meiryo UI" panose="020B0604030504040204" pitchFamily="50" charset="-128"/>
              </a:rPr>
              <a:t>Word Embedding</a:t>
            </a:r>
            <a:r>
              <a:rPr kumimoji="1" lang="ja-JP" altLang="en-US" dirty="0">
                <a:latin typeface="Meiryo UI" panose="020B0604030504040204" pitchFamily="50" charset="-128"/>
                <a:ea typeface="Meiryo UI" panose="020B0604030504040204" pitchFamily="50" charset="-128"/>
              </a:rPr>
              <a:t>アルゴリズムの結論</a:t>
            </a:r>
          </a:p>
        </p:txBody>
      </p:sp>
      <p:sp>
        <p:nvSpPr>
          <p:cNvPr id="4" name="スライド番号プレースホルダー 3">
            <a:extLst>
              <a:ext uri="{FF2B5EF4-FFF2-40B4-BE49-F238E27FC236}">
                <a16:creationId xmlns:a16="http://schemas.microsoft.com/office/drawing/2014/main" id="{93D8114C-6281-4E4D-A005-F502E42C719F}"/>
              </a:ext>
            </a:extLst>
          </p:cNvPr>
          <p:cNvSpPr>
            <a:spLocks noGrp="1"/>
          </p:cNvSpPr>
          <p:nvPr>
            <p:ph type="sldNum" sz="quarter" idx="12"/>
          </p:nvPr>
        </p:nvSpPr>
        <p:spPr/>
        <p:txBody>
          <a:bodyPr/>
          <a:lstStyle/>
          <a:p>
            <a:fld id="{4A0ABA21-04CE-4531-99B2-420D29D6D622}" type="slidenum">
              <a:rPr lang="ja-JP" altLang="en-US" smtClean="0"/>
              <a:pPr/>
              <a:t>29</a:t>
            </a:fld>
            <a:endParaRPr lang="ja-JP" altLang="en-US" dirty="0"/>
          </a:p>
        </p:txBody>
      </p:sp>
    </p:spTree>
    <p:extLst>
      <p:ext uri="{BB962C8B-B14F-4D97-AF65-F5344CB8AC3E}">
        <p14:creationId xmlns:p14="http://schemas.microsoft.com/office/powerpoint/2010/main" val="3787322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研究②　クラスタリングアルゴリズム　結論</a:t>
            </a: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研究②</a:t>
            </a:r>
            <a:r>
              <a:rPr lang="ja-JP" altLang="ja-JP" sz="2000" b="1" dirty="0">
                <a:latin typeface="Meiryo UI" panose="020B0604030504040204" pitchFamily="50" charset="-128"/>
                <a:ea typeface="Meiryo UI" panose="020B0604030504040204" pitchFamily="50" charset="-128"/>
              </a:rPr>
              <a:t>では、</a:t>
            </a:r>
            <a:r>
              <a:rPr lang="ja-JP" altLang="en-US" sz="2000" b="1" dirty="0">
                <a:latin typeface="Meiryo UI" panose="020B0604030504040204" pitchFamily="50" charset="-128"/>
                <a:ea typeface="Meiryo UI" panose="020B0604030504040204" pitchFamily="50" charset="-128"/>
              </a:rPr>
              <a:t>クラスタリングアルゴリズム</a:t>
            </a:r>
            <a:r>
              <a:rPr lang="ja-JP" altLang="ja-JP" sz="2000" b="1" dirty="0">
                <a:latin typeface="Meiryo UI" panose="020B0604030504040204" pitchFamily="50" charset="-128"/>
                <a:ea typeface="Meiryo UI" panose="020B0604030504040204" pitchFamily="50" charset="-128"/>
              </a:rPr>
              <a:t>の違いを確認</a:t>
            </a:r>
            <a:r>
              <a:rPr lang="ja-JP" altLang="en-US" sz="2000" b="1" dirty="0">
                <a:latin typeface="Meiryo UI" panose="020B0604030504040204" pitchFamily="50" charset="-128"/>
                <a:ea typeface="Meiryo UI" panose="020B0604030504040204" pitchFamily="50" charset="-128"/>
              </a:rPr>
              <a:t>しました。</a:t>
            </a:r>
            <a:endParaRPr lang="en-US" altLang="ja-JP" sz="2000" b="1" dirty="0">
              <a:latin typeface="Meiryo UI" panose="020B0604030504040204" pitchFamily="50" charset="-128"/>
              <a:ea typeface="Meiryo UI" panose="020B0604030504040204" pitchFamily="50" charset="-128"/>
            </a:endParaRPr>
          </a:p>
          <a:p>
            <a:pPr marL="0" indent="0">
              <a:spcBef>
                <a:spcPts val="0"/>
              </a:spcBef>
              <a:buNone/>
            </a:pPr>
            <a:r>
              <a:rPr lang="ja-JP" altLang="en-US" sz="2000" b="1" dirty="0">
                <a:latin typeface="Meiryo UI" panose="020B0604030504040204" pitchFamily="50" charset="-128"/>
                <a:ea typeface="Meiryo UI" panose="020B0604030504040204" pitchFamily="50" charset="-128"/>
              </a:rPr>
              <a:t>テキストデータの分類には、</a:t>
            </a:r>
            <a:r>
              <a:rPr lang="en-US" altLang="ja-JP" sz="2000" b="1" dirty="0">
                <a:latin typeface="Meiryo UI" panose="020B0604030504040204" pitchFamily="50" charset="-128"/>
                <a:ea typeface="Meiryo UI" panose="020B0604030504040204" pitchFamily="50" charset="-128"/>
              </a:rPr>
              <a:t>PLSA</a:t>
            </a:r>
            <a:r>
              <a:rPr lang="ja-JP" altLang="en-US" sz="2000" b="1" dirty="0">
                <a:latin typeface="Meiryo UI" panose="020B0604030504040204" pitchFamily="50" charset="-128"/>
                <a:ea typeface="Meiryo UI" panose="020B0604030504040204" pitchFamily="50" charset="-128"/>
              </a:rPr>
              <a:t>を使用することが重要だと思われます。</a:t>
            </a:r>
            <a:endParaRPr lang="ja-JP" altLang="ja-JP" sz="20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8E73F92A-3D50-45AA-9FEA-17ED93FA1D03}"/>
              </a:ext>
            </a:extLst>
          </p:cNvPr>
          <p:cNvSpPr txBox="1"/>
          <p:nvPr/>
        </p:nvSpPr>
        <p:spPr>
          <a:xfrm>
            <a:off x="435718" y="1980000"/>
            <a:ext cx="9126536" cy="3970318"/>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パターン</a:t>
            </a:r>
            <a:r>
              <a:rPr kumimoji="1" lang="en-US" altLang="ja-JP" dirty="0">
                <a:latin typeface="Meiryo UI" panose="020B0604030504040204" pitchFamily="50" charset="-128"/>
                <a:ea typeface="Meiryo UI" panose="020B0604030504040204" pitchFamily="50" charset="-128"/>
              </a:rPr>
              <a:t>A</a:t>
            </a:r>
            <a:r>
              <a:rPr kumimoji="1" lang="ja-JP" altLang="en-US" dirty="0">
                <a:latin typeface="Meiryo UI" panose="020B0604030504040204" pitchFamily="50" charset="-128"/>
                <a:ea typeface="Meiryo UI" panose="020B0604030504040204" pitchFamily="50" charset="-128"/>
              </a:rPr>
              <a:t>では、</a:t>
            </a:r>
            <a:r>
              <a:rPr kumimoji="1" lang="en-US" altLang="ja-JP" dirty="0">
                <a:latin typeface="Meiryo UI" panose="020B0604030504040204" pitchFamily="50" charset="-128"/>
                <a:ea typeface="Meiryo UI" panose="020B0604030504040204" pitchFamily="50" charset="-128"/>
              </a:rPr>
              <a:t>k-means</a:t>
            </a:r>
            <a:r>
              <a:rPr kumimoji="1" lang="ja-JP" altLang="en-US" dirty="0">
                <a:latin typeface="Meiryo UI" panose="020B0604030504040204" pitchFamily="50" charset="-128"/>
                <a:ea typeface="Meiryo UI" panose="020B0604030504040204" pitchFamily="50" charset="-128"/>
              </a:rPr>
              <a:t>を使用すると次元の呪いが発生していることを確認できました。</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具体的には、変数の数が多くなる場合に各データ間の距離が遠くなることが確認できました。</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特に変数の数が</a:t>
            </a:r>
            <a:r>
              <a:rPr kumimoji="1" lang="en-US" altLang="ja-JP" dirty="0">
                <a:latin typeface="Meiryo UI" panose="020B0604030504040204" pitchFamily="50" charset="-128"/>
                <a:ea typeface="Meiryo UI" panose="020B0604030504040204" pitchFamily="50" charset="-128"/>
              </a:rPr>
              <a:t>1000</a:t>
            </a:r>
            <a:r>
              <a:rPr kumimoji="1" lang="ja-JP" altLang="en-US" dirty="0">
                <a:latin typeface="Meiryo UI" panose="020B0604030504040204" pitchFamily="50" charset="-128"/>
                <a:ea typeface="Meiryo UI" panose="020B0604030504040204" pitchFamily="50" charset="-128"/>
              </a:rPr>
              <a:t>以上になると次元の呪いが発生していると考えられたため、データ間の類似を判定することが難しくなると考えられます。</a:t>
            </a:r>
            <a:endParaRPr kumimoji="1" lang="en-US" altLang="ja-JP" dirty="0">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パターン</a:t>
            </a:r>
            <a:r>
              <a:rPr kumimoji="1" lang="en-US" altLang="ja-JP" dirty="0">
                <a:latin typeface="Meiryo UI" panose="020B0604030504040204" pitchFamily="50" charset="-128"/>
                <a:ea typeface="Meiryo UI" panose="020B0604030504040204" pitchFamily="50" charset="-128"/>
              </a:rPr>
              <a:t>B</a:t>
            </a:r>
            <a:r>
              <a:rPr kumimoji="1" lang="ja-JP" altLang="en-US" dirty="0">
                <a:latin typeface="Meiryo UI" panose="020B0604030504040204" pitchFamily="50" charset="-128"/>
                <a:ea typeface="Meiryo UI" panose="020B0604030504040204" pitchFamily="50" charset="-128"/>
              </a:rPr>
              <a:t>では、</a:t>
            </a:r>
            <a:r>
              <a:rPr kumimoji="1" lang="en-US" altLang="ja-JP" dirty="0">
                <a:latin typeface="Meiryo UI" panose="020B0604030504040204" pitchFamily="50" charset="-128"/>
                <a:ea typeface="Meiryo UI" panose="020B0604030504040204" pitchFamily="50" charset="-128"/>
              </a:rPr>
              <a:t>k-means</a:t>
            </a:r>
            <a:r>
              <a:rPr kumimoji="1" lang="ja-JP" altLang="en-US" dirty="0">
                <a:latin typeface="Meiryo UI" panose="020B0604030504040204" pitchFamily="50" charset="-128"/>
                <a:ea typeface="Meiryo UI" panose="020B0604030504040204" pitchFamily="50" charset="-128"/>
              </a:rPr>
              <a:t>と</a:t>
            </a:r>
            <a:r>
              <a:rPr kumimoji="1" lang="en-US" altLang="ja-JP" dirty="0">
                <a:latin typeface="Meiryo UI" panose="020B0604030504040204" pitchFamily="50" charset="-128"/>
                <a:ea typeface="Meiryo UI" panose="020B0604030504040204" pitchFamily="50" charset="-128"/>
              </a:rPr>
              <a:t>PLSA</a:t>
            </a:r>
            <a:r>
              <a:rPr kumimoji="1" lang="ja-JP" altLang="en-US" dirty="0">
                <a:latin typeface="Meiryo UI" panose="020B0604030504040204" pitchFamily="50" charset="-128"/>
                <a:ea typeface="Meiryo UI" panose="020B0604030504040204" pitchFamily="50" charset="-128"/>
              </a:rPr>
              <a:t>の一致率を確認しました。</a:t>
            </a:r>
            <a:endParaRPr kumimoji="1" lang="en-US" altLang="ja-JP" dirty="0">
              <a:latin typeface="Meiryo UI" panose="020B0604030504040204" pitchFamily="50" charset="-128"/>
              <a:ea typeface="Meiryo UI" panose="020B0604030504040204" pitchFamily="50" charset="-128"/>
            </a:endParaRPr>
          </a:p>
          <a:p>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つのクラスターの一致率は</a:t>
            </a:r>
            <a:r>
              <a:rPr kumimoji="1" lang="en-US" altLang="ja-JP" dirty="0">
                <a:latin typeface="Meiryo UI" panose="020B0604030504040204" pitchFamily="50" charset="-128"/>
                <a:ea typeface="Meiryo UI" panose="020B0604030504040204" pitchFamily="50" charset="-128"/>
              </a:rPr>
              <a:t>80%</a:t>
            </a:r>
            <a:r>
              <a:rPr kumimoji="1" lang="ja-JP" altLang="en-US" dirty="0">
                <a:latin typeface="Meiryo UI" panose="020B0604030504040204" pitchFamily="50" charset="-128"/>
                <a:ea typeface="Meiryo UI" panose="020B0604030504040204" pitchFamily="50" charset="-128"/>
              </a:rPr>
              <a:t>と高いことが分かり、どちらのクラスタリング結果も似ていると思われます。</a:t>
            </a:r>
            <a:endParaRPr kumimoji="1" lang="en-US" altLang="ja-JP" dirty="0">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パターン</a:t>
            </a:r>
            <a:r>
              <a:rPr kumimoji="1" lang="en-US" altLang="ja-JP" dirty="0">
                <a:latin typeface="Meiryo UI" panose="020B0604030504040204" pitchFamily="50" charset="-128"/>
                <a:ea typeface="Meiryo UI" panose="020B0604030504040204" pitchFamily="50" charset="-128"/>
              </a:rPr>
              <a:t>C</a:t>
            </a:r>
            <a:r>
              <a:rPr kumimoji="1" lang="ja-JP" altLang="en-US" dirty="0">
                <a:latin typeface="Meiryo UI" panose="020B0604030504040204" pitchFamily="50" charset="-128"/>
                <a:ea typeface="Meiryo UI" panose="020B0604030504040204" pitchFamily="50" charset="-128"/>
              </a:rPr>
              <a:t>では、インプットデータによる</a:t>
            </a:r>
            <a:r>
              <a:rPr kumimoji="1" lang="en-US" altLang="ja-JP" dirty="0">
                <a:latin typeface="Meiryo UI" panose="020B0604030504040204" pitchFamily="50" charset="-128"/>
                <a:ea typeface="Meiryo UI" panose="020B0604030504040204" pitchFamily="50" charset="-128"/>
              </a:rPr>
              <a:t>PLSA</a:t>
            </a:r>
            <a:r>
              <a:rPr kumimoji="1" lang="ja-JP" altLang="en-US" dirty="0">
                <a:latin typeface="Meiryo UI" panose="020B0604030504040204" pitchFamily="50" charset="-128"/>
                <a:ea typeface="Meiryo UI" panose="020B0604030504040204" pitchFamily="50" charset="-128"/>
              </a:rPr>
              <a:t>の結果の違いを確認しました。</a:t>
            </a:r>
            <a:endParaRPr kumimoji="1" lang="en-US" altLang="ja-JP" dirty="0">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実際の案件で使用する場合、次元の呪いが発生する可能性があるときは</a:t>
            </a:r>
            <a:r>
              <a:rPr kumimoji="1" lang="en-US" altLang="ja-JP" dirty="0">
                <a:latin typeface="Meiryo UI" panose="020B0604030504040204" pitchFamily="50" charset="-128"/>
                <a:ea typeface="Meiryo UI" panose="020B0604030504040204" pitchFamily="50" charset="-128"/>
              </a:rPr>
              <a:t>PLSA</a:t>
            </a:r>
            <a:r>
              <a:rPr kumimoji="1" lang="ja-JP" altLang="en-US" dirty="0">
                <a:latin typeface="Meiryo UI" panose="020B0604030504040204" pitchFamily="50" charset="-128"/>
                <a:ea typeface="Meiryo UI" panose="020B0604030504040204" pitchFamily="50" charset="-128"/>
              </a:rPr>
              <a:t>を選択し、</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次元の呪いが発生しないと考えたときは、目的に応じて上記</a:t>
            </a: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手法を使い分けることが必要になると考えられます。</a:t>
            </a:r>
          </a:p>
        </p:txBody>
      </p:sp>
      <p:sp>
        <p:nvSpPr>
          <p:cNvPr id="5" name="正方形/長方形 4">
            <a:extLst>
              <a:ext uri="{FF2B5EF4-FFF2-40B4-BE49-F238E27FC236}">
                <a16:creationId xmlns:a16="http://schemas.microsoft.com/office/drawing/2014/main" id="{69A0DAA2-ED33-43B1-86C2-04488966BC8F}"/>
              </a:ext>
            </a:extLst>
          </p:cNvPr>
          <p:cNvSpPr/>
          <p:nvPr/>
        </p:nvSpPr>
        <p:spPr>
          <a:xfrm>
            <a:off x="540000" y="1989138"/>
            <a:ext cx="8388100" cy="39290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クラスタリングアルゴリズムの結論</a:t>
            </a:r>
          </a:p>
        </p:txBody>
      </p:sp>
      <p:sp>
        <p:nvSpPr>
          <p:cNvPr id="3" name="スライド番号プレースホルダー 2">
            <a:extLst>
              <a:ext uri="{FF2B5EF4-FFF2-40B4-BE49-F238E27FC236}">
                <a16:creationId xmlns:a16="http://schemas.microsoft.com/office/drawing/2014/main" id="{28C30C36-EAD6-4FA8-9AD2-FDBC5B305682}"/>
              </a:ext>
            </a:extLst>
          </p:cNvPr>
          <p:cNvSpPr>
            <a:spLocks noGrp="1"/>
          </p:cNvSpPr>
          <p:nvPr>
            <p:ph type="sldNum" sz="quarter" idx="12"/>
          </p:nvPr>
        </p:nvSpPr>
        <p:spPr/>
        <p:txBody>
          <a:bodyPr/>
          <a:lstStyle/>
          <a:p>
            <a:fld id="{4A0ABA21-04CE-4531-99B2-420D29D6D622}" type="slidenum">
              <a:rPr lang="ja-JP" altLang="en-US" smtClean="0"/>
              <a:pPr/>
              <a:t>30</a:t>
            </a:fld>
            <a:endParaRPr lang="ja-JP" altLang="en-US" dirty="0"/>
          </a:p>
        </p:txBody>
      </p:sp>
    </p:spTree>
    <p:extLst>
      <p:ext uri="{BB962C8B-B14F-4D97-AF65-F5344CB8AC3E}">
        <p14:creationId xmlns:p14="http://schemas.microsoft.com/office/powerpoint/2010/main" val="2670440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まとめ</a:t>
            </a: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クラスタリングを行い場合の、</a:t>
            </a:r>
            <a:r>
              <a:rPr lang="en-US" altLang="ja-JP" sz="2000" b="1" dirty="0">
                <a:latin typeface="Meiryo UI" panose="020B0604030504040204" pitchFamily="50" charset="-128"/>
                <a:ea typeface="Meiryo UI" panose="020B0604030504040204" pitchFamily="50" charset="-128"/>
              </a:rPr>
              <a:t>Word Embedding</a:t>
            </a:r>
            <a:r>
              <a:rPr lang="ja-JP" altLang="en-US" sz="2000" b="1" dirty="0">
                <a:latin typeface="Meiryo UI" panose="020B0604030504040204" pitchFamily="50" charset="-128"/>
                <a:ea typeface="Meiryo UI" panose="020B0604030504040204" pitchFamily="50" charset="-128"/>
              </a:rPr>
              <a:t>アルゴリズム・クラスタリングアルゴリズムの違いについて、確認することができました。</a:t>
            </a:r>
            <a:endParaRPr lang="ja-JP" altLang="ja-JP" sz="2000" b="1" dirty="0">
              <a:latin typeface="Meiryo UI" panose="020B0604030504040204" pitchFamily="50" charset="-128"/>
              <a:ea typeface="Meiryo UI" panose="020B0604030504040204" pitchFamily="50" charset="-128"/>
            </a:endParaRPr>
          </a:p>
        </p:txBody>
      </p:sp>
      <p:graphicFrame>
        <p:nvGraphicFramePr>
          <p:cNvPr id="5" name="表 31">
            <a:extLst>
              <a:ext uri="{FF2B5EF4-FFF2-40B4-BE49-F238E27FC236}">
                <a16:creationId xmlns:a16="http://schemas.microsoft.com/office/drawing/2014/main" id="{9BDBB167-C780-4E2D-965B-305CD6FF72E7}"/>
              </a:ext>
            </a:extLst>
          </p:cNvPr>
          <p:cNvGraphicFramePr>
            <a:graphicFrameLocks noGrp="1"/>
          </p:cNvGraphicFramePr>
          <p:nvPr>
            <p:extLst>
              <p:ext uri="{D42A27DB-BD31-4B8C-83A1-F6EECF244321}">
                <p14:modId xmlns:p14="http://schemas.microsoft.com/office/powerpoint/2010/main" val="3867617912"/>
              </p:ext>
            </p:extLst>
          </p:nvPr>
        </p:nvGraphicFramePr>
        <p:xfrm>
          <a:off x="604551" y="2340000"/>
          <a:ext cx="8935721" cy="2462756"/>
        </p:xfrm>
        <a:graphic>
          <a:graphicData uri="http://schemas.openxmlformats.org/drawingml/2006/table">
            <a:tbl>
              <a:tblPr firstRow="1" bandRow="1">
                <a:tableStyleId>{5940675A-B579-460E-94D1-54222C63F5DA}</a:tableStyleId>
              </a:tblPr>
              <a:tblGrid>
                <a:gridCol w="2795597">
                  <a:extLst>
                    <a:ext uri="{9D8B030D-6E8A-4147-A177-3AD203B41FA5}">
                      <a16:colId xmlns:a16="http://schemas.microsoft.com/office/drawing/2014/main" val="2254968443"/>
                    </a:ext>
                  </a:extLst>
                </a:gridCol>
                <a:gridCol w="1571239">
                  <a:extLst>
                    <a:ext uri="{9D8B030D-6E8A-4147-A177-3AD203B41FA5}">
                      <a16:colId xmlns:a16="http://schemas.microsoft.com/office/drawing/2014/main" val="3815941026"/>
                    </a:ext>
                  </a:extLst>
                </a:gridCol>
                <a:gridCol w="4568885">
                  <a:extLst>
                    <a:ext uri="{9D8B030D-6E8A-4147-A177-3AD203B41FA5}">
                      <a16:colId xmlns:a16="http://schemas.microsoft.com/office/drawing/2014/main" val="3360979933"/>
                    </a:ext>
                  </a:extLst>
                </a:gridCol>
              </a:tblGrid>
              <a:tr h="0">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ステップ</a:t>
                      </a:r>
                    </a:p>
                  </a:txBody>
                  <a:tcPr marL="36000" marR="36000" marT="36000"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選択肢</a:t>
                      </a:r>
                    </a:p>
                  </a:txBody>
                  <a:tcPr marL="36000" marR="36000" marT="36000"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選択方法</a:t>
                      </a:r>
                    </a:p>
                  </a:txBody>
                  <a:tcPr marL="36000" marR="36000" marT="36000"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247608"/>
                  </a:ext>
                </a:extLst>
              </a:tr>
              <a:tr h="218440">
                <a:tc rowSpan="4">
                  <a:txBody>
                    <a:bodyPr/>
                    <a:lstStyle/>
                    <a:p>
                      <a:pPr algn="ctr"/>
                      <a:r>
                        <a:rPr kumimoji="1" lang="en-US" altLang="ja-JP" sz="1600" b="0" dirty="0">
                          <a:solidFill>
                            <a:schemeClr val="tx1"/>
                          </a:solidFill>
                          <a:latin typeface="Meiryo UI" panose="020B0604030504040204" pitchFamily="50" charset="-128"/>
                          <a:ea typeface="Meiryo UI" panose="020B0604030504040204" pitchFamily="50" charset="-128"/>
                        </a:rPr>
                        <a:t>Word Embedding</a:t>
                      </a:r>
                      <a:r>
                        <a:rPr kumimoji="1" lang="ja-JP" altLang="en-US" sz="1600" b="0" dirty="0">
                          <a:solidFill>
                            <a:schemeClr val="tx1"/>
                          </a:solidFill>
                          <a:latin typeface="Meiryo UI" panose="020B0604030504040204" pitchFamily="50" charset="-128"/>
                          <a:ea typeface="Meiryo UI" panose="020B0604030504040204" pitchFamily="50" charset="-128"/>
                        </a:rPr>
                        <a:t>アルゴリズム</a:t>
                      </a: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kumimoji="1" lang="en-US" altLang="ja-JP" sz="1600" dirty="0" err="1">
                          <a:solidFill>
                            <a:schemeClr val="tx1"/>
                          </a:solidFill>
                          <a:latin typeface="Meiryo UI" panose="020B0604030504040204" pitchFamily="50" charset="-128"/>
                          <a:ea typeface="Meiryo UI" panose="020B0604030504040204" pitchFamily="50" charset="-128"/>
                        </a:rPr>
                        <a:t>BoW</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kumimoji="1" lang="ja-JP" altLang="en-US"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6964429"/>
                  </a:ext>
                </a:extLst>
              </a:tr>
              <a:tr h="0">
                <a:tc vMerge="1">
                  <a:txBody>
                    <a:bodyPr/>
                    <a:lstStyle/>
                    <a:p>
                      <a:pPr algn="ctr"/>
                      <a:endParaRPr kumimoji="1" lang="ja-JP" altLang="en-US" sz="15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kumimoji="1" lang="en-US" altLang="ja-JP" sz="1600" dirty="0" err="1">
                          <a:solidFill>
                            <a:schemeClr val="tx1"/>
                          </a:solidFill>
                          <a:latin typeface="Meiryo UI" panose="020B0604030504040204" pitchFamily="50" charset="-128"/>
                          <a:ea typeface="Meiryo UI" panose="020B0604030504040204" pitchFamily="50" charset="-128"/>
                        </a:rPr>
                        <a:t>Tf-idf</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kumimoji="1" lang="ja-JP" altLang="en-US"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9765693"/>
                  </a:ext>
                </a:extLst>
              </a:tr>
              <a:tr h="0">
                <a:tc vMerge="1">
                  <a:txBody>
                    <a:bodyPr/>
                    <a:lstStyle/>
                    <a:p>
                      <a:pPr algn="ctr"/>
                      <a:endParaRPr kumimoji="1" lang="ja-JP" altLang="en-US" sz="15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word2vec</a:t>
                      </a: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kumimoji="1" lang="ja-JP" altLang="en-US"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846093"/>
                  </a:ext>
                </a:extLst>
              </a:tr>
              <a:tr h="0">
                <a:tc vMerge="1">
                  <a:txBody>
                    <a:bodyPr/>
                    <a:lstStyle/>
                    <a:p>
                      <a:pPr algn="ctr"/>
                      <a:endParaRPr kumimoji="1" lang="ja-JP" altLang="en-US" sz="1600" b="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BERT</a:t>
                      </a: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kumimoji="1" lang="ja-JP" altLang="en-US"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2445987"/>
                  </a:ext>
                </a:extLst>
              </a:tr>
              <a:tr h="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dirty="0">
                          <a:solidFill>
                            <a:schemeClr val="tx1"/>
                          </a:solidFill>
                          <a:latin typeface="Meiryo UI" panose="020B0604030504040204" pitchFamily="50" charset="-128"/>
                          <a:ea typeface="Meiryo UI" panose="020B0604030504040204" pitchFamily="50" charset="-128"/>
                        </a:rPr>
                        <a:t>クラスタリングアルゴリズム</a:t>
                      </a: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K-means</a:t>
                      </a: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600" dirty="0">
                          <a:solidFill>
                            <a:schemeClr val="tx1"/>
                          </a:solidFill>
                          <a:latin typeface="Meiryo UI" panose="020B0604030504040204" pitchFamily="50" charset="-128"/>
                          <a:ea typeface="Meiryo UI" panose="020B0604030504040204" pitchFamily="50" charset="-128"/>
                        </a:rPr>
                        <a:t>データが</a:t>
                      </a:r>
                      <a:r>
                        <a:rPr kumimoji="1" lang="en-US" altLang="ja-JP" sz="1600" dirty="0">
                          <a:solidFill>
                            <a:schemeClr val="tx1"/>
                          </a:solidFill>
                          <a:latin typeface="Meiryo UI" panose="020B0604030504040204" pitchFamily="50" charset="-128"/>
                          <a:ea typeface="Meiryo UI" panose="020B0604030504040204" pitchFamily="50" charset="-128"/>
                        </a:rPr>
                        <a:t>1</a:t>
                      </a:r>
                      <a:r>
                        <a:rPr kumimoji="1" lang="ja-JP" altLang="en-US" sz="1600" dirty="0">
                          <a:solidFill>
                            <a:schemeClr val="tx1"/>
                          </a:solidFill>
                          <a:latin typeface="Meiryo UI" panose="020B0604030504040204" pitchFamily="50" charset="-128"/>
                          <a:ea typeface="Meiryo UI" panose="020B0604030504040204" pitchFamily="50" charset="-128"/>
                        </a:rPr>
                        <a:t>つのクラスターにのみ属する場合</a:t>
                      </a:r>
                      <a:endParaRPr kumimoji="1" lang="en-US" altLang="ja-JP" sz="1600" dirty="0">
                        <a:solidFill>
                          <a:schemeClr val="tx1"/>
                        </a:solidFill>
                        <a:latin typeface="Meiryo UI" panose="020B0604030504040204" pitchFamily="50" charset="-128"/>
                        <a:ea typeface="Meiryo UI" panose="020B0604030504040204" pitchFamily="50" charset="-128"/>
                      </a:endParaRPr>
                    </a:p>
                    <a:p>
                      <a:pPr algn="l"/>
                      <a:r>
                        <a:rPr kumimoji="1" lang="ja-JP" altLang="en-US" sz="1600" dirty="0">
                          <a:solidFill>
                            <a:schemeClr val="tx1"/>
                          </a:solidFill>
                          <a:latin typeface="Meiryo UI" panose="020B0604030504040204" pitchFamily="50" charset="-128"/>
                          <a:ea typeface="Meiryo UI" panose="020B0604030504040204" pitchFamily="50" charset="-128"/>
                        </a:rPr>
                        <a:t>次元数が多い場合</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9251223"/>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500" b="0" dirty="0">
                        <a:solidFill>
                          <a:schemeClr val="tx1"/>
                        </a:solidFill>
                        <a:latin typeface="Meiryo UI" panose="020B0604030504040204" pitchFamily="50" charset="-128"/>
                        <a:ea typeface="Meiryo UI" panose="020B0604030504040204" pitchFamily="50" charset="-128"/>
                      </a:endParaRP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kumimoji="1" lang="en-US" altLang="ja-JP" sz="1600" dirty="0">
                          <a:solidFill>
                            <a:schemeClr val="tx1"/>
                          </a:solidFill>
                          <a:latin typeface="Meiryo UI" panose="020B0604030504040204" pitchFamily="50" charset="-128"/>
                          <a:ea typeface="Meiryo UI" panose="020B0604030504040204" pitchFamily="50" charset="-128"/>
                        </a:rPr>
                        <a:t>PLSA</a:t>
                      </a:r>
                      <a:endParaRPr kumimoji="1" lang="ja-JP" altLang="en-US"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solidFill>
                            <a:schemeClr val="tx1"/>
                          </a:solidFill>
                          <a:latin typeface="Meiryo UI" panose="020B0604030504040204" pitchFamily="50" charset="-128"/>
                          <a:ea typeface="Meiryo UI" panose="020B0604030504040204" pitchFamily="50" charset="-128"/>
                        </a:rPr>
                        <a:t>データが複数のクラスターにのみ属する場合</a:t>
                      </a:r>
                      <a:endParaRPr kumimoji="1" lang="en-US" altLang="ja-JP" sz="1600" dirty="0">
                        <a:solidFill>
                          <a:schemeClr val="tx1"/>
                        </a:solidFill>
                        <a:latin typeface="Meiryo UI" panose="020B0604030504040204" pitchFamily="50" charset="-128"/>
                        <a:ea typeface="Meiryo UI" panose="020B0604030504040204" pitchFamily="50" charset="-128"/>
                      </a:endParaRPr>
                    </a:p>
                  </a:txBody>
                  <a:tcPr marL="36000" marR="36000" marT="36000"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8327587"/>
                  </a:ext>
                </a:extLst>
              </a:tr>
            </a:tbl>
          </a:graphicData>
        </a:graphic>
      </p:graphicFrame>
      <p:sp>
        <p:nvSpPr>
          <p:cNvPr id="7" name="テキスト ボックス 6">
            <a:extLst>
              <a:ext uri="{FF2B5EF4-FFF2-40B4-BE49-F238E27FC236}">
                <a16:creationId xmlns:a16="http://schemas.microsoft.com/office/drawing/2014/main" id="{58CB40C4-6AF6-4688-B9D1-17D322A17956}"/>
              </a:ext>
            </a:extLst>
          </p:cNvPr>
          <p:cNvSpPr txBox="1"/>
          <p:nvPr/>
        </p:nvSpPr>
        <p:spPr>
          <a:xfrm>
            <a:off x="3614332" y="1980000"/>
            <a:ext cx="2677336" cy="369332"/>
          </a:xfrm>
          <a:prstGeom prst="rect">
            <a:avLst/>
          </a:prstGeom>
          <a:noFill/>
        </p:spPr>
        <p:txBody>
          <a:bodyPr wrap="none" rtlCol="0">
            <a:spAutoFit/>
          </a:bodyPr>
          <a:lstStyle/>
          <a:p>
            <a:r>
              <a:rPr lang="ja-JP" altLang="en-US" b="1" dirty="0">
                <a:solidFill>
                  <a:prstClr val="black"/>
                </a:solidFill>
                <a:latin typeface="Meiryo UI" panose="020B0604030504040204" pitchFamily="50" charset="-128"/>
                <a:ea typeface="Meiryo UI" panose="020B0604030504040204" pitchFamily="50" charset="-128"/>
              </a:rPr>
              <a:t>アルゴリズム別の選択方法</a:t>
            </a:r>
          </a:p>
        </p:txBody>
      </p:sp>
      <p:sp>
        <p:nvSpPr>
          <p:cNvPr id="8" name="テキスト プレースホルダー 5">
            <a:extLst>
              <a:ext uri="{FF2B5EF4-FFF2-40B4-BE49-F238E27FC236}">
                <a16:creationId xmlns:a16="http://schemas.microsoft.com/office/drawing/2014/main" id="{4D30A048-EB76-4035-BF27-FE1A82CA45AA}"/>
              </a:ext>
            </a:extLst>
          </p:cNvPr>
          <p:cNvSpPr txBox="1">
            <a:spLocks/>
          </p:cNvSpPr>
          <p:nvPr/>
        </p:nvSpPr>
        <p:spPr>
          <a:xfrm>
            <a:off x="540000" y="5826228"/>
            <a:ext cx="9000000" cy="720000"/>
          </a:xfrm>
          <a:prstGeom prst="rect">
            <a:avLst/>
          </a:prstGeom>
        </p:spPr>
        <p:txBody>
          <a:bodyPr vert="horz" lIns="72000" tIns="72000" rIns="72000" bIns="72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60000" indent="-360000">
              <a:lnSpc>
                <a:spcPct val="100000"/>
              </a:lnSpc>
              <a:spcBef>
                <a:spcPts val="0"/>
              </a:spcBef>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本研究では、非階層クラスタリングに着目し、</a:t>
            </a:r>
            <a:r>
              <a:rPr lang="en-US" altLang="ja-JP" sz="1600" dirty="0">
                <a:latin typeface="Meiryo UI" panose="020B0604030504040204" pitchFamily="50" charset="-128"/>
                <a:ea typeface="Meiryo UI" panose="020B0604030504040204" pitchFamily="50" charset="-128"/>
              </a:rPr>
              <a:t>Word Embedding</a:t>
            </a:r>
            <a:r>
              <a:rPr lang="ja-JP" altLang="en-US" sz="1600" dirty="0">
                <a:latin typeface="Meiryo UI" panose="020B0604030504040204" pitchFamily="50" charset="-128"/>
                <a:ea typeface="Meiryo UI" panose="020B0604030504040204" pitchFamily="50" charset="-128"/>
              </a:rPr>
              <a:t>アルゴリズム・クラスタリングアルゴリズムの特徴を確認しました。</a:t>
            </a:r>
            <a:endParaRPr lang="en-US" altLang="ja-JP" sz="1600" dirty="0">
              <a:latin typeface="Meiryo UI" panose="020B0604030504040204" pitchFamily="50" charset="-128"/>
              <a:ea typeface="Meiryo UI" panose="020B0604030504040204" pitchFamily="50" charset="-128"/>
            </a:endParaRPr>
          </a:p>
          <a:p>
            <a:pPr marL="360000" indent="-360000">
              <a:lnSpc>
                <a:spcPct val="100000"/>
              </a:lnSpc>
              <a:spcBef>
                <a:spcPts val="0"/>
              </a:spcBef>
              <a:buFont typeface="Wingdings" panose="05000000000000000000" pitchFamily="2" charset="2"/>
              <a:buChar char="Ø"/>
            </a:pPr>
            <a:r>
              <a:rPr lang="ja-JP" altLang="en-US" sz="1600" dirty="0">
                <a:latin typeface="Meiryo UI" panose="020B0604030504040204" pitchFamily="50" charset="-128"/>
                <a:ea typeface="Meiryo UI" panose="020B0604030504040204" pitchFamily="50" charset="-128"/>
              </a:rPr>
              <a:t>今後は今回確認しなかった類似度や階層クラスタリングの特徴を確認していくことが考えられます。</a:t>
            </a:r>
            <a:endParaRPr lang="ja-JP" altLang="ja-JP" sz="1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F420E128-4BD1-458A-BC6A-DB0F8A984F8E}"/>
              </a:ext>
            </a:extLst>
          </p:cNvPr>
          <p:cNvSpPr/>
          <p:nvPr/>
        </p:nvSpPr>
        <p:spPr>
          <a:xfrm>
            <a:off x="164182" y="2229905"/>
            <a:ext cx="9577636" cy="2960300"/>
          </a:xfrm>
          <a:prstGeom prst="rect">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まとめ</a:t>
            </a:r>
            <a:endParaRPr kumimoji="1" lang="en-US" altLang="ja-JP"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FC55666F-3837-4B92-9F92-A31DC9B88E12}"/>
              </a:ext>
            </a:extLst>
          </p:cNvPr>
          <p:cNvSpPr>
            <a:spLocks noGrp="1"/>
          </p:cNvSpPr>
          <p:nvPr>
            <p:ph type="sldNum" sz="quarter" idx="12"/>
          </p:nvPr>
        </p:nvSpPr>
        <p:spPr/>
        <p:txBody>
          <a:bodyPr/>
          <a:lstStyle/>
          <a:p>
            <a:fld id="{4A0ABA21-04CE-4531-99B2-420D29D6D622}" type="slidenum">
              <a:rPr lang="ja-JP" altLang="en-US" smtClean="0"/>
              <a:pPr/>
              <a:t>31</a:t>
            </a:fld>
            <a:endParaRPr lang="ja-JP" altLang="en-US" dirty="0"/>
          </a:p>
        </p:txBody>
      </p:sp>
    </p:spTree>
    <p:extLst>
      <p:ext uri="{BB962C8B-B14F-4D97-AF65-F5344CB8AC3E}">
        <p14:creationId xmlns:p14="http://schemas.microsoft.com/office/powerpoint/2010/main" val="52687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DE2EB-E1B9-4729-9AF6-766EADB51CE6}"/>
              </a:ext>
            </a:extLst>
          </p:cNvPr>
          <p:cNvSpPr>
            <a:spLocks noGrp="1"/>
          </p:cNvSpPr>
          <p:nvPr>
            <p:ph type="title"/>
          </p:nvPr>
        </p:nvSpPr>
        <p:spPr>
          <a:xfrm>
            <a:off x="540000" y="360000"/>
            <a:ext cx="9022254" cy="720000"/>
          </a:xfrm>
        </p:spPr>
        <p:txBody>
          <a:bodyPr lIns="72000" tIns="72000" rIns="72000" bIns="72000">
            <a:normAutofit/>
          </a:bodyPr>
          <a:lstStyle/>
          <a:p>
            <a:r>
              <a:rPr kumimoji="1" lang="ja-JP" altLang="en-US" sz="3600" dirty="0">
                <a:latin typeface="Meiryo UI" panose="020B0604030504040204" pitchFamily="50" charset="-128"/>
                <a:ea typeface="Meiryo UI" panose="020B0604030504040204" pitchFamily="50" charset="-128"/>
              </a:rPr>
              <a:t>今後の展望</a:t>
            </a:r>
          </a:p>
        </p:txBody>
      </p:sp>
      <p:sp>
        <p:nvSpPr>
          <p:cNvPr id="6" name="テキスト プレースホルダー 5">
            <a:extLst>
              <a:ext uri="{FF2B5EF4-FFF2-40B4-BE49-F238E27FC236}">
                <a16:creationId xmlns:a16="http://schemas.microsoft.com/office/drawing/2014/main" id="{EEA32788-1388-43F0-B675-347E64115DFB}"/>
              </a:ext>
            </a:extLst>
          </p:cNvPr>
          <p:cNvSpPr>
            <a:spLocks noGrp="1"/>
          </p:cNvSpPr>
          <p:nvPr>
            <p:ph type="body" idx="4294967295"/>
          </p:nvPr>
        </p:nvSpPr>
        <p:spPr>
          <a:xfrm>
            <a:off x="539999" y="1079999"/>
            <a:ext cx="9144000" cy="720000"/>
          </a:xfrm>
          <a:prstGeom prst="rect">
            <a:avLst/>
          </a:prstGeom>
        </p:spPr>
        <p:txBody>
          <a:bodyPr lIns="72000" tIns="72000" rIns="72000" bIns="72000">
            <a:noAutofit/>
          </a:bodyPr>
          <a:lstStyle/>
          <a:p>
            <a:pPr marL="0" indent="0">
              <a:spcBef>
                <a:spcPts val="0"/>
              </a:spcBef>
              <a:buNone/>
            </a:pPr>
            <a:r>
              <a:rPr lang="ja-JP" altLang="en-US" sz="2000" b="1" dirty="0">
                <a:latin typeface="Meiryo UI" panose="020B0604030504040204" pitchFamily="50" charset="-128"/>
                <a:ea typeface="Meiryo UI" panose="020B0604030504040204" pitchFamily="50" charset="-128"/>
              </a:rPr>
              <a:t>さらなる技術習得のため、今回検証できなかった類似度について、調査を進めていきたいと思います。類似度については、</a:t>
            </a:r>
            <a:r>
              <a:rPr lang="en-US" altLang="ja-JP" sz="2000" b="1" dirty="0">
                <a:latin typeface="Meiryo UI" panose="020B0604030504040204" pitchFamily="50" charset="-128"/>
                <a:ea typeface="Meiryo UI" panose="020B0604030504040204" pitchFamily="50" charset="-128"/>
              </a:rPr>
              <a:t>k-means</a:t>
            </a:r>
            <a:r>
              <a:rPr lang="ja-JP" altLang="en-US" sz="2000" b="1" dirty="0">
                <a:latin typeface="Meiryo UI" panose="020B0604030504040204" pitchFamily="50" charset="-128"/>
                <a:ea typeface="Meiryo UI" panose="020B0604030504040204" pitchFamily="50" charset="-128"/>
              </a:rPr>
              <a:t>や類似データの抽出で使われる技術です。</a:t>
            </a:r>
            <a:endParaRPr lang="ja-JP" altLang="ja-JP" sz="2000" b="1"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15D8BED4-B437-4FF0-8A3F-ACDA3DF314CE}"/>
              </a:ext>
            </a:extLst>
          </p:cNvPr>
          <p:cNvSpPr txBox="1"/>
          <p:nvPr/>
        </p:nvSpPr>
        <p:spPr>
          <a:xfrm>
            <a:off x="2142151" y="1980000"/>
            <a:ext cx="5621698" cy="369332"/>
          </a:xfrm>
          <a:prstGeom prst="rect">
            <a:avLst/>
          </a:prstGeom>
          <a:noFill/>
        </p:spPr>
        <p:txBody>
          <a:bodyPr wrap="square" rtlCol="0">
            <a:spAutoFit/>
          </a:bodyPr>
          <a:lstStyle/>
          <a:p>
            <a:pPr algn="l"/>
            <a:r>
              <a:rPr lang="ja-JP" altLang="en-US" b="1" dirty="0">
                <a:latin typeface="Meiryo UI" panose="020B0604030504040204" pitchFamily="50" charset="-128"/>
                <a:ea typeface="Meiryo UI" panose="020B0604030504040204" pitchFamily="50" charset="-128"/>
              </a:rPr>
              <a:t>クラスタリングを行う場合の流れ（テキストデータの場合）</a:t>
            </a:r>
          </a:p>
        </p:txBody>
      </p:sp>
      <p:sp>
        <p:nvSpPr>
          <p:cNvPr id="7" name="フローチャート: 組合せ 6">
            <a:extLst>
              <a:ext uri="{FF2B5EF4-FFF2-40B4-BE49-F238E27FC236}">
                <a16:creationId xmlns:a16="http://schemas.microsoft.com/office/drawing/2014/main" id="{B0B34075-8AB2-41A5-9400-21D63ECD0BC3}"/>
              </a:ext>
            </a:extLst>
          </p:cNvPr>
          <p:cNvSpPr/>
          <p:nvPr/>
        </p:nvSpPr>
        <p:spPr>
          <a:xfrm rot="16200000">
            <a:off x="1757143" y="3751148"/>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pic>
        <p:nvPicPr>
          <p:cNvPr id="8" name="グラフィックス 7" descr="データベース">
            <a:extLst>
              <a:ext uri="{FF2B5EF4-FFF2-40B4-BE49-F238E27FC236}">
                <a16:creationId xmlns:a16="http://schemas.microsoft.com/office/drawing/2014/main" id="{857F5867-57FA-4238-8096-91D58A9E2F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9518" y="3205626"/>
            <a:ext cx="1555594" cy="1555594"/>
          </a:xfrm>
          <a:prstGeom prst="rect">
            <a:avLst/>
          </a:prstGeom>
        </p:spPr>
      </p:pic>
      <p:sp>
        <p:nvSpPr>
          <p:cNvPr id="9" name="矢印: 五方向 8">
            <a:extLst>
              <a:ext uri="{FF2B5EF4-FFF2-40B4-BE49-F238E27FC236}">
                <a16:creationId xmlns:a16="http://schemas.microsoft.com/office/drawing/2014/main" id="{C19D1062-D3A4-4B09-8B5A-7E1085BD8E10}"/>
              </a:ext>
            </a:extLst>
          </p:cNvPr>
          <p:cNvSpPr/>
          <p:nvPr/>
        </p:nvSpPr>
        <p:spPr>
          <a:xfrm>
            <a:off x="540000" y="2491148"/>
            <a:ext cx="1692000" cy="674806"/>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ja-JP" altLang="en-US" b="1" dirty="0">
                <a:solidFill>
                  <a:prstClr val="white"/>
                </a:solidFill>
                <a:latin typeface="Meiryo UI" panose="020B0604030504040204" pitchFamily="50" charset="-128"/>
                <a:ea typeface="Meiryo UI" panose="020B0604030504040204" pitchFamily="50" charset="-128"/>
              </a:rPr>
              <a:t>テキスト</a:t>
            </a:r>
            <a:endParaRPr lang="en-US" altLang="ja-JP" b="1" dirty="0">
              <a:solidFill>
                <a:prstClr val="white"/>
              </a:solidFill>
              <a:latin typeface="Meiryo UI" panose="020B0604030504040204" pitchFamily="50" charset="-128"/>
              <a:ea typeface="Meiryo UI" panose="020B0604030504040204" pitchFamily="50" charset="-128"/>
            </a:endParaRPr>
          </a:p>
          <a:p>
            <a:pPr algn="ctr">
              <a:defRPr/>
            </a:pPr>
            <a:r>
              <a:rPr lang="ja-JP" altLang="en-US" b="1" dirty="0">
                <a:solidFill>
                  <a:prstClr val="white"/>
                </a:solidFill>
                <a:latin typeface="Meiryo UI" panose="020B0604030504040204" pitchFamily="50" charset="-128"/>
                <a:ea typeface="Meiryo UI" panose="020B0604030504040204" pitchFamily="50" charset="-128"/>
              </a:rPr>
              <a:t>データ</a:t>
            </a:r>
          </a:p>
        </p:txBody>
      </p:sp>
      <p:sp>
        <p:nvSpPr>
          <p:cNvPr id="10" name="矢印: 五方向 9">
            <a:extLst>
              <a:ext uri="{FF2B5EF4-FFF2-40B4-BE49-F238E27FC236}">
                <a16:creationId xmlns:a16="http://schemas.microsoft.com/office/drawing/2014/main" id="{7DFC33A8-164A-446F-90C5-D11B2CECB706}"/>
              </a:ext>
            </a:extLst>
          </p:cNvPr>
          <p:cNvSpPr/>
          <p:nvPr/>
        </p:nvSpPr>
        <p:spPr>
          <a:xfrm>
            <a:off x="7684773" y="2491148"/>
            <a:ext cx="1692000" cy="674806"/>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分類</a:t>
            </a:r>
            <a:endParaRPr lang="en-US" altLang="ja-JP" b="1" dirty="0">
              <a:latin typeface="Meiryo UI" panose="020B0604030504040204" pitchFamily="50" charset="-128"/>
              <a:ea typeface="Meiryo UI" panose="020B0604030504040204" pitchFamily="50" charset="-128"/>
            </a:endParaRPr>
          </a:p>
          <a:p>
            <a:pPr algn="ctr"/>
            <a:r>
              <a:rPr lang="ja-JP" altLang="en-US" b="1" dirty="0">
                <a:latin typeface="Meiryo UI" panose="020B0604030504040204" pitchFamily="50" charset="-128"/>
                <a:ea typeface="Meiryo UI" panose="020B0604030504040204" pitchFamily="50" charset="-128"/>
              </a:rPr>
              <a:t>アルゴリズム</a:t>
            </a:r>
            <a:endParaRPr lang="ja-JP" altLang="en-US" b="1" baseline="30000" dirty="0">
              <a:latin typeface="Meiryo UI" panose="020B0604030504040204" pitchFamily="50" charset="-128"/>
              <a:ea typeface="Meiryo UI" panose="020B0604030504040204" pitchFamily="50" charset="-128"/>
            </a:endParaRPr>
          </a:p>
        </p:txBody>
      </p:sp>
      <p:sp>
        <p:nvSpPr>
          <p:cNvPr id="12" name="四角形: 角を丸くする 11">
            <a:extLst>
              <a:ext uri="{FF2B5EF4-FFF2-40B4-BE49-F238E27FC236}">
                <a16:creationId xmlns:a16="http://schemas.microsoft.com/office/drawing/2014/main" id="{D34D3077-12D1-4B72-BAED-A49FCCD87DD0}"/>
              </a:ext>
            </a:extLst>
          </p:cNvPr>
          <p:cNvSpPr/>
          <p:nvPr/>
        </p:nvSpPr>
        <p:spPr>
          <a:xfrm>
            <a:off x="2922180" y="3317259"/>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Bag of Words</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13" name="四角形: 角を丸くする 12">
            <a:extLst>
              <a:ext uri="{FF2B5EF4-FFF2-40B4-BE49-F238E27FC236}">
                <a16:creationId xmlns:a16="http://schemas.microsoft.com/office/drawing/2014/main" id="{E5291444-4FC1-42E7-A3C5-01EB30AA1C25}"/>
              </a:ext>
            </a:extLst>
          </p:cNvPr>
          <p:cNvSpPr/>
          <p:nvPr/>
        </p:nvSpPr>
        <p:spPr>
          <a:xfrm>
            <a:off x="2922180" y="3960759"/>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TF-IDF</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14" name="矢印: 五方向 13">
            <a:extLst>
              <a:ext uri="{FF2B5EF4-FFF2-40B4-BE49-F238E27FC236}">
                <a16:creationId xmlns:a16="http://schemas.microsoft.com/office/drawing/2014/main" id="{344C8865-0B26-44E6-8FD6-1BE845AF68EA}"/>
              </a:ext>
            </a:extLst>
          </p:cNvPr>
          <p:cNvSpPr/>
          <p:nvPr/>
        </p:nvSpPr>
        <p:spPr>
          <a:xfrm>
            <a:off x="5303477" y="2491148"/>
            <a:ext cx="1691117" cy="674806"/>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ja-JP" altLang="en-US" b="1" dirty="0">
                <a:solidFill>
                  <a:prstClr val="white"/>
                </a:solidFill>
                <a:latin typeface="Meiryo UI" panose="020B0604030504040204" pitchFamily="50" charset="-128"/>
                <a:ea typeface="Meiryo UI" panose="020B0604030504040204" pitchFamily="50" charset="-128"/>
              </a:rPr>
              <a:t>類似度</a:t>
            </a:r>
          </a:p>
        </p:txBody>
      </p:sp>
      <p:sp>
        <p:nvSpPr>
          <p:cNvPr id="15" name="フローチャート: 組合せ 14">
            <a:extLst>
              <a:ext uri="{FF2B5EF4-FFF2-40B4-BE49-F238E27FC236}">
                <a16:creationId xmlns:a16="http://schemas.microsoft.com/office/drawing/2014/main" id="{9425B240-65C4-4042-830E-44BFCA998D6E}"/>
              </a:ext>
            </a:extLst>
          </p:cNvPr>
          <p:cNvSpPr/>
          <p:nvPr/>
        </p:nvSpPr>
        <p:spPr>
          <a:xfrm rot="16200000">
            <a:off x="4201450" y="3751148"/>
            <a:ext cx="1633704"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sp>
        <p:nvSpPr>
          <p:cNvPr id="16" name="フローチャート: 組合せ 15">
            <a:extLst>
              <a:ext uri="{FF2B5EF4-FFF2-40B4-BE49-F238E27FC236}">
                <a16:creationId xmlns:a16="http://schemas.microsoft.com/office/drawing/2014/main" id="{ABA045A6-B350-4047-AA47-5A4C1B4D956A}"/>
              </a:ext>
            </a:extLst>
          </p:cNvPr>
          <p:cNvSpPr/>
          <p:nvPr/>
        </p:nvSpPr>
        <p:spPr>
          <a:xfrm rot="16200000">
            <a:off x="6984904" y="3057543"/>
            <a:ext cx="955409"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sp>
        <p:nvSpPr>
          <p:cNvPr id="17" name="四角形: 角を丸くする 16">
            <a:extLst>
              <a:ext uri="{FF2B5EF4-FFF2-40B4-BE49-F238E27FC236}">
                <a16:creationId xmlns:a16="http://schemas.microsoft.com/office/drawing/2014/main" id="{71475BCD-2F83-41A5-A69B-559E60966149}"/>
              </a:ext>
            </a:extLst>
          </p:cNvPr>
          <p:cNvSpPr/>
          <p:nvPr/>
        </p:nvSpPr>
        <p:spPr>
          <a:xfrm>
            <a:off x="5303477" y="3349322"/>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ja-JP" altLang="en-US" sz="1600" b="1" dirty="0">
                <a:solidFill>
                  <a:prstClr val="black">
                    <a:lumMod val="75000"/>
                    <a:lumOff val="25000"/>
                  </a:prstClr>
                </a:solidFill>
                <a:latin typeface="Meiryo UI" panose="020B0604030504040204" pitchFamily="50" charset="-128"/>
                <a:ea typeface="Meiryo UI" panose="020B0604030504040204" pitchFamily="50" charset="-128"/>
              </a:rPr>
              <a:t>ユークリッド距離</a:t>
            </a:r>
          </a:p>
        </p:txBody>
      </p:sp>
      <p:sp>
        <p:nvSpPr>
          <p:cNvPr id="18" name="四角形: 角を丸くする 17">
            <a:extLst>
              <a:ext uri="{FF2B5EF4-FFF2-40B4-BE49-F238E27FC236}">
                <a16:creationId xmlns:a16="http://schemas.microsoft.com/office/drawing/2014/main" id="{D7C728AB-2AF6-4777-AB40-BD1D1E489A68}"/>
              </a:ext>
            </a:extLst>
          </p:cNvPr>
          <p:cNvSpPr/>
          <p:nvPr/>
        </p:nvSpPr>
        <p:spPr>
          <a:xfrm>
            <a:off x="5303477" y="3992822"/>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ja-JP" altLang="en-US" sz="1600" b="1" dirty="0">
                <a:solidFill>
                  <a:prstClr val="black">
                    <a:lumMod val="75000"/>
                    <a:lumOff val="25000"/>
                  </a:prstClr>
                </a:solidFill>
                <a:latin typeface="Meiryo UI" panose="020B0604030504040204" pitchFamily="50" charset="-128"/>
                <a:ea typeface="Meiryo UI" panose="020B0604030504040204" pitchFamily="50" charset="-128"/>
              </a:rPr>
              <a:t>コサイン距離</a:t>
            </a:r>
          </a:p>
        </p:txBody>
      </p:sp>
      <p:sp>
        <p:nvSpPr>
          <p:cNvPr id="19" name="テキスト ボックス 18">
            <a:extLst>
              <a:ext uri="{FF2B5EF4-FFF2-40B4-BE49-F238E27FC236}">
                <a16:creationId xmlns:a16="http://schemas.microsoft.com/office/drawing/2014/main" id="{EEB0CCBC-66B5-42C6-AA8A-83CC2B9ADAB9}"/>
              </a:ext>
            </a:extLst>
          </p:cNvPr>
          <p:cNvSpPr txBox="1"/>
          <p:nvPr/>
        </p:nvSpPr>
        <p:spPr>
          <a:xfrm>
            <a:off x="3552372" y="4543148"/>
            <a:ext cx="430887" cy="707886"/>
          </a:xfrm>
          <a:prstGeom prst="rect">
            <a:avLst/>
          </a:prstGeom>
          <a:noFill/>
        </p:spPr>
        <p:txBody>
          <a:bodyPr vert="eaVert" wrap="none" rtlCol="0">
            <a:spAutoFit/>
          </a:bodyPr>
          <a:lstStyle/>
          <a:p>
            <a:r>
              <a:rPr kumimoji="1" lang="ja-JP" altLang="en-US" sz="1600" dirty="0">
                <a:latin typeface="Meiryo UI" panose="020B0604030504040204" pitchFamily="50" charset="-128"/>
                <a:ea typeface="Meiryo UI" panose="020B0604030504040204" pitchFamily="50" charset="-128"/>
              </a:rPr>
              <a:t>・・・</a:t>
            </a:r>
          </a:p>
        </p:txBody>
      </p:sp>
      <p:sp>
        <p:nvSpPr>
          <p:cNvPr id="20" name="テキスト ボックス 19">
            <a:extLst>
              <a:ext uri="{FF2B5EF4-FFF2-40B4-BE49-F238E27FC236}">
                <a16:creationId xmlns:a16="http://schemas.microsoft.com/office/drawing/2014/main" id="{DC886E03-70CB-453E-8BCC-EBEFFCA13630}"/>
              </a:ext>
            </a:extLst>
          </p:cNvPr>
          <p:cNvSpPr txBox="1"/>
          <p:nvPr/>
        </p:nvSpPr>
        <p:spPr>
          <a:xfrm>
            <a:off x="5933669" y="4543148"/>
            <a:ext cx="430887" cy="707886"/>
          </a:xfrm>
          <a:prstGeom prst="rect">
            <a:avLst/>
          </a:prstGeom>
          <a:noFill/>
        </p:spPr>
        <p:txBody>
          <a:bodyPr vert="eaVert" wrap="none" rtlCol="0">
            <a:spAutoFit/>
          </a:bodyPr>
          <a:lstStyle/>
          <a:p>
            <a:r>
              <a:rPr kumimoji="1" lang="ja-JP" altLang="en-US" sz="1600" dirty="0">
                <a:latin typeface="Meiryo UI" panose="020B0604030504040204" pitchFamily="50" charset="-128"/>
                <a:ea typeface="Meiryo UI" panose="020B0604030504040204" pitchFamily="50" charset="-128"/>
              </a:rPr>
              <a:t>・・・</a:t>
            </a:r>
          </a:p>
        </p:txBody>
      </p:sp>
      <p:sp>
        <p:nvSpPr>
          <p:cNvPr id="21" name="四角形: 角を丸くする 20">
            <a:extLst>
              <a:ext uri="{FF2B5EF4-FFF2-40B4-BE49-F238E27FC236}">
                <a16:creationId xmlns:a16="http://schemas.microsoft.com/office/drawing/2014/main" id="{9D15A409-FD4E-4193-807E-F5431D6F1907}"/>
              </a:ext>
            </a:extLst>
          </p:cNvPr>
          <p:cNvSpPr/>
          <p:nvPr/>
        </p:nvSpPr>
        <p:spPr>
          <a:xfrm>
            <a:off x="7685502" y="3349322"/>
            <a:ext cx="1691271" cy="542471"/>
          </a:xfrm>
          <a:prstGeom prst="roundRect">
            <a:avLst/>
          </a:prstGeom>
          <a:solidFill>
            <a:schemeClr val="accent5">
              <a:lumMod val="20000"/>
              <a:lumOff val="80000"/>
            </a:schemeClr>
          </a:solidFill>
          <a:ln w="285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87750" rtlCol="0" anchor="ctr"/>
          <a:lstStyle/>
          <a:p>
            <a:pPr algn="ctr">
              <a:defRPr/>
            </a:pPr>
            <a:r>
              <a:rPr lang="en-US" altLang="ja-JP" sz="1600" b="1" dirty="0">
                <a:solidFill>
                  <a:prstClr val="black">
                    <a:lumMod val="75000"/>
                    <a:lumOff val="25000"/>
                  </a:prstClr>
                </a:solidFill>
                <a:latin typeface="Meiryo UI" panose="020B0604030504040204" pitchFamily="50" charset="-128"/>
                <a:ea typeface="Meiryo UI" panose="020B0604030504040204" pitchFamily="50" charset="-128"/>
              </a:rPr>
              <a:t>K-means</a:t>
            </a:r>
            <a:endParaRPr lang="ja-JP" altLang="en-US" sz="1600" b="1" dirty="0">
              <a:solidFill>
                <a:prstClr val="black">
                  <a:lumMod val="75000"/>
                  <a:lumOff val="25000"/>
                </a:prstClr>
              </a:solidFill>
              <a:latin typeface="Meiryo UI" panose="020B0604030504040204" pitchFamily="50" charset="-128"/>
              <a:ea typeface="Meiryo UI" panose="020B0604030504040204" pitchFamily="50" charset="-128"/>
            </a:endParaRPr>
          </a:p>
        </p:txBody>
      </p:sp>
      <p:sp>
        <p:nvSpPr>
          <p:cNvPr id="25" name="矢印: 五方向 24">
            <a:extLst>
              <a:ext uri="{FF2B5EF4-FFF2-40B4-BE49-F238E27FC236}">
                <a16:creationId xmlns:a16="http://schemas.microsoft.com/office/drawing/2014/main" id="{6DCF057F-DD47-443D-90FC-94F1710E48BB}"/>
              </a:ext>
            </a:extLst>
          </p:cNvPr>
          <p:cNvSpPr/>
          <p:nvPr/>
        </p:nvSpPr>
        <p:spPr>
          <a:xfrm>
            <a:off x="7684773" y="4059673"/>
            <a:ext cx="1692000" cy="674806"/>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類似データの抽出</a:t>
            </a:r>
            <a:endParaRPr lang="ja-JP" altLang="en-US" b="1" baseline="30000" dirty="0">
              <a:latin typeface="Meiryo UI" panose="020B0604030504040204" pitchFamily="50" charset="-128"/>
              <a:ea typeface="Meiryo UI" panose="020B0604030504040204" pitchFamily="50" charset="-128"/>
            </a:endParaRPr>
          </a:p>
        </p:txBody>
      </p:sp>
      <p:sp>
        <p:nvSpPr>
          <p:cNvPr id="27" name="コンテンツ プレースホルダー 2">
            <a:extLst>
              <a:ext uri="{FF2B5EF4-FFF2-40B4-BE49-F238E27FC236}">
                <a16:creationId xmlns:a16="http://schemas.microsoft.com/office/drawing/2014/main" id="{778F4C10-D158-4D43-91E4-90387E625F27}"/>
              </a:ext>
            </a:extLst>
          </p:cNvPr>
          <p:cNvSpPr txBox="1">
            <a:spLocks/>
          </p:cNvSpPr>
          <p:nvPr/>
        </p:nvSpPr>
        <p:spPr>
          <a:xfrm>
            <a:off x="540000" y="5215614"/>
            <a:ext cx="9000000" cy="1235051"/>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Ø"/>
              <a:defRPr kumimoji="1" sz="32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defTabSz="914400" rtl="0" eaLnBrk="1" latinLnBrk="0" hangingPunct="1">
              <a:spcBef>
                <a:spcPct val="20000"/>
              </a:spcBef>
              <a:buFont typeface="Wingdings" panose="05000000000000000000" pitchFamily="2" charset="2"/>
              <a:buChar char="Ø"/>
              <a:defRPr kumimoji="1" sz="28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defTabSz="914400" rtl="0" eaLnBrk="1" latinLnBrk="0" hangingPunct="1">
              <a:spcBef>
                <a:spcPct val="20000"/>
              </a:spcBef>
              <a:buFont typeface="Wingdings" panose="05000000000000000000" pitchFamily="2" charset="2"/>
              <a:buChar char="Ø"/>
              <a:defRPr kumimoji="1" sz="24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defTabSz="914400" rtl="0" eaLnBrk="1" latinLnBrk="0" hangingPunct="1">
              <a:spcBef>
                <a:spcPct val="20000"/>
              </a:spcBef>
              <a:buFont typeface="Wingdings" panose="05000000000000000000" pitchFamily="2" charset="2"/>
              <a:buChar char="Ø"/>
              <a:defRPr kumimoji="1" sz="20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defTabSz="914400" rtl="0" eaLnBrk="1" latinLnBrk="0" hangingPunct="1">
              <a:spcBef>
                <a:spcPct val="20000"/>
              </a:spcBef>
              <a:buFont typeface="Wingdings" panose="05000000000000000000" pitchFamily="2" charset="2"/>
              <a:buChar char="Ø"/>
              <a:defRPr kumimoji="1" sz="2000" kern="1200">
                <a:solidFill>
                  <a:schemeClr val="tx1">
                    <a:lumMod val="75000"/>
                    <a:lumOff val="25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marL="360000" indent="-360000">
              <a:spcBef>
                <a:spcPts val="0"/>
              </a:spcBef>
            </a:pPr>
            <a:r>
              <a:rPr lang="ja-JP" altLang="en-US" sz="1600" dirty="0">
                <a:solidFill>
                  <a:schemeClr val="tx1"/>
                </a:solidFill>
              </a:rPr>
              <a:t>下記の</a:t>
            </a:r>
            <a:r>
              <a:rPr lang="en-US" altLang="ja-JP" sz="1600" dirty="0">
                <a:solidFill>
                  <a:schemeClr val="tx1"/>
                </a:solidFill>
              </a:rPr>
              <a:t>2</a:t>
            </a:r>
            <a:r>
              <a:rPr lang="ja-JP" altLang="en-US" sz="1600" dirty="0">
                <a:solidFill>
                  <a:schemeClr val="tx1"/>
                </a:solidFill>
              </a:rPr>
              <a:t>つのパターンに対して、類似度を使う場合が多いと考えられるため、下記の</a:t>
            </a:r>
            <a:r>
              <a:rPr lang="en-US" altLang="ja-JP" sz="1600" dirty="0">
                <a:solidFill>
                  <a:schemeClr val="tx1"/>
                </a:solidFill>
              </a:rPr>
              <a:t>2</a:t>
            </a:r>
            <a:r>
              <a:rPr lang="ja-JP" altLang="en-US" sz="1600" dirty="0">
                <a:solidFill>
                  <a:schemeClr val="tx1"/>
                </a:solidFill>
              </a:rPr>
              <a:t>パターン別に調査研究の実施検討が必要になります。</a:t>
            </a:r>
            <a:endParaRPr lang="en-US" altLang="ja-JP" sz="1600" dirty="0">
              <a:solidFill>
                <a:schemeClr val="tx1"/>
              </a:solidFill>
            </a:endParaRPr>
          </a:p>
          <a:p>
            <a:pPr lvl="1">
              <a:buFont typeface="+mj-ea"/>
              <a:buAutoNum type="circleNumDbPlain"/>
            </a:pPr>
            <a:r>
              <a:rPr lang="en-US" altLang="ja-JP" sz="1600" dirty="0">
                <a:solidFill>
                  <a:schemeClr val="tx1"/>
                </a:solidFill>
              </a:rPr>
              <a:t>K-means</a:t>
            </a:r>
            <a:r>
              <a:rPr lang="ja-JP" altLang="en-US" sz="1600" dirty="0">
                <a:solidFill>
                  <a:schemeClr val="tx1"/>
                </a:solidFill>
              </a:rPr>
              <a:t>を使用する場合</a:t>
            </a:r>
            <a:endParaRPr lang="en-US" altLang="ja-JP" sz="1600" dirty="0">
              <a:solidFill>
                <a:schemeClr val="tx1"/>
              </a:solidFill>
            </a:endParaRPr>
          </a:p>
          <a:p>
            <a:pPr lvl="1">
              <a:buFont typeface="+mj-ea"/>
              <a:buAutoNum type="circleNumDbPlain"/>
            </a:pPr>
            <a:r>
              <a:rPr lang="ja-JP" altLang="en-US" sz="1600" dirty="0">
                <a:solidFill>
                  <a:schemeClr val="tx1"/>
                </a:solidFill>
              </a:rPr>
              <a:t>あるデータと類似しているデータを抽出したい場合</a:t>
            </a:r>
          </a:p>
        </p:txBody>
      </p:sp>
      <p:sp>
        <p:nvSpPr>
          <p:cNvPr id="28" name="フローチャート: 組合せ 27">
            <a:extLst>
              <a:ext uri="{FF2B5EF4-FFF2-40B4-BE49-F238E27FC236}">
                <a16:creationId xmlns:a16="http://schemas.microsoft.com/office/drawing/2014/main" id="{CF812101-0D0F-4E01-A24E-DA68BCA0D327}"/>
              </a:ext>
            </a:extLst>
          </p:cNvPr>
          <p:cNvSpPr/>
          <p:nvPr/>
        </p:nvSpPr>
        <p:spPr>
          <a:xfrm rot="16200000">
            <a:off x="6984905" y="4167466"/>
            <a:ext cx="955409" cy="339936"/>
          </a:xfrm>
          <a:prstGeom prst="flowChartMerg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463">
              <a:solidFill>
                <a:prstClr val="white"/>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05A27601-F3E2-4CCE-9F46-B69745850FE1}"/>
              </a:ext>
            </a:extLst>
          </p:cNvPr>
          <p:cNvSpPr/>
          <p:nvPr/>
        </p:nvSpPr>
        <p:spPr>
          <a:xfrm>
            <a:off x="5188270" y="2357187"/>
            <a:ext cx="2051445" cy="2858427"/>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矢印: 五方向 23">
            <a:extLst>
              <a:ext uri="{FF2B5EF4-FFF2-40B4-BE49-F238E27FC236}">
                <a16:creationId xmlns:a16="http://schemas.microsoft.com/office/drawing/2014/main" id="{FCE52C5A-7383-41E7-BFFD-6DEC0C355BEC}"/>
              </a:ext>
            </a:extLst>
          </p:cNvPr>
          <p:cNvSpPr/>
          <p:nvPr/>
        </p:nvSpPr>
        <p:spPr>
          <a:xfrm>
            <a:off x="2950590" y="2491148"/>
            <a:ext cx="1691117" cy="674806"/>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ja-JP" sz="1600" b="1" dirty="0">
                <a:latin typeface="Meiryo UI" panose="020B0604030504040204" pitchFamily="50" charset="-128"/>
                <a:ea typeface="Meiryo UI" panose="020B0604030504040204" pitchFamily="50" charset="-128"/>
              </a:rPr>
              <a:t>Word Embedding</a:t>
            </a:r>
            <a:r>
              <a:rPr lang="ja-JP" altLang="en-US" sz="1600" b="1" dirty="0">
                <a:latin typeface="Meiryo UI" panose="020B0604030504040204" pitchFamily="50" charset="-128"/>
                <a:ea typeface="Meiryo UI" panose="020B0604030504040204" pitchFamily="50" charset="-128"/>
              </a:rPr>
              <a:t>アルゴリズム</a:t>
            </a:r>
            <a:endParaRPr lang="ja-JP" altLang="en-US" sz="1600" b="1" dirty="0">
              <a:solidFill>
                <a:prstClr val="white"/>
              </a:solidFill>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F6181B7D-C479-4F80-A117-A576E9D00796}"/>
              </a:ext>
            </a:extLst>
          </p:cNvPr>
          <p:cNvSpPr>
            <a:spLocks noGrp="1"/>
          </p:cNvSpPr>
          <p:nvPr>
            <p:ph type="sldNum" sz="quarter" idx="12"/>
          </p:nvPr>
        </p:nvSpPr>
        <p:spPr/>
        <p:txBody>
          <a:bodyPr/>
          <a:lstStyle/>
          <a:p>
            <a:fld id="{4A0ABA21-04CE-4531-99B2-420D29D6D622}" type="slidenum">
              <a:rPr lang="ja-JP" altLang="en-US" smtClean="0"/>
              <a:pPr/>
              <a:t>32</a:t>
            </a:fld>
            <a:endParaRPr lang="ja-JP" altLang="en-US" dirty="0"/>
          </a:p>
        </p:txBody>
      </p:sp>
    </p:spTree>
    <p:extLst>
      <p:ext uri="{BB962C8B-B14F-4D97-AF65-F5344CB8AC3E}">
        <p14:creationId xmlns:p14="http://schemas.microsoft.com/office/powerpoint/2010/main" val="138807229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360000" indent="-360000" algn="l">
          <a:buFont typeface="Wingdings" panose="05000000000000000000" pitchFamily="2" charset="2"/>
          <a:buChar char="Ø"/>
          <a:defRPr sz="1600" dirty="0">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2391</TotalTime>
  <Words>4946</Words>
  <Application>Microsoft Office PowerPoint</Application>
  <PresentationFormat>A4 210 x 297 mm</PresentationFormat>
  <Paragraphs>570</Paragraphs>
  <Slides>32</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32</vt:i4>
      </vt:variant>
    </vt:vector>
  </HeadingPairs>
  <TitlesOfParts>
    <vt:vector size="39" baseType="lpstr">
      <vt:lpstr>Meiryo UI</vt:lpstr>
      <vt:lpstr>游ゴシック</vt:lpstr>
      <vt:lpstr>Arial</vt:lpstr>
      <vt:lpstr>Calibri</vt:lpstr>
      <vt:lpstr>Calibri Light</vt:lpstr>
      <vt:lpstr>Wingdings</vt:lpstr>
      <vt:lpstr>Office テーマ</vt:lpstr>
      <vt:lpstr>D-VUE Serviceの拡大に向けた クラスタリング　基礎調査研究</vt:lpstr>
      <vt:lpstr>アジェンダ</vt:lpstr>
      <vt:lpstr>研究の全体像</vt:lpstr>
      <vt:lpstr>研究の背景</vt:lpstr>
      <vt:lpstr>研究の目的</vt:lpstr>
      <vt:lpstr>全体スケジュール</vt:lpstr>
      <vt:lpstr>クラスタリングのイメージ</vt:lpstr>
      <vt:lpstr>クラスタリングの流れ</vt:lpstr>
      <vt:lpstr>Word Embeddingアルゴリズムの種類</vt:lpstr>
      <vt:lpstr>Word Embeddingアルゴリズムの代表アルゴリズム</vt:lpstr>
      <vt:lpstr>クラスタリングアルゴリズムの種類と代表アルゴリズム</vt:lpstr>
      <vt:lpstr>研究内容の全体像</vt:lpstr>
      <vt:lpstr>検証データ</vt:lpstr>
      <vt:lpstr>研究内容の全体像　前処理</vt:lpstr>
      <vt:lpstr>研究①</vt:lpstr>
      <vt:lpstr>研究①　Word Embeddingアルゴリズム</vt:lpstr>
      <vt:lpstr>研究①　Word Embeddingアルゴリズム　検証方法　</vt:lpstr>
      <vt:lpstr>研究①　Word Embeddingアルゴリズム　検証方法　</vt:lpstr>
      <vt:lpstr>研究②</vt:lpstr>
      <vt:lpstr>研究②　クラスタリングアルゴリズム</vt:lpstr>
      <vt:lpstr>研究②　クラスタリングアルゴリズム　検証方法　パターンA</vt:lpstr>
      <vt:lpstr>研究②　クラスタリングアルゴリズム　検証方法　パターンB　</vt:lpstr>
      <vt:lpstr>研究②　クラスタリングアルゴリズム　検証方法　パターンC</vt:lpstr>
      <vt:lpstr>質問事項　検証データと前処理</vt:lpstr>
      <vt:lpstr>質問事項　評価方法</vt:lpstr>
      <vt:lpstr>質問事項　研究①　Word Embeddingアルゴリズム</vt:lpstr>
      <vt:lpstr>質問事項　研究②　クラスタリングアルゴリズム</vt:lpstr>
      <vt:lpstr>まとめ</vt:lpstr>
      <vt:lpstr>研究①　Word Embeddingアルゴリズム　結論　</vt:lpstr>
      <vt:lpstr>研究②　クラスタリングアルゴリズム　結論</vt:lpstr>
      <vt:lpstr>まとめ</vt:lpstr>
      <vt:lpstr>今後の展望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クラスタリング 研究</dc:title>
  <dc:creator>辻元 宏則</dc:creator>
  <cp:lastModifiedBy>辻元 宏則</cp:lastModifiedBy>
  <cp:revision>533</cp:revision>
  <dcterms:created xsi:type="dcterms:W3CDTF">2020-06-29T22:58:53Z</dcterms:created>
  <dcterms:modified xsi:type="dcterms:W3CDTF">2020-08-24T04:39:51Z</dcterms:modified>
</cp:coreProperties>
</file>