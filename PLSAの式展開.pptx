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1" r:id="rId3"/>
    <p:sldId id="267" r:id="rId4"/>
    <p:sldId id="277" r:id="rId5"/>
    <p:sldId id="275" r:id="rId6"/>
    <p:sldId id="276" r:id="rId7"/>
    <p:sldId id="263" r:id="rId8"/>
    <p:sldId id="268" r:id="rId9"/>
    <p:sldId id="273" r:id="rId10"/>
    <p:sldId id="284" r:id="rId11"/>
    <p:sldId id="270" r:id="rId12"/>
    <p:sldId id="274" r:id="rId13"/>
    <p:sldId id="271" r:id="rId14"/>
    <p:sldId id="272" r:id="rId15"/>
    <p:sldId id="283" r:id="rId16"/>
    <p:sldId id="281" r:id="rId17"/>
    <p:sldId id="282" r:id="rId18"/>
    <p:sldId id="262" r:id="rId19"/>
    <p:sldId id="279" r:id="rId20"/>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825" autoAdjust="0"/>
  </p:normalViewPr>
  <p:slideViewPr>
    <p:cSldViewPr snapToGrid="0" showGuides="1">
      <p:cViewPr varScale="1">
        <p:scale>
          <a:sx n="80" d="100"/>
          <a:sy n="80" d="100"/>
        </p:scale>
        <p:origin x="906" y="90"/>
      </p:cViewPr>
      <p:guideLst>
        <p:guide orient="horz" pos="2160"/>
        <p:guide pos="3120"/>
      </p:guideLst>
    </p:cSldViewPr>
  </p:slideViewPr>
  <p:outlineViewPr>
    <p:cViewPr>
      <p:scale>
        <a:sx n="33" d="100"/>
        <a:sy n="33" d="100"/>
      </p:scale>
      <p:origin x="0" y="-11016"/>
    </p:cViewPr>
  </p:outlineViewPr>
  <p:notesTextViewPr>
    <p:cViewPr>
      <p:scale>
        <a:sx n="1" d="1"/>
        <a:sy n="1" d="1"/>
      </p:scale>
      <p:origin x="0" y="0"/>
    </p:cViewPr>
  </p:notesTextViewPr>
  <p:sorterViewPr>
    <p:cViewPr>
      <p:scale>
        <a:sx n="100" d="100"/>
        <a:sy n="100" d="100"/>
      </p:scale>
      <p:origin x="0" y="-76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12093-CE84-4574-A188-88E74E7FBA28}" type="datetimeFigureOut">
              <a:rPr kumimoji="1" lang="ja-JP" altLang="en-US" smtClean="0"/>
              <a:t>2021/2/16</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4E469-A586-4583-ABFC-53AC3298DB6A}" type="slidenum">
              <a:rPr kumimoji="1" lang="ja-JP" altLang="en-US" smtClean="0"/>
              <a:t>‹#›</a:t>
            </a:fld>
            <a:endParaRPr kumimoji="1" lang="ja-JP" altLang="en-US"/>
          </a:p>
        </p:txBody>
      </p:sp>
    </p:spTree>
    <p:extLst>
      <p:ext uri="{BB962C8B-B14F-4D97-AF65-F5344CB8AC3E}">
        <p14:creationId xmlns:p14="http://schemas.microsoft.com/office/powerpoint/2010/main" val="693375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BCBB37-038E-4002-A996-0175BC97F9ED}"/>
              </a:ext>
            </a:extLst>
          </p:cNvPr>
          <p:cNvSpPr>
            <a:spLocks noGrp="1"/>
          </p:cNvSpPr>
          <p:nvPr>
            <p:ph type="ctrTitle"/>
          </p:nvPr>
        </p:nvSpPr>
        <p:spPr>
          <a:xfrm>
            <a:off x="1238250" y="1122363"/>
            <a:ext cx="7429500" cy="2387600"/>
          </a:xfrm>
          <a:prstGeom prst="rect">
            <a:avLst/>
          </a:prstGeom>
        </p:spPr>
        <p:txBody>
          <a:bodyPr lIns="72000" tIns="72000" rIns="72000" bIns="72000" anchor="b"/>
          <a:lstStyle>
            <a:lvl1pPr algn="ctr">
              <a:defRPr sz="60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4D6FA23-D026-4A1F-8084-9521279E136B}"/>
              </a:ext>
            </a:extLst>
          </p:cNvPr>
          <p:cNvSpPr>
            <a:spLocks noGrp="1"/>
          </p:cNvSpPr>
          <p:nvPr>
            <p:ph type="subTitle" idx="1"/>
          </p:nvPr>
        </p:nvSpPr>
        <p:spPr>
          <a:xfrm>
            <a:off x="1238250" y="3602038"/>
            <a:ext cx="7429500" cy="1655762"/>
          </a:xfrm>
          <a:prstGeom prst="rect">
            <a:avLst/>
          </a:prstGeom>
        </p:spPr>
        <p:txBody>
          <a:bodyPr lIns="72000" tIns="72000" rIns="72000" bIns="72000"/>
          <a:lstStyle>
            <a:lvl1pPr marL="0" indent="0" algn="ctr">
              <a:buNone/>
              <a:defRPr sz="24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6C8FD11-F1B5-4491-86B5-273D8279990B}"/>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E3887E71-5CC5-4C8F-B01E-A0F0FA1F8195}" type="datetimeFigureOut">
              <a:rPr lang="ja-JP" altLang="en-US" smtClean="0"/>
              <a:pPr/>
              <a:t>2021/2/16</a:t>
            </a:fld>
            <a:endParaRPr lang="ja-JP" altLang="en-US"/>
          </a:p>
        </p:txBody>
      </p:sp>
      <p:sp>
        <p:nvSpPr>
          <p:cNvPr id="5" name="フッター プレースホルダー 4">
            <a:extLst>
              <a:ext uri="{FF2B5EF4-FFF2-40B4-BE49-F238E27FC236}">
                <a16:creationId xmlns:a16="http://schemas.microsoft.com/office/drawing/2014/main" id="{540E370D-FA07-4C1D-A1F7-425EFDF4B48F}"/>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8EB8D1C9-509C-4858-B78F-DE14BC5DC7C3}"/>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0364733E-1588-43FF-9381-F74789D35DF4}" type="slidenum">
              <a:rPr lang="ja-JP" altLang="en-US" smtClean="0"/>
              <a:pPr/>
              <a:t>‹#›</a:t>
            </a:fld>
            <a:endParaRPr lang="ja-JP" altLang="en-US"/>
          </a:p>
        </p:txBody>
      </p:sp>
    </p:spTree>
    <p:extLst>
      <p:ext uri="{BB962C8B-B14F-4D97-AF65-F5344CB8AC3E}">
        <p14:creationId xmlns:p14="http://schemas.microsoft.com/office/powerpoint/2010/main" val="382500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B397F1-17A3-4ACC-B999-F7C143420A41}"/>
              </a:ext>
            </a:extLst>
          </p:cNvPr>
          <p:cNvSpPr>
            <a:spLocks noGrp="1"/>
          </p:cNvSpPr>
          <p:nvPr>
            <p:ph type="title"/>
          </p:nvPr>
        </p:nvSpPr>
        <p:spPr>
          <a:xfrm>
            <a:off x="540000" y="180000"/>
            <a:ext cx="9180000" cy="1080000"/>
          </a:xfrm>
          <a:prstGeom prst="rect">
            <a:avLst/>
          </a:prstGeom>
        </p:spPr>
        <p:txBody>
          <a:bodyPr lIns="72000" tIns="72000" rIns="72000" bIns="72000" anchor="ctr">
            <a:noAutofit/>
          </a:bodyPr>
          <a:lstStyle>
            <a:lvl1pPr>
              <a:defRPr sz="3600">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477907-1134-47EE-BC8A-5205DA5E5AFD}"/>
              </a:ext>
            </a:extLst>
          </p:cNvPr>
          <p:cNvSpPr>
            <a:spLocks noGrp="1"/>
          </p:cNvSpPr>
          <p:nvPr>
            <p:ph idx="1" hasCustomPrompt="1"/>
          </p:nvPr>
        </p:nvSpPr>
        <p:spPr>
          <a:xfrm>
            <a:off x="540000" y="1080000"/>
            <a:ext cx="9180000" cy="748763"/>
          </a:xfrm>
          <a:prstGeom prst="rect">
            <a:avLst/>
          </a:prstGeom>
        </p:spPr>
        <p:txBody>
          <a:bodyPr lIns="72000" tIns="72000" rIns="72000" bIns="72000">
            <a:noAutofit/>
          </a:bodyPr>
          <a:lstStyle>
            <a:lvl1pPr marL="0" indent="0">
              <a:spcBef>
                <a:spcPts val="0"/>
              </a:spcBef>
              <a:buNone/>
              <a:defRPr sz="2000" b="1">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dirty="0"/>
              <a:t>キーメッセージ</a:t>
            </a:r>
            <a:endParaRPr kumimoji="1" lang="en-US" altLang="ja-JP" dirty="0"/>
          </a:p>
        </p:txBody>
      </p:sp>
      <p:sp>
        <p:nvSpPr>
          <p:cNvPr id="4" name="日付プレースホルダー 3">
            <a:extLst>
              <a:ext uri="{FF2B5EF4-FFF2-40B4-BE49-F238E27FC236}">
                <a16:creationId xmlns:a16="http://schemas.microsoft.com/office/drawing/2014/main" id="{CAD34CD4-2484-410B-965C-874EE388E064}"/>
              </a:ext>
            </a:extLst>
          </p:cNvPr>
          <p:cNvSpPr>
            <a:spLocks noGrp="1"/>
          </p:cNvSpPr>
          <p:nvPr>
            <p:ph type="dt" sz="half" idx="10"/>
          </p:nvPr>
        </p:nvSpPr>
        <p:spPr/>
        <p:txBody>
          <a:bodyPr/>
          <a:lstStyle>
            <a:lvl1pPr>
              <a:defRPr>
                <a:latin typeface="Meiryo UI" panose="020B0604030504040204" pitchFamily="50" charset="-128"/>
                <a:ea typeface="Meiryo UI" panose="020B0604030504040204" pitchFamily="50" charset="-128"/>
              </a:defRPr>
            </a:lvl1pPr>
          </a:lstStyle>
          <a:p>
            <a:fld id="{E3887E71-5CC5-4C8F-B01E-A0F0FA1F8195}" type="datetimeFigureOut">
              <a:rPr lang="ja-JP" altLang="en-US" smtClean="0"/>
              <a:pPr/>
              <a:t>2021/2/16</a:t>
            </a:fld>
            <a:endParaRPr lang="ja-JP" altLang="en-US"/>
          </a:p>
        </p:txBody>
      </p:sp>
      <p:sp>
        <p:nvSpPr>
          <p:cNvPr id="5" name="フッター プレースホルダー 4">
            <a:extLst>
              <a:ext uri="{FF2B5EF4-FFF2-40B4-BE49-F238E27FC236}">
                <a16:creationId xmlns:a16="http://schemas.microsoft.com/office/drawing/2014/main" id="{6BA7A1F7-12FD-4936-A7D1-18F43FE54606}"/>
              </a:ext>
            </a:extLst>
          </p:cNvPr>
          <p:cNvSpPr>
            <a:spLocks noGrp="1"/>
          </p:cNvSpPr>
          <p:nvPr>
            <p:ph type="ftr" sz="quarter" idx="11"/>
          </p:nvPr>
        </p:nvSpPr>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C191A7B0-8313-475E-B9A1-2347A4F0300E}"/>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0364733E-1588-43FF-9381-F74789D35DF4}" type="slidenum">
              <a:rPr lang="ja-JP" altLang="en-US" smtClean="0"/>
              <a:pPr/>
              <a:t>‹#›</a:t>
            </a:fld>
            <a:endParaRPr lang="ja-JP" altLang="en-US"/>
          </a:p>
        </p:txBody>
      </p:sp>
    </p:spTree>
    <p:extLst>
      <p:ext uri="{BB962C8B-B14F-4D97-AF65-F5344CB8AC3E}">
        <p14:creationId xmlns:p14="http://schemas.microsoft.com/office/powerpoint/2010/main" val="1977963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最終ページ 1">
    <p:spTree>
      <p:nvGrpSpPr>
        <p:cNvPr id="1" name=""/>
        <p:cNvGrpSpPr/>
        <p:nvPr/>
      </p:nvGrpSpPr>
      <p:grpSpPr>
        <a:xfrm>
          <a:off x="0" y="0"/>
          <a:ext cx="0" cy="0"/>
          <a:chOff x="0" y="0"/>
          <a:chExt cx="0" cy="0"/>
        </a:xfrm>
      </p:grpSpPr>
      <p:sp>
        <p:nvSpPr>
          <p:cNvPr id="6" name="フッター プレースホルダー 5"/>
          <p:cNvSpPr>
            <a:spLocks noGrp="1"/>
          </p:cNvSpPr>
          <p:nvPr>
            <p:ph type="ftr" sz="quarter" idx="10"/>
          </p:nvPr>
        </p:nvSpPr>
        <p:spPr/>
        <p:txBody>
          <a:bodyPr/>
          <a:lstStyle>
            <a:lvl1pPr>
              <a:defRPr/>
            </a:lvl1pPr>
          </a:lstStyle>
          <a:p>
            <a:r>
              <a:rPr lang="en-US" altLang="ja-JP" dirty="0"/>
              <a:t>Copyright© 2020</a:t>
            </a:r>
            <a:r>
              <a:rPr lang="ja-JP" altLang="en-US" dirty="0"/>
              <a:t>　</a:t>
            </a:r>
            <a:r>
              <a:rPr lang="en-US" altLang="ja-JP" dirty="0"/>
              <a:t>TSUZUKI DENKI </a:t>
            </a:r>
            <a:r>
              <a:rPr lang="en-US" altLang="ja-JP" dirty="0" err="1"/>
              <a:t>Co.,Ltd</a:t>
            </a:r>
            <a:r>
              <a:rPr lang="en-US" altLang="ja-JP" dirty="0"/>
              <a:t>.</a:t>
            </a:r>
            <a:endParaRPr lang="ja-JP" altLang="en-US" dirty="0"/>
          </a:p>
        </p:txBody>
      </p:sp>
      <p:pic>
        <p:nvPicPr>
          <p:cNvPr id="4" name="図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16498" y="2763000"/>
            <a:ext cx="3273009" cy="972000"/>
          </a:xfrm>
          <a:prstGeom prst="rect">
            <a:avLst/>
          </a:prstGeom>
        </p:spPr>
      </p:pic>
    </p:spTree>
    <p:extLst>
      <p:ext uri="{BB962C8B-B14F-4D97-AF65-F5344CB8AC3E}">
        <p14:creationId xmlns:p14="http://schemas.microsoft.com/office/powerpoint/2010/main" val="32779871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050DF9CE-A5F1-45F1-9F09-E4E25E1B1CE9}"/>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1200">
                <a:solidFill>
                  <a:schemeClr val="tx1">
                    <a:tint val="75000"/>
                  </a:schemeClr>
                </a:solidFill>
                <a:latin typeface="Meiryo UI" panose="020B0604030504040204" pitchFamily="50" charset="-128"/>
                <a:ea typeface="Meiryo UI" panose="020B0604030504040204" pitchFamily="50" charset="-128"/>
              </a:defRPr>
            </a:lvl1pPr>
          </a:lstStyle>
          <a:p>
            <a:fld id="{E3887E71-5CC5-4C8F-B01E-A0F0FA1F8195}" type="datetimeFigureOut">
              <a:rPr lang="ja-JP" altLang="en-US" smtClean="0"/>
              <a:pPr/>
              <a:t>2021/2/16</a:t>
            </a:fld>
            <a:endParaRPr lang="ja-JP" altLang="en-US"/>
          </a:p>
        </p:txBody>
      </p:sp>
      <p:sp>
        <p:nvSpPr>
          <p:cNvPr id="5" name="フッター プレースホルダー 4">
            <a:extLst>
              <a:ext uri="{FF2B5EF4-FFF2-40B4-BE49-F238E27FC236}">
                <a16:creationId xmlns:a16="http://schemas.microsoft.com/office/drawing/2014/main" id="{5429D3BC-3E75-4E56-91F1-630C97C56A43}"/>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1200">
                <a:solidFill>
                  <a:schemeClr val="tx1">
                    <a:tint val="75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CDB3E57-F71A-4444-9BE0-7044B0E82DA9}"/>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1200">
                <a:solidFill>
                  <a:schemeClr val="tx1">
                    <a:tint val="75000"/>
                  </a:schemeClr>
                </a:solidFill>
                <a:latin typeface="Meiryo UI" panose="020B0604030504040204" pitchFamily="50" charset="-128"/>
                <a:ea typeface="Meiryo UI" panose="020B0604030504040204" pitchFamily="50" charset="-128"/>
              </a:defRPr>
            </a:lvl1pPr>
          </a:lstStyle>
          <a:p>
            <a:fld id="{0364733E-1588-43FF-9381-F74789D35DF4}" type="slidenum">
              <a:rPr lang="ja-JP" altLang="en-US" smtClean="0"/>
              <a:pPr/>
              <a:t>‹#›</a:t>
            </a:fld>
            <a:endParaRPr lang="ja-JP" altLang="en-US"/>
          </a:p>
        </p:txBody>
      </p:sp>
    </p:spTree>
    <p:extLst>
      <p:ext uri="{BB962C8B-B14F-4D97-AF65-F5344CB8AC3E}">
        <p14:creationId xmlns:p14="http://schemas.microsoft.com/office/powerpoint/2010/main" val="667169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athtrain.jp/mlm"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0C7052-02AB-43D9-A3C4-A730D2DFE6BE}"/>
              </a:ext>
            </a:extLst>
          </p:cNvPr>
          <p:cNvSpPr>
            <a:spLocks noGrp="1"/>
          </p:cNvSpPr>
          <p:nvPr>
            <p:ph type="ctrTitle"/>
          </p:nvPr>
        </p:nvSpPr>
        <p:spPr/>
        <p:txBody>
          <a:bodyPr/>
          <a:lstStyle/>
          <a:p>
            <a:r>
              <a:rPr kumimoji="1" lang="en-US" altLang="ja-JP" dirty="0"/>
              <a:t>PLSA</a:t>
            </a:r>
            <a:endParaRPr kumimoji="1" lang="ja-JP" altLang="en-US" dirty="0"/>
          </a:p>
        </p:txBody>
      </p:sp>
      <p:sp>
        <p:nvSpPr>
          <p:cNvPr id="3" name="字幕 2">
            <a:extLst>
              <a:ext uri="{FF2B5EF4-FFF2-40B4-BE49-F238E27FC236}">
                <a16:creationId xmlns:a16="http://schemas.microsoft.com/office/drawing/2014/main" id="{2417AB78-D9D8-47C1-885A-AB38F480890C}"/>
              </a:ext>
            </a:extLst>
          </p:cNvPr>
          <p:cNvSpPr>
            <a:spLocks noGrp="1"/>
          </p:cNvSpPr>
          <p:nvPr>
            <p:ph type="subTitle" idx="1"/>
          </p:nvPr>
        </p:nvSpPr>
        <p:spPr/>
        <p:txBody>
          <a:bodyPr/>
          <a:lstStyle/>
          <a:p>
            <a:r>
              <a:rPr kumimoji="1" lang="en-US" altLang="ja-JP" dirty="0"/>
              <a:t>AI</a:t>
            </a:r>
            <a:r>
              <a:rPr kumimoji="1" lang="ja-JP" altLang="en-US" dirty="0"/>
              <a:t>勉強会　第</a:t>
            </a:r>
            <a:r>
              <a:rPr kumimoji="1" lang="en-US" altLang="ja-JP" dirty="0"/>
              <a:t>1</a:t>
            </a:r>
            <a:r>
              <a:rPr kumimoji="1" lang="ja-JP" altLang="en-US" dirty="0"/>
              <a:t>回目 </a:t>
            </a:r>
            <a:endParaRPr kumimoji="1" lang="en-US" altLang="ja-JP" dirty="0"/>
          </a:p>
          <a:p>
            <a:r>
              <a:rPr kumimoji="1" lang="en-US" altLang="ja-JP" dirty="0"/>
              <a:t>2020/07/07</a:t>
            </a:r>
            <a:r>
              <a:rPr kumimoji="1" lang="ja-JP" altLang="en-US" dirty="0"/>
              <a:t>（</a:t>
            </a:r>
            <a:r>
              <a:rPr lang="ja-JP" altLang="en-US" dirty="0"/>
              <a:t>火</a:t>
            </a:r>
            <a:r>
              <a:rPr kumimoji="1" lang="ja-JP" altLang="en-US" dirty="0"/>
              <a:t>）　</a:t>
            </a:r>
            <a:r>
              <a:rPr kumimoji="1" lang="en-US" altLang="ja-JP" dirty="0"/>
              <a:t>20:00</a:t>
            </a:r>
            <a:r>
              <a:rPr kumimoji="1" lang="ja-JP" altLang="en-US" dirty="0"/>
              <a:t>～</a:t>
            </a:r>
          </a:p>
        </p:txBody>
      </p:sp>
    </p:spTree>
    <p:extLst>
      <p:ext uri="{BB962C8B-B14F-4D97-AF65-F5344CB8AC3E}">
        <p14:creationId xmlns:p14="http://schemas.microsoft.com/office/powerpoint/2010/main" val="3377040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04B49C-C7E7-4320-9229-342F7F57FF6D}"/>
              </a:ext>
            </a:extLst>
          </p:cNvPr>
          <p:cNvSpPr>
            <a:spLocks noGrp="1"/>
          </p:cNvSpPr>
          <p:nvPr>
            <p:ph type="title"/>
          </p:nvPr>
        </p:nvSpPr>
        <p:spPr/>
        <p:txBody>
          <a:bodyPr/>
          <a:lstStyle/>
          <a:p>
            <a:r>
              <a:rPr kumimoji="1" lang="en-US" altLang="ja-JP" dirty="0"/>
              <a:t>PLSA</a:t>
            </a:r>
            <a:r>
              <a:rPr kumimoji="1" lang="ja-JP" altLang="en-US" dirty="0"/>
              <a:t>の理論</a:t>
            </a:r>
          </a:p>
        </p:txBody>
      </p:sp>
      <p:sp>
        <p:nvSpPr>
          <p:cNvPr id="3" name="コンテンツ プレースホルダー 2">
            <a:extLst>
              <a:ext uri="{FF2B5EF4-FFF2-40B4-BE49-F238E27FC236}">
                <a16:creationId xmlns:a16="http://schemas.microsoft.com/office/drawing/2014/main" id="{5B23C571-FDFC-45D1-B58E-4A5D8ABAFD1C}"/>
              </a:ext>
            </a:extLst>
          </p:cNvPr>
          <p:cNvSpPr>
            <a:spLocks noGrp="1"/>
          </p:cNvSpPr>
          <p:nvPr>
            <p:ph idx="1"/>
          </p:nvPr>
        </p:nvSpPr>
        <p:spPr>
          <a:xfrm>
            <a:off x="539998" y="1080000"/>
            <a:ext cx="9360000" cy="748763"/>
          </a:xfrm>
        </p:spPr>
        <p:txBody>
          <a:bodyPr/>
          <a:lstStyle/>
          <a:p>
            <a:r>
              <a:rPr kumimoji="1" lang="en-US" altLang="ja-JP" b="1" dirty="0"/>
              <a:t>PLSA</a:t>
            </a:r>
            <a:r>
              <a:rPr kumimoji="1" lang="ja-JP" altLang="en-US" b="1" dirty="0"/>
              <a:t>は</a:t>
            </a:r>
            <a:r>
              <a:rPr kumimoji="1" lang="en-US" altLang="ja-JP" b="1" dirty="0"/>
              <a:t>EM</a:t>
            </a:r>
            <a:r>
              <a:rPr kumimoji="1" lang="ja-JP" altLang="en-US" b="1" dirty="0"/>
              <a:t>アルゴリズムを使用して、データ</a:t>
            </a:r>
            <a:r>
              <a:rPr lang="ja-JP" altLang="en-US" b="1" dirty="0"/>
              <a:t>から潜在クラスタ</a:t>
            </a:r>
            <a:r>
              <a:rPr kumimoji="1" lang="ja-JP" altLang="en-US" b="1" dirty="0"/>
              <a:t>を推定し、分布を推定します。</a:t>
            </a:r>
          </a:p>
        </p:txBody>
      </p:sp>
      <p:sp>
        <p:nvSpPr>
          <p:cNvPr id="5" name="正方形/長方形 4">
            <a:extLst>
              <a:ext uri="{FF2B5EF4-FFF2-40B4-BE49-F238E27FC236}">
                <a16:creationId xmlns:a16="http://schemas.microsoft.com/office/drawing/2014/main" id="{F2CEB55E-DA18-4DD0-9E7B-B8F2A52A4E1E}"/>
              </a:ext>
            </a:extLst>
          </p:cNvPr>
          <p:cNvSpPr/>
          <p:nvPr/>
        </p:nvSpPr>
        <p:spPr>
          <a:xfrm>
            <a:off x="540000" y="4974360"/>
            <a:ext cx="9360000" cy="1200329"/>
          </a:xfrm>
          <a:prstGeom prst="rect">
            <a:avLst/>
          </a:prstGeom>
        </p:spPr>
        <p:txBody>
          <a:bodyPr wrap="square">
            <a:spAutoFit/>
          </a:bodyPr>
          <a:lstStyle/>
          <a:p>
            <a:r>
              <a:rPr lang="en-US" altLang="ja-JP" b="0" i="0" dirty="0">
                <a:effectLst/>
                <a:latin typeface="Meiryo UI" panose="020B0604030504040204" pitchFamily="50" charset="-128"/>
                <a:ea typeface="Meiryo UI" panose="020B0604030504040204" pitchFamily="50" charset="-128"/>
              </a:rPr>
              <a:t>PLSA</a:t>
            </a:r>
            <a:r>
              <a:rPr lang="ja-JP" altLang="en-US" b="0" i="0" dirty="0">
                <a:effectLst/>
                <a:latin typeface="Meiryo UI" panose="020B0604030504040204" pitchFamily="50" charset="-128"/>
                <a:ea typeface="Meiryo UI" panose="020B0604030504040204" pitchFamily="50" charset="-128"/>
              </a:rPr>
              <a:t>は、行のデータ</a:t>
            </a:r>
            <a:r>
              <a:rPr lang="en-US" altLang="ja-JP" b="0" i="0" dirty="0">
                <a:effectLst/>
                <a:latin typeface="Cambria Math" panose="02040503050406030204" pitchFamily="18" charset="0"/>
                <a:ea typeface="Cambria Math" panose="02040503050406030204" pitchFamily="18" charset="0"/>
              </a:rPr>
              <a:t>x</a:t>
            </a:r>
            <a:r>
              <a:rPr lang="ja-JP" altLang="en-US" b="0" i="0" dirty="0">
                <a:effectLst/>
                <a:latin typeface="Meiryo UI" panose="020B0604030504040204" pitchFamily="50" charset="-128"/>
                <a:ea typeface="Meiryo UI" panose="020B0604030504040204" pitchFamily="50" charset="-128"/>
              </a:rPr>
              <a:t>と列のデータ</a:t>
            </a:r>
            <a:r>
              <a:rPr lang="en-US" altLang="ja-JP" b="0" i="0" dirty="0">
                <a:effectLst/>
                <a:latin typeface="Cambria Math" panose="02040503050406030204" pitchFamily="18" charset="0"/>
                <a:ea typeface="Cambria Math" panose="02040503050406030204" pitchFamily="18" charset="0"/>
              </a:rPr>
              <a:t>y</a:t>
            </a:r>
            <a:r>
              <a:rPr lang="ja-JP" altLang="en-US" b="0" i="0" dirty="0">
                <a:effectLst/>
                <a:latin typeface="Meiryo UI" panose="020B0604030504040204" pitchFamily="50" charset="-128"/>
                <a:ea typeface="Meiryo UI" panose="020B0604030504040204" pitchFamily="50" charset="-128"/>
              </a:rPr>
              <a:t>の背後には、共通する特徴となる潜在クラスタ</a:t>
            </a:r>
            <a:r>
              <a:rPr lang="en-US" altLang="ja-JP" b="0" i="0" dirty="0">
                <a:effectLst/>
                <a:latin typeface="Cambria Math" panose="02040503050406030204" pitchFamily="18" charset="0"/>
                <a:ea typeface="Cambria Math" panose="02040503050406030204" pitchFamily="18" charset="0"/>
              </a:rPr>
              <a:t>z</a:t>
            </a:r>
            <a:r>
              <a:rPr lang="ja-JP" altLang="en-US" b="0" i="0" dirty="0">
                <a:effectLst/>
                <a:latin typeface="Meiryo UI" panose="020B0604030504040204" pitchFamily="50" charset="-128"/>
                <a:ea typeface="Meiryo UI" panose="020B0604030504040204" pitchFamily="50" charset="-128"/>
              </a:rPr>
              <a:t>があると想定し、この潜在クラスタを確率的に計算します</a:t>
            </a:r>
            <a:endParaRPr lang="en-US" altLang="ja-JP" b="0" i="0" dirty="0">
              <a:effectLst/>
              <a:latin typeface="Meiryo UI" panose="020B0604030504040204" pitchFamily="50" charset="-128"/>
              <a:ea typeface="Meiryo UI" panose="020B0604030504040204" pitchFamily="50" charset="-128"/>
            </a:endParaRPr>
          </a:p>
          <a:p>
            <a:r>
              <a:rPr lang="ja-JP" altLang="en-US" b="0" i="0" dirty="0">
                <a:effectLst/>
                <a:latin typeface="Meiryo UI" panose="020B0604030504040204" pitchFamily="50" charset="-128"/>
                <a:ea typeface="Meiryo UI" panose="020B0604030504040204" pitchFamily="50" charset="-128"/>
              </a:rPr>
              <a:t>具体的には</a:t>
            </a:r>
            <a:r>
              <a:rPr lang="en-US" altLang="ja-JP" b="0" i="0" dirty="0">
                <a:effectLst/>
                <a:latin typeface="Cambria Math" panose="02040503050406030204" pitchFamily="18" charset="0"/>
                <a:ea typeface="Cambria Math" panose="02040503050406030204" pitchFamily="18" charset="0"/>
              </a:rPr>
              <a:t>x</a:t>
            </a:r>
            <a:r>
              <a:rPr lang="ja-JP" altLang="en-US" b="0" i="0" dirty="0">
                <a:effectLst/>
                <a:latin typeface="Meiryo UI" panose="020B0604030504040204" pitchFamily="50" charset="-128"/>
                <a:ea typeface="Meiryo UI" panose="020B0604030504040204" pitchFamily="50" charset="-128"/>
              </a:rPr>
              <a:t>と</a:t>
            </a:r>
            <a:r>
              <a:rPr lang="en-US" altLang="ja-JP" b="0" i="0" dirty="0">
                <a:effectLst/>
                <a:latin typeface="Cambria Math" panose="02040503050406030204" pitchFamily="18" charset="0"/>
                <a:ea typeface="Cambria Math" panose="02040503050406030204" pitchFamily="18" charset="0"/>
              </a:rPr>
              <a:t>y</a:t>
            </a:r>
            <a:r>
              <a:rPr lang="ja-JP" altLang="en-US" b="0" i="0" dirty="0">
                <a:effectLst/>
                <a:latin typeface="Meiryo UI" panose="020B0604030504040204" pitchFamily="50" charset="-128"/>
                <a:ea typeface="Meiryo UI" panose="020B0604030504040204" pitchFamily="50" charset="-128"/>
              </a:rPr>
              <a:t>の共起確率</a:t>
            </a:r>
            <a:r>
              <a:rPr lang="en-US" altLang="ja-JP" b="0" i="0" dirty="0">
                <a:effectLst/>
                <a:latin typeface="Cambria Math" panose="02040503050406030204" pitchFamily="18" charset="0"/>
                <a:ea typeface="Cambria Math" panose="02040503050406030204" pitchFamily="18" charset="0"/>
              </a:rPr>
              <a:t>P(</a:t>
            </a:r>
            <a:r>
              <a:rPr lang="en-US" altLang="ja-JP" b="0" i="0" dirty="0" err="1">
                <a:effectLst/>
                <a:latin typeface="Cambria Math" panose="02040503050406030204" pitchFamily="18" charset="0"/>
                <a:ea typeface="Cambria Math" panose="02040503050406030204" pitchFamily="18" charset="0"/>
              </a:rPr>
              <a:t>x,y</a:t>
            </a:r>
            <a:r>
              <a:rPr lang="en-US" altLang="ja-JP" b="0" i="0" dirty="0">
                <a:effectLst/>
                <a:latin typeface="Cambria Math" panose="02040503050406030204" pitchFamily="18" charset="0"/>
                <a:ea typeface="Cambria Math" panose="02040503050406030204" pitchFamily="18" charset="0"/>
              </a:rPr>
              <a:t>)</a:t>
            </a:r>
            <a:r>
              <a:rPr lang="ja-JP" altLang="en-US" b="0" i="0" dirty="0">
                <a:effectLst/>
                <a:latin typeface="Meiryo UI" panose="020B0604030504040204" pitchFamily="50" charset="-128"/>
                <a:ea typeface="Meiryo UI" panose="020B0604030504040204" pitchFamily="50" charset="-128"/>
              </a:rPr>
              <a:t>を潜在クラスタ</a:t>
            </a:r>
            <a:r>
              <a:rPr lang="en-US" altLang="ja-JP" b="0" i="0" dirty="0">
                <a:effectLst/>
                <a:latin typeface="Meiryo UI" panose="020B0604030504040204" pitchFamily="50" charset="-128"/>
                <a:ea typeface="Meiryo UI" panose="020B0604030504040204" pitchFamily="50" charset="-128"/>
              </a:rPr>
              <a:t>z</a:t>
            </a:r>
            <a:r>
              <a:rPr lang="ja-JP" altLang="en-US" b="0" i="0" dirty="0">
                <a:effectLst/>
                <a:latin typeface="Meiryo UI" panose="020B0604030504040204" pitchFamily="50" charset="-128"/>
                <a:ea typeface="Meiryo UI" panose="020B0604030504040204" pitchFamily="50" charset="-128"/>
              </a:rPr>
              <a:t>を使って表現し、</a:t>
            </a:r>
            <a:r>
              <a:rPr lang="en-US" altLang="ja-JP" b="0" i="0" dirty="0">
                <a:effectLst/>
                <a:latin typeface="Meiryo UI" panose="020B0604030504040204" pitchFamily="50" charset="-128"/>
                <a:ea typeface="Meiryo UI" panose="020B0604030504040204" pitchFamily="50" charset="-128"/>
              </a:rPr>
              <a:t>3</a:t>
            </a:r>
            <a:r>
              <a:rPr lang="ja-JP" altLang="en-US" b="0" i="0" dirty="0">
                <a:effectLst/>
                <a:latin typeface="Meiryo UI" panose="020B0604030504040204" pitchFamily="50" charset="-128"/>
                <a:ea typeface="Meiryo UI" panose="020B0604030504040204" pitchFamily="50" charset="-128"/>
              </a:rPr>
              <a:t>種類の確率変数</a:t>
            </a:r>
            <a:r>
              <a:rPr lang="en-US" altLang="ja-JP" b="0" i="0" dirty="0">
                <a:effectLst/>
                <a:latin typeface="Cambria Math" panose="02040503050406030204" pitchFamily="18" charset="0"/>
                <a:ea typeface="Cambria Math" panose="02040503050406030204" pitchFamily="18" charset="0"/>
              </a:rPr>
              <a:t>P(</a:t>
            </a:r>
            <a:r>
              <a:rPr lang="en-US" altLang="ja-JP" b="0" i="0" dirty="0" err="1">
                <a:effectLst/>
                <a:latin typeface="Cambria Math" panose="02040503050406030204" pitchFamily="18" charset="0"/>
                <a:ea typeface="Cambria Math" panose="02040503050406030204" pitchFamily="18" charset="0"/>
              </a:rPr>
              <a:t>x|z</a:t>
            </a:r>
            <a:r>
              <a:rPr lang="en-US" altLang="ja-JP" b="0" i="0" dirty="0">
                <a:effectLst/>
                <a:latin typeface="Cambria Math" panose="02040503050406030204" pitchFamily="18" charset="0"/>
                <a:ea typeface="Cambria Math" panose="02040503050406030204" pitchFamily="18" charset="0"/>
              </a:rPr>
              <a:t>), P(</a:t>
            </a:r>
            <a:r>
              <a:rPr lang="en-US" altLang="ja-JP" b="0" i="0" dirty="0" err="1">
                <a:effectLst/>
                <a:latin typeface="Cambria Math" panose="02040503050406030204" pitchFamily="18" charset="0"/>
                <a:ea typeface="Cambria Math" panose="02040503050406030204" pitchFamily="18" charset="0"/>
              </a:rPr>
              <a:t>y|z</a:t>
            </a:r>
            <a:r>
              <a:rPr lang="en-US" altLang="ja-JP" b="0" i="0" dirty="0">
                <a:effectLst/>
                <a:latin typeface="Cambria Math" panose="02040503050406030204" pitchFamily="18" charset="0"/>
                <a:ea typeface="Cambria Math" panose="02040503050406030204" pitchFamily="18" charset="0"/>
              </a:rPr>
              <a:t>), P(z)</a:t>
            </a:r>
            <a:r>
              <a:rPr lang="ja-JP" altLang="en-US" b="0" i="0" dirty="0">
                <a:effectLst/>
                <a:latin typeface="Meiryo UI" panose="020B0604030504040204" pitchFamily="50" charset="-128"/>
                <a:ea typeface="Meiryo UI" panose="020B0604030504040204" pitchFamily="50" charset="-128"/>
              </a:rPr>
              <a:t>を計算します</a:t>
            </a:r>
            <a:endParaRPr lang="en-US" altLang="ja-JP" b="0" i="0" dirty="0">
              <a:effectLst/>
              <a:latin typeface="Meiryo UI" panose="020B0604030504040204" pitchFamily="50" charset="-128"/>
              <a:ea typeface="Meiryo UI" panose="020B0604030504040204" pitchFamily="50" charset="-128"/>
            </a:endParaRPr>
          </a:p>
        </p:txBody>
      </p:sp>
      <p:sp>
        <p:nvSpPr>
          <p:cNvPr id="9" name="フローチャート: 結合子 8">
            <a:extLst>
              <a:ext uri="{FF2B5EF4-FFF2-40B4-BE49-F238E27FC236}">
                <a16:creationId xmlns:a16="http://schemas.microsoft.com/office/drawing/2014/main" id="{749A8509-041E-4033-9C92-DFD95A134CA2}"/>
              </a:ext>
            </a:extLst>
          </p:cNvPr>
          <p:cNvSpPr>
            <a:spLocks noChangeAspect="1"/>
          </p:cNvSpPr>
          <p:nvPr/>
        </p:nvSpPr>
        <p:spPr>
          <a:xfrm>
            <a:off x="617598" y="2729052"/>
            <a:ext cx="1296000" cy="1296000"/>
          </a:xfrm>
          <a:prstGeom prst="flowChartConnector">
            <a:avLst/>
          </a:prstGeom>
          <a:noFill/>
          <a:ln w="31750">
            <a:solidFill>
              <a:schemeClr val="tx1"/>
            </a:solidFill>
          </a:ln>
        </p:spPr>
        <p:txBody>
          <a:bodyPr wrap="square" lIns="72000" tIns="72000" rIns="72000" bIns="72000" rtlCol="0" anchor="ctr">
            <a:noAutofit/>
          </a:bodyPr>
          <a:lstStyle/>
          <a:p>
            <a:pPr algn="ctr"/>
            <a:r>
              <a:rPr kumimoji="1" lang="ja-JP" altLang="en-US" dirty="0">
                <a:latin typeface="Meiryo UI" panose="020B0604030504040204" pitchFamily="50" charset="-128"/>
                <a:ea typeface="Meiryo UI" panose="020B0604030504040204" pitchFamily="50" charset="-128"/>
              </a:rPr>
              <a:t>潜在</a:t>
            </a:r>
            <a:endParaRPr kumimoji="1" lang="en-US" altLang="ja-JP" dirty="0">
              <a:latin typeface="Meiryo UI" panose="020B0604030504040204" pitchFamily="50" charset="-128"/>
              <a:ea typeface="Meiryo UI" panose="020B0604030504040204" pitchFamily="50" charset="-128"/>
            </a:endParaRPr>
          </a:p>
          <a:p>
            <a:pPr algn="ctr"/>
            <a:r>
              <a:rPr kumimoji="1" lang="ja-JP" altLang="en-US" dirty="0">
                <a:latin typeface="Meiryo UI" panose="020B0604030504040204" pitchFamily="50" charset="-128"/>
                <a:ea typeface="Meiryo UI" panose="020B0604030504040204" pitchFamily="50" charset="-128"/>
              </a:rPr>
              <a:t>クラスタ</a:t>
            </a:r>
            <a:r>
              <a:rPr lang="en-US" altLang="ja-JP" dirty="0">
                <a:latin typeface="Cambria Math" panose="02040503050406030204" pitchFamily="18" charset="0"/>
                <a:ea typeface="Cambria Math" panose="02040503050406030204" pitchFamily="18" charset="0"/>
              </a:rPr>
              <a:t>z</a:t>
            </a:r>
            <a:endParaRPr kumimoji="1" lang="ja-JP" altLang="en-US" dirty="0">
              <a:latin typeface="Cambria Math" panose="02040503050406030204" pitchFamily="18" charset="0"/>
              <a:ea typeface="Meiryo UI" panose="020B0604030504040204" pitchFamily="50" charset="-128"/>
            </a:endParaRPr>
          </a:p>
        </p:txBody>
      </p:sp>
      <p:sp>
        <p:nvSpPr>
          <p:cNvPr id="10" name="フローチャート: 結合子 9">
            <a:extLst>
              <a:ext uri="{FF2B5EF4-FFF2-40B4-BE49-F238E27FC236}">
                <a16:creationId xmlns:a16="http://schemas.microsoft.com/office/drawing/2014/main" id="{BBE30B64-B767-4A55-B28E-68874EFF3EC6}"/>
              </a:ext>
            </a:extLst>
          </p:cNvPr>
          <p:cNvSpPr>
            <a:spLocks noChangeAspect="1"/>
          </p:cNvSpPr>
          <p:nvPr/>
        </p:nvSpPr>
        <p:spPr>
          <a:xfrm>
            <a:off x="3226797" y="2008763"/>
            <a:ext cx="1296000" cy="1296000"/>
          </a:xfrm>
          <a:prstGeom prst="flowChartConnector">
            <a:avLst/>
          </a:prstGeom>
          <a:noFill/>
          <a:ln w="31750">
            <a:solidFill>
              <a:schemeClr val="tx1"/>
            </a:solidFill>
          </a:ln>
        </p:spPr>
        <p:txBody>
          <a:bodyPr wrap="square" lIns="72000" tIns="72000" rIns="72000" bIns="72000" rtlCol="0" anchor="ctr">
            <a:noAutofit/>
          </a:bodyPr>
          <a:lstStyle/>
          <a:p>
            <a:pPr algn="ctr"/>
            <a:r>
              <a:rPr kumimoji="1" lang="ja-JP" altLang="en-US" dirty="0">
                <a:latin typeface="Meiryo UI" panose="020B0604030504040204" pitchFamily="50" charset="-128"/>
                <a:ea typeface="Meiryo UI" panose="020B0604030504040204" pitchFamily="50" charset="-128"/>
              </a:rPr>
              <a:t>行のデータ</a:t>
            </a:r>
            <a:r>
              <a:rPr lang="en-US" altLang="ja-JP" dirty="0">
                <a:latin typeface="Cambria Math" panose="02040503050406030204" pitchFamily="18" charset="0"/>
                <a:ea typeface="Cambria Math" panose="02040503050406030204" pitchFamily="18" charset="0"/>
              </a:rPr>
              <a:t>x</a:t>
            </a:r>
            <a:endParaRPr kumimoji="1" lang="ja-JP" altLang="en-US" dirty="0">
              <a:latin typeface="Cambria Math" panose="02040503050406030204" pitchFamily="18" charset="0"/>
              <a:ea typeface="Meiryo UI" panose="020B0604030504040204" pitchFamily="50" charset="-128"/>
            </a:endParaRPr>
          </a:p>
        </p:txBody>
      </p:sp>
      <p:sp>
        <p:nvSpPr>
          <p:cNvPr id="11" name="フローチャート: 結合子 10">
            <a:extLst>
              <a:ext uri="{FF2B5EF4-FFF2-40B4-BE49-F238E27FC236}">
                <a16:creationId xmlns:a16="http://schemas.microsoft.com/office/drawing/2014/main" id="{E1980F65-D788-4C86-AF38-43D17217C13A}"/>
              </a:ext>
            </a:extLst>
          </p:cNvPr>
          <p:cNvSpPr>
            <a:spLocks noChangeAspect="1"/>
          </p:cNvSpPr>
          <p:nvPr/>
        </p:nvSpPr>
        <p:spPr>
          <a:xfrm>
            <a:off x="3226797" y="3449341"/>
            <a:ext cx="1296000" cy="1296000"/>
          </a:xfrm>
          <a:prstGeom prst="flowChartConnector">
            <a:avLst/>
          </a:prstGeom>
          <a:noFill/>
          <a:ln w="31750">
            <a:solidFill>
              <a:schemeClr val="tx1"/>
            </a:solidFill>
          </a:ln>
        </p:spPr>
        <p:txBody>
          <a:bodyPr wrap="square" lIns="72000" tIns="72000" rIns="72000" bIns="72000" rtlCol="0" anchor="ctr">
            <a:noAutofit/>
          </a:bodyPr>
          <a:lstStyle/>
          <a:p>
            <a:pPr algn="ctr"/>
            <a:r>
              <a:rPr lang="ja-JP" altLang="en-US" dirty="0">
                <a:latin typeface="Meiryo UI" panose="020B0604030504040204" pitchFamily="50" charset="-128"/>
                <a:ea typeface="Meiryo UI" panose="020B0604030504040204" pitchFamily="50" charset="-128"/>
              </a:rPr>
              <a:t>列</a:t>
            </a:r>
            <a:r>
              <a:rPr kumimoji="1" lang="ja-JP" altLang="en-US" dirty="0">
                <a:latin typeface="Meiryo UI" panose="020B0604030504040204" pitchFamily="50" charset="-128"/>
                <a:ea typeface="Meiryo UI" panose="020B0604030504040204" pitchFamily="50" charset="-128"/>
              </a:rPr>
              <a:t>のデータ</a:t>
            </a:r>
            <a:r>
              <a:rPr kumimoji="1" lang="en-US" altLang="ja-JP" dirty="0">
                <a:latin typeface="Cambria Math" panose="02040503050406030204" pitchFamily="18" charset="0"/>
                <a:ea typeface="Cambria Math" panose="02040503050406030204" pitchFamily="18" charset="0"/>
              </a:rPr>
              <a:t>y</a:t>
            </a:r>
            <a:endParaRPr kumimoji="1" lang="ja-JP" altLang="en-US" dirty="0">
              <a:latin typeface="Cambria Math" panose="02040503050406030204" pitchFamily="18" charset="0"/>
              <a:ea typeface="Meiryo UI" panose="020B0604030504040204" pitchFamily="50" charset="-128"/>
            </a:endParaRPr>
          </a:p>
        </p:txBody>
      </p:sp>
      <p:cxnSp>
        <p:nvCxnSpPr>
          <p:cNvPr id="13" name="コネクタ: カギ線 12">
            <a:extLst>
              <a:ext uri="{FF2B5EF4-FFF2-40B4-BE49-F238E27FC236}">
                <a16:creationId xmlns:a16="http://schemas.microsoft.com/office/drawing/2014/main" id="{5DCFD4C6-872D-467E-BBEE-22B1FEA8BC89}"/>
              </a:ext>
            </a:extLst>
          </p:cNvPr>
          <p:cNvCxnSpPr>
            <a:cxnSpLocks/>
            <a:stCxn id="9" idx="6"/>
            <a:endCxn id="10" idx="2"/>
          </p:cNvCxnSpPr>
          <p:nvPr/>
        </p:nvCxnSpPr>
        <p:spPr>
          <a:xfrm flipV="1">
            <a:off x="1913598" y="2656763"/>
            <a:ext cx="1313199" cy="720289"/>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コネクタ: カギ線 14">
            <a:extLst>
              <a:ext uri="{FF2B5EF4-FFF2-40B4-BE49-F238E27FC236}">
                <a16:creationId xmlns:a16="http://schemas.microsoft.com/office/drawing/2014/main" id="{8A7EF6C5-933C-4B8C-9AAA-B1FC7285DA4E}"/>
              </a:ext>
            </a:extLst>
          </p:cNvPr>
          <p:cNvCxnSpPr>
            <a:cxnSpLocks/>
            <a:stCxn id="9" idx="6"/>
            <a:endCxn id="11" idx="2"/>
          </p:cNvCxnSpPr>
          <p:nvPr/>
        </p:nvCxnSpPr>
        <p:spPr>
          <a:xfrm>
            <a:off x="1913598" y="3377052"/>
            <a:ext cx="1313199" cy="720289"/>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A9BD369A-CB6E-4E7B-8AE3-29E8009688E9}"/>
              </a:ext>
            </a:extLst>
          </p:cNvPr>
          <p:cNvSpPr txBox="1"/>
          <p:nvPr/>
        </p:nvSpPr>
        <p:spPr>
          <a:xfrm>
            <a:off x="997105" y="2340778"/>
            <a:ext cx="622286" cy="369332"/>
          </a:xfrm>
          <a:prstGeom prst="rect">
            <a:avLst/>
          </a:prstGeom>
          <a:noFill/>
        </p:spPr>
        <p:txBody>
          <a:bodyPr wrap="none" rtlCol="0">
            <a:spAutoFit/>
          </a:bodyPr>
          <a:lstStyle/>
          <a:p>
            <a:r>
              <a:rPr kumimoji="1" lang="en-US" altLang="ja-JP" b="1" dirty="0">
                <a:latin typeface="Cambria Math" panose="02040503050406030204" pitchFamily="18" charset="0"/>
                <a:ea typeface="Cambria Math" panose="02040503050406030204" pitchFamily="18" charset="0"/>
              </a:rPr>
              <a:t>P(z)</a:t>
            </a:r>
            <a:endParaRPr kumimoji="1" lang="ja-JP" altLang="en-US" b="1" dirty="0">
              <a:latin typeface="Cambria Math" panose="02040503050406030204" pitchFamily="18" charset="0"/>
            </a:endParaRPr>
          </a:p>
        </p:txBody>
      </p:sp>
      <p:sp>
        <p:nvSpPr>
          <p:cNvPr id="23" name="テキスト ボックス 22">
            <a:extLst>
              <a:ext uri="{FF2B5EF4-FFF2-40B4-BE49-F238E27FC236}">
                <a16:creationId xmlns:a16="http://schemas.microsoft.com/office/drawing/2014/main" id="{3B14FF3C-CF46-4ABA-B388-64B469E0E9C8}"/>
              </a:ext>
            </a:extLst>
          </p:cNvPr>
          <p:cNvSpPr txBox="1"/>
          <p:nvPr/>
        </p:nvSpPr>
        <p:spPr>
          <a:xfrm>
            <a:off x="2146797" y="2086343"/>
            <a:ext cx="785793" cy="369332"/>
          </a:xfrm>
          <a:prstGeom prst="rect">
            <a:avLst/>
          </a:prstGeom>
          <a:noFill/>
        </p:spPr>
        <p:txBody>
          <a:bodyPr wrap="none" rtlCol="0">
            <a:spAutoFit/>
          </a:bodyPr>
          <a:lstStyle/>
          <a:p>
            <a:r>
              <a:rPr kumimoji="1" lang="en-US" altLang="ja-JP" b="1" dirty="0">
                <a:latin typeface="Cambria Math" panose="02040503050406030204" pitchFamily="18" charset="0"/>
                <a:ea typeface="Cambria Math" panose="02040503050406030204" pitchFamily="18" charset="0"/>
              </a:rPr>
              <a:t>P(</a:t>
            </a:r>
            <a:r>
              <a:rPr kumimoji="1" lang="en-US" altLang="ja-JP" b="1" dirty="0" err="1">
                <a:latin typeface="Cambria Math" panose="02040503050406030204" pitchFamily="18" charset="0"/>
                <a:ea typeface="Cambria Math" panose="02040503050406030204" pitchFamily="18" charset="0"/>
              </a:rPr>
              <a:t>x|z</a:t>
            </a:r>
            <a:r>
              <a:rPr kumimoji="1" lang="en-US" altLang="ja-JP" b="1" dirty="0">
                <a:latin typeface="Cambria Math" panose="02040503050406030204" pitchFamily="18" charset="0"/>
                <a:ea typeface="Cambria Math" panose="02040503050406030204" pitchFamily="18" charset="0"/>
              </a:rPr>
              <a:t>)</a:t>
            </a:r>
            <a:endParaRPr kumimoji="1" lang="ja-JP" altLang="en-US" b="1" dirty="0">
              <a:latin typeface="Cambria Math" panose="02040503050406030204" pitchFamily="18" charset="0"/>
            </a:endParaRPr>
          </a:p>
        </p:txBody>
      </p:sp>
      <p:sp>
        <p:nvSpPr>
          <p:cNvPr id="24" name="テキスト ボックス 23">
            <a:extLst>
              <a:ext uri="{FF2B5EF4-FFF2-40B4-BE49-F238E27FC236}">
                <a16:creationId xmlns:a16="http://schemas.microsoft.com/office/drawing/2014/main" id="{965C6FBA-CA12-4701-9EBE-6CE1FB4A22D5}"/>
              </a:ext>
            </a:extLst>
          </p:cNvPr>
          <p:cNvSpPr txBox="1"/>
          <p:nvPr/>
        </p:nvSpPr>
        <p:spPr>
          <a:xfrm>
            <a:off x="2146797" y="4093027"/>
            <a:ext cx="790601" cy="369332"/>
          </a:xfrm>
          <a:prstGeom prst="rect">
            <a:avLst/>
          </a:prstGeom>
          <a:noFill/>
        </p:spPr>
        <p:txBody>
          <a:bodyPr wrap="none" rtlCol="0">
            <a:spAutoFit/>
          </a:bodyPr>
          <a:lstStyle/>
          <a:p>
            <a:r>
              <a:rPr kumimoji="1" lang="en-US" altLang="ja-JP" b="1" dirty="0">
                <a:latin typeface="Cambria Math" panose="02040503050406030204" pitchFamily="18" charset="0"/>
                <a:ea typeface="Cambria Math" panose="02040503050406030204" pitchFamily="18" charset="0"/>
              </a:rPr>
              <a:t>P(</a:t>
            </a:r>
            <a:r>
              <a:rPr lang="en-US" altLang="ja-JP" b="1" dirty="0" err="1">
                <a:latin typeface="Cambria Math" panose="02040503050406030204" pitchFamily="18" charset="0"/>
                <a:ea typeface="Cambria Math" panose="02040503050406030204" pitchFamily="18" charset="0"/>
              </a:rPr>
              <a:t>y</a:t>
            </a:r>
            <a:r>
              <a:rPr kumimoji="1" lang="en-US" altLang="ja-JP" b="1" dirty="0" err="1">
                <a:latin typeface="Cambria Math" panose="02040503050406030204" pitchFamily="18" charset="0"/>
                <a:ea typeface="Cambria Math" panose="02040503050406030204" pitchFamily="18" charset="0"/>
              </a:rPr>
              <a:t>|z</a:t>
            </a:r>
            <a:r>
              <a:rPr kumimoji="1" lang="en-US" altLang="ja-JP" b="1" dirty="0">
                <a:latin typeface="Cambria Math" panose="02040503050406030204" pitchFamily="18" charset="0"/>
                <a:ea typeface="Cambria Math" panose="02040503050406030204" pitchFamily="18" charset="0"/>
              </a:rPr>
              <a:t>)</a:t>
            </a:r>
            <a:endParaRPr kumimoji="1" lang="ja-JP" altLang="en-US" b="1" dirty="0">
              <a:latin typeface="Cambria Math" panose="02040503050406030204" pitchFamily="18" charset="0"/>
            </a:endParaRPr>
          </a:p>
        </p:txBody>
      </p:sp>
      <p:sp>
        <p:nvSpPr>
          <p:cNvPr id="25" name="テキスト ボックス 24">
            <a:extLst>
              <a:ext uri="{FF2B5EF4-FFF2-40B4-BE49-F238E27FC236}">
                <a16:creationId xmlns:a16="http://schemas.microsoft.com/office/drawing/2014/main" id="{0D026775-9832-4E4B-B15B-DD27BF1C31BC}"/>
              </a:ext>
            </a:extLst>
          </p:cNvPr>
          <p:cNvSpPr txBox="1"/>
          <p:nvPr/>
        </p:nvSpPr>
        <p:spPr>
          <a:xfrm>
            <a:off x="4953000" y="1980000"/>
            <a:ext cx="4767000" cy="369332"/>
          </a:xfrm>
          <a:prstGeom prst="rect">
            <a:avLst/>
          </a:prstGeom>
          <a:noFill/>
        </p:spPr>
        <p:txBody>
          <a:bodyPr wrap="square" rtlCol="0">
            <a:spAutoFit/>
          </a:bodyPr>
          <a:lstStyle/>
          <a:p>
            <a:r>
              <a:rPr lang="en-US" altLang="ja-JP" dirty="0">
                <a:latin typeface="Cambria Math" panose="02040503050406030204" pitchFamily="18" charset="0"/>
                <a:ea typeface="Cambria Math" panose="02040503050406030204" pitchFamily="18" charset="0"/>
              </a:rPr>
              <a:t>X</a:t>
            </a:r>
            <a:r>
              <a:rPr lang="ja-JP" altLang="en-US" dirty="0">
                <a:latin typeface="Meiryo UI" panose="020B0604030504040204" pitchFamily="50" charset="-128"/>
                <a:ea typeface="Meiryo UI" panose="020B0604030504040204" pitchFamily="50" charset="-128"/>
              </a:rPr>
              <a:t>と</a:t>
            </a:r>
            <a:r>
              <a:rPr kumimoji="1" lang="en-US" altLang="ja-JP" dirty="0">
                <a:latin typeface="Cambria Math" panose="02040503050406030204" pitchFamily="18" charset="0"/>
                <a:ea typeface="Cambria Math" panose="02040503050406030204" pitchFamily="18" charset="0"/>
              </a:rPr>
              <a:t>y</a:t>
            </a:r>
            <a:r>
              <a:rPr kumimoji="1" lang="ja-JP" altLang="en-US" dirty="0">
                <a:latin typeface="Meiryo UI" panose="020B0604030504040204" pitchFamily="50" charset="-128"/>
                <a:ea typeface="Meiryo UI" panose="020B0604030504040204" pitchFamily="50" charset="-128"/>
              </a:rPr>
              <a:t>の共起確率を潜在クラスタを使って表現します</a:t>
            </a: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F0E816C7-1B53-444E-B707-031835A2AA45}"/>
                  </a:ext>
                </a:extLst>
              </p:cNvPr>
              <p:cNvSpPr txBox="1"/>
              <p:nvPr/>
            </p:nvSpPr>
            <p:spPr>
              <a:xfrm>
                <a:off x="5046098" y="2309744"/>
                <a:ext cx="3264404" cy="763029"/>
              </a:xfrm>
              <a:prstGeom prst="rect">
                <a:avLst/>
              </a:prstGeom>
              <a:noFill/>
              <a:ln w="25400">
                <a:solidFill>
                  <a:schemeClr val="tx1"/>
                </a:solidFill>
              </a:ln>
            </p:spPr>
            <p:txBody>
              <a:bodyPr wrap="square" rtlCol="0">
                <a:spAutoFit/>
              </a:bodyPr>
              <a:lstStyle/>
              <a:p>
                <a:pPr lvl="0">
                  <a:defRPr/>
                </a:pPr>
                <a14:m>
                  <m:oMathPara xmlns:m="http://schemas.openxmlformats.org/officeDocument/2006/math">
                    <m:oMathParaPr>
                      <m:jc m:val="centerGroup"/>
                    </m:oMathParaPr>
                    <m:oMath xmlns:m="http://schemas.openxmlformats.org/officeDocument/2006/math">
                      <m:r>
                        <m:rPr>
                          <m:nor/>
                        </m:rPr>
                        <a:rPr lang="en-US" altLang="ja-JP" dirty="0">
                          <a:latin typeface="Cambria Math" panose="02040503050406030204" pitchFamily="18" charset="0"/>
                          <a:ea typeface="Cambria Math" panose="02040503050406030204" pitchFamily="18" charset="0"/>
                        </a:rPr>
                        <m:t>P</m:t>
                      </m:r>
                      <m:r>
                        <m:rPr>
                          <m:nor/>
                        </m:rPr>
                        <a:rPr lang="en-US" altLang="ja-JP" dirty="0">
                          <a:latin typeface="Cambria Math" panose="02040503050406030204" pitchFamily="18" charset="0"/>
                          <a:ea typeface="Cambria Math" panose="02040503050406030204" pitchFamily="18" charset="0"/>
                        </a:rPr>
                        <m:t>(</m:t>
                      </m:r>
                      <m:r>
                        <m:rPr>
                          <m:nor/>
                        </m:rPr>
                        <a:rPr lang="en-US" altLang="ja-JP" dirty="0">
                          <a:latin typeface="Cambria Math" panose="02040503050406030204" pitchFamily="18" charset="0"/>
                          <a:ea typeface="Cambria Math" panose="02040503050406030204" pitchFamily="18" charset="0"/>
                        </a:rPr>
                        <m:t>x</m:t>
                      </m:r>
                      <m:r>
                        <m:rPr>
                          <m:nor/>
                        </m:rPr>
                        <a:rPr lang="en-US" altLang="ja-JP" dirty="0">
                          <a:latin typeface="Cambria Math" panose="02040503050406030204" pitchFamily="18" charset="0"/>
                          <a:ea typeface="Cambria Math" panose="02040503050406030204" pitchFamily="18" charset="0"/>
                        </a:rPr>
                        <m:t>,</m:t>
                      </m:r>
                      <m:r>
                        <m:rPr>
                          <m:nor/>
                        </m:rPr>
                        <a:rPr lang="en-US" altLang="ja-JP" dirty="0">
                          <a:latin typeface="Cambria Math" panose="02040503050406030204" pitchFamily="18" charset="0"/>
                          <a:ea typeface="Cambria Math" panose="02040503050406030204" pitchFamily="18" charset="0"/>
                        </a:rPr>
                        <m:t>y</m:t>
                      </m:r>
                      <m:r>
                        <m:rPr>
                          <m:nor/>
                        </m:rPr>
                        <a:rPr lang="en-US" altLang="ja-JP" dirty="0">
                          <a:latin typeface="Cambria Math" panose="02040503050406030204" pitchFamily="18" charset="0"/>
                          <a:ea typeface="Cambria Math" panose="02040503050406030204" pitchFamily="18" charset="0"/>
                        </a:rPr>
                        <m:t>) = </m:t>
                      </m:r>
                      <m:nary>
                        <m:naryPr>
                          <m:chr m:val="∑"/>
                          <m:supHide m:val="on"/>
                          <m:ctrlPr>
                            <a:rPr lang="ja-JP" altLang="en-US" i="1">
                              <a:latin typeface="Cambria Math" panose="02040503050406030204" pitchFamily="18" charset="0"/>
                            </a:rPr>
                          </m:ctrlPr>
                        </m:naryPr>
                        <m:sub>
                          <m:r>
                            <m:rPr>
                              <m:brk m:alnAt="7"/>
                            </m:rPr>
                            <a:rPr lang="en-US" altLang="ja-JP" i="1">
                              <a:latin typeface="Cambria Math" panose="02040503050406030204" pitchFamily="18" charset="0"/>
                              <a:ea typeface="Cambria Math" panose="02040503050406030204" pitchFamily="18" charset="0"/>
                            </a:rPr>
                            <m:t>𝑧</m:t>
                          </m:r>
                        </m:sub>
                        <m:sup/>
                        <m:e>
                          <m:r>
                            <a:rPr lang="en-US" altLang="ja-JP" i="1">
                              <a:latin typeface="Cambria Math" panose="02040503050406030204" pitchFamily="18" charset="0"/>
                              <a:ea typeface="Cambria Math" panose="02040503050406030204" pitchFamily="18" charset="0"/>
                            </a:rPr>
                            <m:t>𝑃</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𝑥</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𝑧</m:t>
                              </m:r>
                            </m:e>
                          </m:d>
                          <m:r>
                            <a:rPr lang="en-US" altLang="ja-JP" i="1">
                              <a:latin typeface="Cambria Math" panose="02040503050406030204" pitchFamily="18" charset="0"/>
                              <a:ea typeface="Cambria Math" panose="02040503050406030204" pitchFamily="18" charset="0"/>
                            </a:rPr>
                            <m:t>𝑃</m:t>
                          </m:r>
                          <m:d>
                            <m:dPr>
                              <m:ctrlPr>
                                <a:rPr lang="en-US" altLang="ja-JP" i="1">
                                  <a:latin typeface="Cambria Math" panose="02040503050406030204" pitchFamily="18" charset="0"/>
                                  <a:ea typeface="Cambria Math" panose="02040503050406030204" pitchFamily="18" charset="0"/>
                                </a:rPr>
                              </m:ctrlPr>
                            </m:dPr>
                            <m:e>
                              <m:r>
                                <a:rPr lang="en-US" altLang="ja-JP" i="1">
                                  <a:latin typeface="Cambria Math" panose="02040503050406030204" pitchFamily="18" charset="0"/>
                                  <a:ea typeface="Cambria Math" panose="02040503050406030204" pitchFamily="18" charset="0"/>
                                </a:rPr>
                                <m:t>𝑦</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𝑧</m:t>
                              </m:r>
                            </m:e>
                          </m:d>
                          <m:r>
                            <a:rPr lang="en-US" altLang="ja-JP" i="1">
                              <a:latin typeface="Cambria Math" panose="02040503050406030204" pitchFamily="18" charset="0"/>
                              <a:ea typeface="Cambria Math" panose="02040503050406030204" pitchFamily="18" charset="0"/>
                            </a:rPr>
                            <m:t>𝑃</m:t>
                          </m:r>
                          <m:r>
                            <a:rPr lang="en-US" altLang="ja-JP" i="1">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𝑧</m:t>
                          </m:r>
                          <m:r>
                            <a:rPr lang="en-US" altLang="ja-JP" i="1">
                              <a:latin typeface="Cambria Math" panose="02040503050406030204" pitchFamily="18" charset="0"/>
                              <a:ea typeface="Cambria Math" panose="02040503050406030204" pitchFamily="18" charset="0"/>
                            </a:rPr>
                            <m:t>)</m:t>
                          </m:r>
                        </m:e>
                      </m:nary>
                    </m:oMath>
                  </m:oMathPara>
                </a14:m>
                <a:endParaRPr lang="ja-JP" altLang="en-US" dirty="0">
                  <a:latin typeface="Cambria Math" panose="02040503050406030204" pitchFamily="18" charset="0"/>
                </a:endParaRPr>
              </a:p>
            </p:txBody>
          </p:sp>
        </mc:Choice>
        <mc:Fallback xmlns="">
          <p:sp>
            <p:nvSpPr>
              <p:cNvPr id="26" name="テキスト ボックス 25">
                <a:extLst>
                  <a:ext uri="{FF2B5EF4-FFF2-40B4-BE49-F238E27FC236}">
                    <a16:creationId xmlns:a16="http://schemas.microsoft.com/office/drawing/2014/main" id="{F0E816C7-1B53-444E-B707-031835A2AA45}"/>
                  </a:ext>
                </a:extLst>
              </p:cNvPr>
              <p:cNvSpPr txBox="1">
                <a:spLocks noRot="1" noChangeAspect="1" noMove="1" noResize="1" noEditPoints="1" noAdjustHandles="1" noChangeArrowheads="1" noChangeShapeType="1" noTextEdit="1"/>
              </p:cNvSpPr>
              <p:nvPr/>
            </p:nvSpPr>
            <p:spPr>
              <a:xfrm>
                <a:off x="5046098" y="2309744"/>
                <a:ext cx="3264404" cy="763029"/>
              </a:xfrm>
              <a:prstGeom prst="rect">
                <a:avLst/>
              </a:prstGeom>
              <a:blipFill>
                <a:blip r:embed="rId2"/>
                <a:stretch>
                  <a:fillRect/>
                </a:stretch>
              </a:blipFill>
              <a:ln w="25400">
                <a:solidFill>
                  <a:schemeClr val="tx1"/>
                </a:solidFill>
              </a:ln>
            </p:spPr>
            <p:txBody>
              <a:bodyPr/>
              <a:lstStyle/>
              <a:p>
                <a:r>
                  <a:rPr lang="ja-JP" altLang="en-US">
                    <a:noFill/>
                  </a:rPr>
                  <a:t> </a:t>
                </a:r>
              </a:p>
            </p:txBody>
          </p:sp>
        </mc:Fallback>
      </mc:AlternateContent>
      <p:sp>
        <p:nvSpPr>
          <p:cNvPr id="27" name="テキスト ボックス 26">
            <a:extLst>
              <a:ext uri="{FF2B5EF4-FFF2-40B4-BE49-F238E27FC236}">
                <a16:creationId xmlns:a16="http://schemas.microsoft.com/office/drawing/2014/main" id="{24BD2CD8-24B3-4BF7-A339-E4B88C23233C}"/>
              </a:ext>
            </a:extLst>
          </p:cNvPr>
          <p:cNvSpPr txBox="1"/>
          <p:nvPr/>
        </p:nvSpPr>
        <p:spPr>
          <a:xfrm>
            <a:off x="4953000" y="3133349"/>
            <a:ext cx="4635500" cy="646331"/>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条件付確率</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a:t>
            </a:r>
          </a:p>
          <a:p>
            <a:r>
              <a:rPr kumimoji="1" lang="ja-JP" altLang="en-US" dirty="0">
                <a:latin typeface="Meiryo UI" panose="020B0604030504040204" pitchFamily="50" charset="-128"/>
                <a:ea typeface="Meiryo UI" panose="020B0604030504040204" pitchFamily="50" charset="-128"/>
              </a:rPr>
              <a:t>事象</a:t>
            </a:r>
            <a:r>
              <a:rPr kumimoji="1" lang="en-US" altLang="ja-JP" dirty="0">
                <a:latin typeface="Cambria Math" panose="02040503050406030204" pitchFamily="18" charset="0"/>
                <a:ea typeface="Cambria Math" panose="02040503050406030204" pitchFamily="18" charset="0"/>
              </a:rPr>
              <a:t>z</a:t>
            </a:r>
            <a:r>
              <a:rPr kumimoji="1" lang="ja-JP" altLang="en-US" dirty="0">
                <a:latin typeface="Meiryo UI" panose="020B0604030504040204" pitchFamily="50" charset="-128"/>
                <a:ea typeface="Meiryo UI" panose="020B0604030504040204" pitchFamily="50" charset="-128"/>
              </a:rPr>
              <a:t>が起こる条件の下で事象</a:t>
            </a:r>
            <a:r>
              <a:rPr kumimoji="1" lang="en-US" altLang="ja-JP" dirty="0">
                <a:latin typeface="Cambria Math" panose="02040503050406030204" pitchFamily="18" charset="0"/>
                <a:ea typeface="Cambria Math" panose="02040503050406030204" pitchFamily="18" charset="0"/>
              </a:rPr>
              <a:t>x</a:t>
            </a:r>
            <a:r>
              <a:rPr kumimoji="1" lang="ja-JP" altLang="en-US" dirty="0">
                <a:latin typeface="Meiryo UI" panose="020B0604030504040204" pitchFamily="50" charset="-128"/>
                <a:ea typeface="Meiryo UI" panose="020B0604030504040204" pitchFamily="50" charset="-128"/>
              </a:rPr>
              <a:t>の起こる確率</a:t>
            </a:r>
          </a:p>
        </p:txBody>
      </p:sp>
    </p:spTree>
    <p:extLst>
      <p:ext uri="{BB962C8B-B14F-4D97-AF65-F5344CB8AC3E}">
        <p14:creationId xmlns:p14="http://schemas.microsoft.com/office/powerpoint/2010/main" val="4146982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a:t>
            </a:r>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360000" cy="748763"/>
          </a:xfrm>
        </p:spPr>
        <p:txBody>
          <a:bodyPr/>
          <a:lstStyle/>
          <a:p>
            <a:r>
              <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rPr>
              <a:t>PLSA</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では、</a:t>
            </a:r>
            <a:r>
              <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rPr>
              <a:t>3</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種類の確率変数</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P(</a:t>
            </a:r>
            <a:r>
              <a:rPr kumimoji="1" lang="en-US" altLang="ja-JP" sz="2000" b="1" kern="1200" dirty="0" err="1">
                <a:solidFill>
                  <a:schemeClr val="tx1"/>
                </a:solidFill>
                <a:effectLst/>
                <a:latin typeface="Cambria Math" panose="02040503050406030204" pitchFamily="18" charset="0"/>
                <a:ea typeface="Cambria Math" panose="02040503050406030204" pitchFamily="18" charset="0"/>
              </a:rPr>
              <a:t>x|z</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 P(</a:t>
            </a:r>
            <a:r>
              <a:rPr kumimoji="1" lang="en-US" altLang="ja-JP" sz="2000" b="1" kern="1200" dirty="0" err="1">
                <a:solidFill>
                  <a:schemeClr val="tx1"/>
                </a:solidFill>
                <a:effectLst/>
                <a:latin typeface="Cambria Math" panose="02040503050406030204" pitchFamily="18" charset="0"/>
                <a:ea typeface="Cambria Math" panose="02040503050406030204" pitchFamily="18" charset="0"/>
              </a:rPr>
              <a:t>y|z</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 P(z)</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を計算することが最終アウトプット</a:t>
            </a:r>
            <a:r>
              <a:rPr kumimoji="1" lang="ja-JP" altLang="en-US" sz="2000" b="1" kern="1200" dirty="0">
                <a:solidFill>
                  <a:schemeClr val="tx1"/>
                </a:solidFill>
                <a:effectLst/>
                <a:latin typeface="Meiryo UI" panose="020B0604030504040204" pitchFamily="50" charset="-128"/>
                <a:ea typeface="Meiryo UI" panose="020B0604030504040204" pitchFamily="50" charset="-128"/>
                <a:cs typeface="+mn-cs"/>
              </a:rPr>
              <a:t>です。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mc:AlternateContent xmlns:mc="http://schemas.openxmlformats.org/markup-compatibility/2006" xmlns:a14="http://schemas.microsoft.com/office/drawing/2010/main">
        <mc:Choice Requires="a14">
          <p:graphicFrame>
            <p:nvGraphicFramePr>
              <p:cNvPr id="7" name="表 7">
                <a:extLst>
                  <a:ext uri="{FF2B5EF4-FFF2-40B4-BE49-F238E27FC236}">
                    <a16:creationId xmlns:a16="http://schemas.microsoft.com/office/drawing/2014/main" id="{73E6AD4C-69C8-4848-ADAA-E88534E0342F}"/>
                  </a:ext>
                </a:extLst>
              </p:cNvPr>
              <p:cNvGraphicFramePr>
                <a:graphicFrameLocks noGrp="1"/>
              </p:cNvGraphicFramePr>
              <p:nvPr>
                <p:extLst>
                  <p:ext uri="{D42A27DB-BD31-4B8C-83A1-F6EECF244321}">
                    <p14:modId xmlns:p14="http://schemas.microsoft.com/office/powerpoint/2010/main" val="1226542452"/>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oMath>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9783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e>
                                      </m:func>
                                    </m:e>
                                  </m:nary>
                                </m:e>
                              </m:nary>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6263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020732"/>
                      </a:ext>
                    </a:extLst>
                  </a:tr>
                  <a:tr h="4397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55278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7427975"/>
                      </a:ext>
                    </a:extLst>
                  </a:tr>
                </a:tbl>
              </a:graphicData>
            </a:graphic>
          </p:graphicFrame>
        </mc:Choice>
        <mc:Fallback xmlns="">
          <p:graphicFrame>
            <p:nvGraphicFramePr>
              <p:cNvPr id="7" name="表 7">
                <a:extLst>
                  <a:ext uri="{FF2B5EF4-FFF2-40B4-BE49-F238E27FC236}">
                    <a16:creationId xmlns:a16="http://schemas.microsoft.com/office/drawing/2014/main" id="{73E6AD4C-69C8-4848-ADAA-E88534E0342F}"/>
                  </a:ext>
                </a:extLst>
              </p:cNvPr>
              <p:cNvGraphicFramePr>
                <a:graphicFrameLocks noGrp="1"/>
              </p:cNvGraphicFramePr>
              <p:nvPr>
                <p:extLst>
                  <p:ext uri="{D42A27DB-BD31-4B8C-83A1-F6EECF244321}">
                    <p14:modId xmlns:p14="http://schemas.microsoft.com/office/powerpoint/2010/main" val="1226542452"/>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74392" t="-116393" r="-116" b="-709836"/>
                          </a:stretch>
                        </a:blipFill>
                      </a:tcPr>
                    </a:tc>
                    <a:extLst>
                      <a:ext uri="{0D108BD9-81ED-4DB2-BD59-A6C34878D82A}">
                        <a16:rowId xmlns:a16="http://schemas.microsoft.com/office/drawing/2014/main" val="949978322"/>
                      </a:ext>
                    </a:extLst>
                  </a:tr>
                  <a:tr h="387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06250" r="-116" b="-576563"/>
                          </a:stretch>
                        </a:blipFill>
                      </a:tcPr>
                    </a:tc>
                    <a:extLst>
                      <a:ext uri="{0D108BD9-81ED-4DB2-BD59-A6C34878D82A}">
                        <a16:rowId xmlns:a16="http://schemas.microsoft.com/office/drawing/2014/main" val="4241626392"/>
                      </a:ext>
                    </a:extLst>
                  </a:tr>
                  <a:tr h="542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20225" r="-116" b="-314607"/>
                          </a:stretch>
                        </a:blipFill>
                      </a:tcPr>
                    </a:tc>
                    <a:extLst>
                      <a:ext uri="{0D108BD9-81ED-4DB2-BD59-A6C34878D82A}">
                        <a16:rowId xmlns:a16="http://schemas.microsoft.com/office/drawing/2014/main" val="123402073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303191" r="-116" b="-197872"/>
                          </a:stretch>
                        </a:blipFill>
                      </a:tcPr>
                    </a:tc>
                    <a:extLst>
                      <a:ext uri="{0D108BD9-81ED-4DB2-BD59-A6C34878D82A}">
                        <a16:rowId xmlns:a16="http://schemas.microsoft.com/office/drawing/2014/main" val="3485341491"/>
                      </a:ext>
                    </a:extLst>
                  </a:tr>
                  <a:tr h="5581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411957" r="-116" b="-102174"/>
                          </a:stretch>
                        </a:blipFill>
                      </a:tcPr>
                    </a:tc>
                    <a:extLst>
                      <a:ext uri="{0D108BD9-81ED-4DB2-BD59-A6C34878D82A}">
                        <a16:rowId xmlns:a16="http://schemas.microsoft.com/office/drawing/2014/main" val="148552785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506452" r="-116" b="-1075"/>
                          </a:stretch>
                        </a:blipFill>
                      </a:tcPr>
                    </a:tc>
                    <a:extLst>
                      <a:ext uri="{0D108BD9-81ED-4DB2-BD59-A6C34878D82A}">
                        <a16:rowId xmlns:a16="http://schemas.microsoft.com/office/drawing/2014/main" val="3757427975"/>
                      </a:ext>
                    </a:extLst>
                  </a:tr>
                </a:tbl>
              </a:graphicData>
            </a:graphic>
          </p:graphicFrame>
        </mc:Fallback>
      </mc:AlternateContent>
      <p:sp>
        <p:nvSpPr>
          <p:cNvPr id="10" name="正方形/長方形 9">
            <a:extLst>
              <a:ext uri="{FF2B5EF4-FFF2-40B4-BE49-F238E27FC236}">
                <a16:creationId xmlns:a16="http://schemas.microsoft.com/office/drawing/2014/main" id="{ADC1DF08-352A-479B-A1B0-062DEADC555C}"/>
              </a:ext>
            </a:extLst>
          </p:cNvPr>
          <p:cNvSpPr/>
          <p:nvPr/>
        </p:nvSpPr>
        <p:spPr>
          <a:xfrm>
            <a:off x="540000" y="5150679"/>
            <a:ext cx="7326027" cy="748763"/>
          </a:xfrm>
          <a:prstGeom prst="rect">
            <a:avLst/>
          </a:prstGeom>
        </p:spPr>
        <p:txBody>
          <a:bodyPr wrap="square" lIns="72000" tIns="72000" rIns="72000" bIns="72000">
            <a:noAutofit/>
          </a:bodyPr>
          <a:lstStyle/>
          <a:p>
            <a:r>
              <a:rPr lang="en-US" altLang="ja-JP" dirty="0">
                <a:latin typeface="Meiryo UI" panose="020B0604030504040204" pitchFamily="50" charset="-128"/>
                <a:ea typeface="Meiryo UI" panose="020B0604030504040204" pitchFamily="50" charset="-128"/>
              </a:rPr>
              <a:t>3</a:t>
            </a:r>
            <a:r>
              <a:rPr lang="ja-JP" altLang="en-US" dirty="0">
                <a:latin typeface="Meiryo UI" panose="020B0604030504040204" pitchFamily="50" charset="-128"/>
                <a:ea typeface="Meiryo UI" panose="020B0604030504040204" pitchFamily="50" charset="-128"/>
              </a:rPr>
              <a:t>種類の確率変数は式（</a:t>
            </a:r>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）～式（</a:t>
            </a:r>
            <a:r>
              <a:rPr lang="en-US" altLang="ja-JP" dirty="0">
                <a:latin typeface="Meiryo UI" panose="020B0604030504040204" pitchFamily="50" charset="-128"/>
                <a:ea typeface="Meiryo UI" panose="020B0604030504040204" pitchFamily="50" charset="-128"/>
              </a:rPr>
              <a:t>6</a:t>
            </a:r>
            <a:r>
              <a:rPr lang="ja-JP" altLang="en-US" dirty="0">
                <a:latin typeface="Meiryo UI" panose="020B0604030504040204" pitchFamily="50" charset="-128"/>
                <a:ea typeface="Meiryo UI" panose="020B0604030504040204" pitchFamily="50" charset="-128"/>
              </a:rPr>
              <a:t>）のように最尤法で計算します</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41174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a:t>
            </a:r>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kumimoji="1" lang="ja-JP" altLang="en-US" sz="2000" b="1" kern="1200" dirty="0">
                <a:solidFill>
                  <a:schemeClr val="tx1"/>
                </a:solidFill>
                <a:effectLst/>
                <a:latin typeface="Meiryo UI" panose="020B0604030504040204" pitchFamily="50" charset="-128"/>
                <a:ea typeface="Meiryo UI" panose="020B0604030504040204" pitchFamily="50" charset="-128"/>
                <a:cs typeface="+mn-cs"/>
              </a:rPr>
              <a:t>共起確率</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x,y</a:t>
            </a:r>
            <a:r>
              <a:rPr lang="en-US" altLang="ja-JP" dirty="0">
                <a:latin typeface="Cambria Math" panose="02040503050406030204" pitchFamily="18" charset="0"/>
                <a:ea typeface="Cambria Math" panose="02040503050406030204" pitchFamily="18" charset="0"/>
              </a:rPr>
              <a:t>)</a:t>
            </a:r>
            <a:r>
              <a:rPr lang="ja-JP" altLang="en-US" dirty="0"/>
              <a:t>を潜在クラスタ</a:t>
            </a:r>
            <a:r>
              <a:rPr lang="en-US" altLang="ja-JP" dirty="0"/>
              <a:t>z</a:t>
            </a:r>
            <a:r>
              <a:rPr lang="ja-JP" altLang="en-US" dirty="0"/>
              <a:t>を使って表現した後、対数尤度関数</a:t>
            </a:r>
            <a:r>
              <a:rPr lang="en-US" altLang="ja-JP" dirty="0"/>
              <a:t>L</a:t>
            </a:r>
            <a:r>
              <a:rPr lang="ja-JP" altLang="en-US" dirty="0"/>
              <a:t>を求めます。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10" name="正方形/長方形 9">
            <a:extLst>
              <a:ext uri="{FF2B5EF4-FFF2-40B4-BE49-F238E27FC236}">
                <a16:creationId xmlns:a16="http://schemas.microsoft.com/office/drawing/2014/main" id="{ADC1DF08-352A-479B-A1B0-062DEADC555C}"/>
              </a:ext>
            </a:extLst>
          </p:cNvPr>
          <p:cNvSpPr/>
          <p:nvPr/>
        </p:nvSpPr>
        <p:spPr>
          <a:xfrm>
            <a:off x="540000" y="5150678"/>
            <a:ext cx="9360000" cy="1044000"/>
          </a:xfrm>
          <a:prstGeom prst="rect">
            <a:avLst/>
          </a:prstGeom>
        </p:spPr>
        <p:txBody>
          <a:bodyPr wrap="square" lIns="72000" tIns="72000" rIns="72000" bIns="72000">
            <a:noAutofit/>
          </a:bodyPr>
          <a:lstStyle/>
          <a:p>
            <a:r>
              <a:rPr lang="en-US" altLang="ja-JP" dirty="0">
                <a:latin typeface="Cambria Math" panose="02040503050406030204" pitchFamily="18" charset="0"/>
                <a:ea typeface="Cambria Math" panose="02040503050406030204" pitchFamily="18" charset="0"/>
              </a:rPr>
              <a:t>x</a:t>
            </a:r>
            <a:r>
              <a:rPr lang="ja-JP" altLang="en-US" dirty="0">
                <a:latin typeface="Meiryo UI" panose="020B0604030504040204" pitchFamily="50" charset="-128"/>
                <a:ea typeface="Meiryo UI" panose="020B0604030504040204" pitchFamily="50" charset="-128"/>
              </a:rPr>
              <a:t>と</a:t>
            </a:r>
            <a:r>
              <a:rPr lang="en-US" altLang="ja-JP" dirty="0">
                <a:latin typeface="Cambria Math" panose="02040503050406030204" pitchFamily="18" charset="0"/>
                <a:ea typeface="Cambria Math" panose="02040503050406030204" pitchFamily="18" charset="0"/>
              </a:rPr>
              <a:t>y</a:t>
            </a:r>
            <a:r>
              <a:rPr lang="ja-JP" altLang="en-US" dirty="0">
                <a:latin typeface="Meiryo UI" panose="020B0604030504040204" pitchFamily="50" charset="-128"/>
                <a:ea typeface="Meiryo UI" panose="020B0604030504040204" pitchFamily="50" charset="-128"/>
              </a:rPr>
              <a:t>が同時に出現する共起確率</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x,y</a:t>
            </a:r>
            <a:r>
              <a:rPr lang="en-US" altLang="ja-JP" dirty="0">
                <a:latin typeface="Cambria Math" panose="02040503050406030204" pitchFamily="18" charset="0"/>
                <a:ea typeface="Cambria Math" panose="02040503050406030204" pitchFamily="18" charset="0"/>
              </a:rPr>
              <a:t>)</a:t>
            </a:r>
            <a:r>
              <a:rPr lang="ja-JP" altLang="en-US" dirty="0">
                <a:latin typeface="Meiryo UI" panose="020B0604030504040204" pitchFamily="50" charset="-128"/>
                <a:ea typeface="Meiryo UI" panose="020B0604030504040204" pitchFamily="50" charset="-128"/>
              </a:rPr>
              <a:t>は潜在クラスタ</a:t>
            </a:r>
            <a:r>
              <a:rPr lang="en-US" altLang="ja-JP" dirty="0">
                <a:latin typeface="Meiryo UI" panose="020B0604030504040204" pitchFamily="50" charset="-128"/>
                <a:ea typeface="Meiryo UI" panose="020B0604030504040204" pitchFamily="50" charset="-128"/>
              </a:rPr>
              <a:t>z</a:t>
            </a:r>
            <a:r>
              <a:rPr lang="ja-JP" altLang="en-US" dirty="0">
                <a:latin typeface="Meiryo UI" panose="020B0604030504040204" pitchFamily="50" charset="-128"/>
                <a:ea typeface="Meiryo UI" panose="020B0604030504040204" pitchFamily="50" charset="-128"/>
              </a:rPr>
              <a:t>を使って式</a:t>
            </a:r>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のようにモデル化できます</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また、</a:t>
            </a:r>
            <a:r>
              <a:rPr lang="en-US" altLang="ja-JP" dirty="0">
                <a:latin typeface="Cambria Math" panose="02040503050406030204" pitchFamily="18" charset="0"/>
                <a:ea typeface="Cambria Math" panose="02040503050406030204" pitchFamily="18" charset="0"/>
              </a:rPr>
              <a:t>x</a:t>
            </a:r>
            <a:r>
              <a:rPr lang="ja-JP" altLang="en-US" dirty="0">
                <a:latin typeface="Meiryo UI" panose="020B0604030504040204" pitchFamily="50" charset="-128"/>
                <a:ea typeface="Meiryo UI" panose="020B0604030504040204" pitchFamily="50" charset="-128"/>
              </a:rPr>
              <a:t>と</a:t>
            </a:r>
            <a:r>
              <a:rPr lang="en-US" altLang="ja-JP" dirty="0">
                <a:latin typeface="Cambria Math" panose="02040503050406030204" pitchFamily="18" charset="0"/>
                <a:ea typeface="Cambria Math" panose="02040503050406030204" pitchFamily="18" charset="0"/>
              </a:rPr>
              <a:t>y</a:t>
            </a:r>
            <a:r>
              <a:rPr lang="ja-JP" altLang="en-US" dirty="0">
                <a:latin typeface="Meiryo UI" panose="020B0604030504040204" pitchFamily="50" charset="-128"/>
                <a:ea typeface="Meiryo UI" panose="020B0604030504040204" pitchFamily="50" charset="-128"/>
              </a:rPr>
              <a:t>の同時出現頻度を</a:t>
            </a:r>
            <a:r>
              <a:rPr lang="en-US" altLang="ja-JP" dirty="0">
                <a:latin typeface="Cambria Math" panose="02040503050406030204" pitchFamily="18" charset="0"/>
                <a:ea typeface="Cambria Math" panose="02040503050406030204" pitchFamily="18" charset="0"/>
              </a:rPr>
              <a:t>N(</a:t>
            </a:r>
            <a:r>
              <a:rPr lang="en-US" altLang="ja-JP" dirty="0" err="1">
                <a:latin typeface="Cambria Math" panose="02040503050406030204" pitchFamily="18" charset="0"/>
                <a:ea typeface="Cambria Math" panose="02040503050406030204" pitchFamily="18" charset="0"/>
              </a:rPr>
              <a:t>x,y</a:t>
            </a:r>
            <a:r>
              <a:rPr lang="en-US" altLang="ja-JP" dirty="0">
                <a:latin typeface="Cambria Math" panose="02040503050406030204" pitchFamily="18" charset="0"/>
                <a:ea typeface="Cambria Math" panose="02040503050406030204" pitchFamily="18" charset="0"/>
              </a:rPr>
              <a:t>)</a:t>
            </a:r>
            <a:r>
              <a:rPr lang="ja-JP" altLang="en-US" dirty="0">
                <a:latin typeface="Meiryo UI" panose="020B0604030504040204" pitchFamily="50" charset="-128"/>
                <a:ea typeface="Meiryo UI" panose="020B0604030504040204" pitchFamily="50" charset="-128"/>
              </a:rPr>
              <a:t>とすると、対数尤度関数</a:t>
            </a:r>
            <a:r>
              <a:rPr lang="en-US" altLang="ja-JP" dirty="0">
                <a:latin typeface="Meiryo UI" panose="020B0604030504040204" pitchFamily="50" charset="-128"/>
                <a:ea typeface="Meiryo UI" panose="020B0604030504040204" pitchFamily="50" charset="-128"/>
              </a:rPr>
              <a:t>L</a:t>
            </a:r>
            <a:r>
              <a:rPr lang="ja-JP" altLang="en-US" dirty="0">
                <a:latin typeface="Meiryo UI" panose="020B0604030504040204" pitchFamily="50" charset="-128"/>
                <a:ea typeface="Meiryo UI" panose="020B0604030504040204" pitchFamily="50" charset="-128"/>
              </a:rPr>
              <a:t>は式</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のようになります</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この対数尤度関数</a:t>
            </a:r>
            <a:r>
              <a:rPr lang="en-US" altLang="ja-JP" dirty="0">
                <a:latin typeface="Meiryo UI" panose="020B0604030504040204" pitchFamily="50" charset="-128"/>
                <a:ea typeface="Meiryo UI" panose="020B0604030504040204" pitchFamily="50" charset="-128"/>
              </a:rPr>
              <a:t>L</a:t>
            </a:r>
            <a:r>
              <a:rPr lang="ja-JP" altLang="en-US" dirty="0">
                <a:latin typeface="Meiryo UI" panose="020B0604030504040204" pitchFamily="50" charset="-128"/>
                <a:ea typeface="Meiryo UI" panose="020B0604030504040204" pitchFamily="50" charset="-128"/>
              </a:rPr>
              <a:t>を最大にする確率変数</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 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 P(z)</a:t>
            </a:r>
            <a:r>
              <a:rPr lang="ja-JP" altLang="en-US" dirty="0">
                <a:latin typeface="Meiryo UI" panose="020B0604030504040204" pitchFamily="50" charset="-128"/>
                <a:ea typeface="Meiryo UI" panose="020B0604030504040204" pitchFamily="50" charset="-128"/>
              </a:rPr>
              <a:t>を</a:t>
            </a:r>
            <a:r>
              <a:rPr lang="en-US" altLang="ja-JP" dirty="0">
                <a:latin typeface="Meiryo UI" panose="020B0604030504040204" pitchFamily="50" charset="-128"/>
                <a:ea typeface="Meiryo UI" panose="020B0604030504040204" pitchFamily="50" charset="-128"/>
              </a:rPr>
              <a:t>EM</a:t>
            </a:r>
            <a:r>
              <a:rPr lang="ja-JP" altLang="en-US" dirty="0">
                <a:latin typeface="Meiryo UI" panose="020B0604030504040204" pitchFamily="50" charset="-128"/>
                <a:ea typeface="Meiryo UI" panose="020B0604030504040204" pitchFamily="50" charset="-128"/>
              </a:rPr>
              <a:t>アルゴリズムを用いて推定します</a:t>
            </a:r>
          </a:p>
        </p:txBody>
      </p:sp>
      <mc:AlternateContent xmlns:mc="http://schemas.openxmlformats.org/markup-compatibility/2006" xmlns:a14="http://schemas.microsoft.com/office/drawing/2010/main">
        <mc:Choice Requires="a14">
          <p:graphicFrame>
            <p:nvGraphicFramePr>
              <p:cNvPr id="6" name="表 7">
                <a:extLst>
                  <a:ext uri="{FF2B5EF4-FFF2-40B4-BE49-F238E27FC236}">
                    <a16:creationId xmlns:a16="http://schemas.microsoft.com/office/drawing/2014/main" id="{CBFE342C-D27F-40DF-86A3-54A554577AD8}"/>
                  </a:ext>
                </a:extLst>
              </p:cNvPr>
              <p:cNvGraphicFramePr>
                <a:graphicFrameLocks noGrp="1"/>
              </p:cNvGraphicFramePr>
              <p:nvPr>
                <p:extLst>
                  <p:ext uri="{D42A27DB-BD31-4B8C-83A1-F6EECF244321}">
                    <p14:modId xmlns:p14="http://schemas.microsoft.com/office/powerpoint/2010/main" val="1532339253"/>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oMath>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9783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e>
                                      </m:func>
                                    </m:e>
                                  </m:nary>
                                </m:e>
                              </m:nary>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6263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34020732"/>
                      </a:ext>
                    </a:extLst>
                  </a:tr>
                  <a:tr h="4397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853414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4855278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57427975"/>
                      </a:ext>
                    </a:extLst>
                  </a:tr>
                </a:tbl>
              </a:graphicData>
            </a:graphic>
          </p:graphicFrame>
        </mc:Choice>
        <mc:Fallback xmlns="">
          <p:graphicFrame>
            <p:nvGraphicFramePr>
              <p:cNvPr id="6" name="表 7">
                <a:extLst>
                  <a:ext uri="{FF2B5EF4-FFF2-40B4-BE49-F238E27FC236}">
                    <a16:creationId xmlns:a16="http://schemas.microsoft.com/office/drawing/2014/main" id="{CBFE342C-D27F-40DF-86A3-54A554577AD8}"/>
                  </a:ext>
                </a:extLst>
              </p:cNvPr>
              <p:cNvGraphicFramePr>
                <a:graphicFrameLocks noGrp="1"/>
              </p:cNvGraphicFramePr>
              <p:nvPr>
                <p:extLst>
                  <p:ext uri="{D42A27DB-BD31-4B8C-83A1-F6EECF244321}">
                    <p14:modId xmlns:p14="http://schemas.microsoft.com/office/powerpoint/2010/main" val="1532339253"/>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74392" t="-116393" r="-116" b="-709836"/>
                          </a:stretch>
                        </a:blipFill>
                      </a:tcPr>
                    </a:tc>
                    <a:extLst>
                      <a:ext uri="{0D108BD9-81ED-4DB2-BD59-A6C34878D82A}">
                        <a16:rowId xmlns:a16="http://schemas.microsoft.com/office/drawing/2014/main" val="949978322"/>
                      </a:ext>
                    </a:extLst>
                  </a:tr>
                  <a:tr h="387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06250" r="-116" b="-576563"/>
                          </a:stretch>
                        </a:blipFill>
                      </a:tcPr>
                    </a:tc>
                    <a:extLst>
                      <a:ext uri="{0D108BD9-81ED-4DB2-BD59-A6C34878D82A}">
                        <a16:rowId xmlns:a16="http://schemas.microsoft.com/office/drawing/2014/main" val="4241626392"/>
                      </a:ext>
                    </a:extLst>
                  </a:tr>
                  <a:tr h="542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20225" r="-116" b="-314607"/>
                          </a:stretch>
                        </a:blipFill>
                      </a:tcPr>
                    </a:tc>
                    <a:extLst>
                      <a:ext uri="{0D108BD9-81ED-4DB2-BD59-A6C34878D82A}">
                        <a16:rowId xmlns:a16="http://schemas.microsoft.com/office/drawing/2014/main" val="123402073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303191" r="-116" b="-197872"/>
                          </a:stretch>
                        </a:blipFill>
                      </a:tcPr>
                    </a:tc>
                    <a:extLst>
                      <a:ext uri="{0D108BD9-81ED-4DB2-BD59-A6C34878D82A}">
                        <a16:rowId xmlns:a16="http://schemas.microsoft.com/office/drawing/2014/main" val="3485341491"/>
                      </a:ext>
                    </a:extLst>
                  </a:tr>
                  <a:tr h="5581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411957" r="-116" b="-102174"/>
                          </a:stretch>
                        </a:blipFill>
                      </a:tcPr>
                    </a:tc>
                    <a:extLst>
                      <a:ext uri="{0D108BD9-81ED-4DB2-BD59-A6C34878D82A}">
                        <a16:rowId xmlns:a16="http://schemas.microsoft.com/office/drawing/2014/main" val="148552785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506452" r="-116" b="-1075"/>
                          </a:stretch>
                        </a:blipFill>
                      </a:tcPr>
                    </a:tc>
                    <a:extLst>
                      <a:ext uri="{0D108BD9-81ED-4DB2-BD59-A6C34878D82A}">
                        <a16:rowId xmlns:a16="http://schemas.microsoft.com/office/drawing/2014/main" val="3757427975"/>
                      </a:ext>
                    </a:extLst>
                  </a:tr>
                </a:tbl>
              </a:graphicData>
            </a:graphic>
          </p:graphicFrame>
        </mc:Fallback>
      </mc:AlternateContent>
    </p:spTree>
    <p:extLst>
      <p:ext uri="{BB962C8B-B14F-4D97-AF65-F5344CB8AC3E}">
        <p14:creationId xmlns:p14="http://schemas.microsoft.com/office/powerpoint/2010/main" val="2833480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a:t>
            </a:r>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en-US" altLang="ja-JP" b="1" dirty="0"/>
              <a:t>EM</a:t>
            </a:r>
            <a:r>
              <a:rPr lang="ja-JP" altLang="en-US" b="1" dirty="0"/>
              <a:t>アルゴリズムという手法で、確率変数</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 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 P(z)</a:t>
            </a:r>
            <a:r>
              <a:rPr lang="ja-JP" altLang="en-US" b="1" dirty="0"/>
              <a:t>を求めます。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10" name="正方形/長方形 9">
            <a:extLst>
              <a:ext uri="{FF2B5EF4-FFF2-40B4-BE49-F238E27FC236}">
                <a16:creationId xmlns:a16="http://schemas.microsoft.com/office/drawing/2014/main" id="{ADC1DF08-352A-479B-A1B0-062DEADC555C}"/>
              </a:ext>
            </a:extLst>
          </p:cNvPr>
          <p:cNvSpPr/>
          <p:nvPr/>
        </p:nvSpPr>
        <p:spPr>
          <a:xfrm>
            <a:off x="540000" y="5165576"/>
            <a:ext cx="9360000" cy="1527321"/>
          </a:xfrm>
          <a:prstGeom prst="rect">
            <a:avLst/>
          </a:prstGeom>
        </p:spPr>
        <p:txBody>
          <a:bodyPr wrap="square" lIns="72000" tIns="72000" rIns="72000" bIns="72000">
            <a:noAutofit/>
          </a:bodyPr>
          <a:lstStyle/>
          <a:p>
            <a:r>
              <a:rPr lang="en-US" altLang="ja-JP" dirty="0">
                <a:latin typeface="Cambria Math" panose="02040503050406030204" pitchFamily="18" charset="0"/>
                <a:ea typeface="Cambria Math" panose="02040503050406030204" pitchFamily="18" charset="0"/>
              </a:rPr>
              <a:t>z</a:t>
            </a:r>
            <a:r>
              <a:rPr lang="ja-JP" altLang="en-US" dirty="0">
                <a:latin typeface="Meiryo UI" panose="020B0604030504040204" pitchFamily="50" charset="-128"/>
                <a:ea typeface="Meiryo UI" panose="020B0604030504040204" pitchFamily="50" charset="-128"/>
              </a:rPr>
              <a:t>の確率分布</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z|x,y</a:t>
            </a:r>
            <a:r>
              <a:rPr lang="en-US" altLang="ja-JP" dirty="0">
                <a:latin typeface="Cambria Math" panose="02040503050406030204" pitchFamily="18" charset="0"/>
                <a:ea typeface="Cambria Math" panose="02040503050406030204" pitchFamily="18" charset="0"/>
              </a:rPr>
              <a:t>)</a:t>
            </a:r>
            <a:r>
              <a:rPr lang="ja-JP" altLang="en-US" dirty="0">
                <a:latin typeface="Meiryo UI" panose="020B0604030504040204" pitchFamily="50" charset="-128"/>
                <a:ea typeface="Meiryo UI" panose="020B0604030504040204" pitchFamily="50" charset="-128"/>
              </a:rPr>
              <a:t>を計算する式</a:t>
            </a:r>
            <a:r>
              <a:rPr lang="en-US" altLang="ja-JP" dirty="0">
                <a:latin typeface="Meiryo UI" panose="020B0604030504040204" pitchFamily="50" charset="-128"/>
                <a:ea typeface="Meiryo UI" panose="020B0604030504040204" pitchFamily="50" charset="-128"/>
              </a:rPr>
              <a:t>(3)</a:t>
            </a:r>
            <a:r>
              <a:rPr lang="ja-JP" altLang="en-US" dirty="0">
                <a:latin typeface="Meiryo UI" panose="020B0604030504040204" pitchFamily="50" charset="-128"/>
                <a:ea typeface="Meiryo UI" panose="020B0604030504040204" pitchFamily="50" charset="-128"/>
              </a:rPr>
              <a:t>の</a:t>
            </a:r>
            <a:r>
              <a:rPr lang="en-US" altLang="ja-JP" dirty="0">
                <a:latin typeface="Meiryo UI" panose="020B0604030504040204" pitchFamily="50" charset="-128"/>
                <a:ea typeface="Meiryo UI" panose="020B0604030504040204" pitchFamily="50" charset="-128"/>
              </a:rPr>
              <a:t>E</a:t>
            </a:r>
            <a:r>
              <a:rPr lang="ja-JP" altLang="en-US" dirty="0">
                <a:latin typeface="Meiryo UI" panose="020B0604030504040204" pitchFamily="50" charset="-128"/>
                <a:ea typeface="Meiryo UI" panose="020B0604030504040204" pitchFamily="50" charset="-128"/>
              </a:rPr>
              <a:t>ステップと、</a:t>
            </a:r>
            <a:r>
              <a:rPr lang="en-US" altLang="ja-JP" dirty="0">
                <a:latin typeface="Meiryo UI" panose="020B0604030504040204" pitchFamily="50" charset="-128"/>
                <a:ea typeface="Meiryo UI" panose="020B0604030504040204" pitchFamily="50" charset="-128"/>
              </a:rPr>
              <a:t>E</a:t>
            </a:r>
            <a:r>
              <a:rPr lang="ja-JP" altLang="en-US" dirty="0">
                <a:latin typeface="Meiryo UI" panose="020B0604030504040204" pitchFamily="50" charset="-128"/>
                <a:ea typeface="Meiryo UI" panose="020B0604030504040204" pitchFamily="50" charset="-128"/>
              </a:rPr>
              <a:t>ステップで計算した</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z|x,y</a:t>
            </a:r>
            <a:r>
              <a:rPr lang="en-US" altLang="ja-JP" dirty="0">
                <a:latin typeface="Cambria Math" panose="02040503050406030204" pitchFamily="18" charset="0"/>
                <a:ea typeface="Cambria Math" panose="02040503050406030204" pitchFamily="18" charset="0"/>
              </a:rPr>
              <a:t>)</a:t>
            </a:r>
            <a:r>
              <a:rPr lang="ja-JP" altLang="en-US" dirty="0">
                <a:latin typeface="Meiryo UI" panose="020B0604030504040204" pitchFamily="50" charset="-128"/>
                <a:ea typeface="Meiryo UI" panose="020B0604030504040204" pitchFamily="50" charset="-128"/>
              </a:rPr>
              <a:t>を用いて対数尤度関数</a:t>
            </a:r>
            <a:r>
              <a:rPr lang="en-US" altLang="ja-JP" dirty="0">
                <a:latin typeface="Meiryo UI" panose="020B0604030504040204" pitchFamily="50" charset="-128"/>
                <a:ea typeface="Meiryo UI" panose="020B0604030504040204" pitchFamily="50" charset="-128"/>
              </a:rPr>
              <a:t>L</a:t>
            </a:r>
            <a:r>
              <a:rPr lang="ja-JP" altLang="en-US" dirty="0">
                <a:latin typeface="Meiryo UI" panose="020B0604030504040204" pitchFamily="50" charset="-128"/>
                <a:ea typeface="Meiryo UI" panose="020B0604030504040204" pitchFamily="50" charset="-128"/>
              </a:rPr>
              <a:t>を最大化するような</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 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 P(z)</a:t>
            </a:r>
            <a:r>
              <a:rPr lang="ja-JP" altLang="en-US" dirty="0">
                <a:latin typeface="Meiryo UI" panose="020B0604030504040204" pitchFamily="50" charset="-128"/>
                <a:ea typeface="Meiryo UI" panose="020B0604030504040204" pitchFamily="50" charset="-128"/>
              </a:rPr>
              <a:t>を計算する式</a:t>
            </a:r>
            <a:r>
              <a:rPr lang="en-US" altLang="ja-JP" dirty="0">
                <a:latin typeface="Meiryo UI" panose="020B0604030504040204" pitchFamily="50" charset="-128"/>
                <a:ea typeface="Meiryo UI" panose="020B0604030504040204" pitchFamily="50" charset="-128"/>
              </a:rPr>
              <a:t>(4)</a:t>
            </a:r>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(6)</a:t>
            </a:r>
            <a:r>
              <a:rPr lang="ja-JP" altLang="en-US" dirty="0">
                <a:latin typeface="Meiryo UI" panose="020B0604030504040204" pitchFamily="50" charset="-128"/>
                <a:ea typeface="Meiryo UI" panose="020B0604030504040204" pitchFamily="50" charset="-128"/>
              </a:rPr>
              <a:t>の</a:t>
            </a:r>
            <a:r>
              <a:rPr lang="en-US" altLang="ja-JP" dirty="0">
                <a:latin typeface="Meiryo UI" panose="020B0604030504040204" pitchFamily="50" charset="-128"/>
                <a:ea typeface="Meiryo UI" panose="020B0604030504040204" pitchFamily="50" charset="-128"/>
              </a:rPr>
              <a:t>M</a:t>
            </a:r>
            <a:r>
              <a:rPr lang="ja-JP" altLang="en-US" dirty="0">
                <a:latin typeface="Meiryo UI" panose="020B0604030504040204" pitchFamily="50" charset="-128"/>
                <a:ea typeface="Meiryo UI" panose="020B0604030504040204" pitchFamily="50" charset="-128"/>
              </a:rPr>
              <a:t>ステップを繰り返します</a:t>
            </a:r>
          </a:p>
          <a:p>
            <a:r>
              <a:rPr lang="ja-JP" altLang="en-US" dirty="0">
                <a:latin typeface="Meiryo UI" panose="020B0604030504040204" pitchFamily="50" charset="-128"/>
                <a:ea typeface="Meiryo UI" panose="020B0604030504040204" pitchFamily="50" charset="-128"/>
              </a:rPr>
              <a:t>なお、</a:t>
            </a:r>
            <a:r>
              <a:rPr lang="en-US" altLang="ja-JP" dirty="0">
                <a:latin typeface="Meiryo UI" panose="020B0604030504040204" pitchFamily="50" charset="-128"/>
                <a:ea typeface="Meiryo UI" panose="020B0604030504040204" pitchFamily="50" charset="-128"/>
              </a:rPr>
              <a:t>EM</a:t>
            </a:r>
            <a:r>
              <a:rPr lang="ja-JP" altLang="en-US" dirty="0">
                <a:latin typeface="Meiryo UI" panose="020B0604030504040204" pitchFamily="50" charset="-128"/>
                <a:ea typeface="Meiryo UI" panose="020B0604030504040204" pitchFamily="50" charset="-128"/>
              </a:rPr>
              <a:t>アルゴリズムをスタートするには、</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 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 P(z)</a:t>
            </a:r>
            <a:r>
              <a:rPr lang="ja-JP" altLang="en-US" dirty="0">
                <a:latin typeface="Meiryo UI" panose="020B0604030504040204" pitchFamily="50" charset="-128"/>
                <a:ea typeface="Meiryo UI" panose="020B0604030504040204" pitchFamily="50" charset="-128"/>
              </a:rPr>
              <a:t>の初期値が必要で、</a:t>
            </a:r>
            <a:r>
              <a:rPr lang="en-US" altLang="ja-JP" dirty="0">
                <a:latin typeface="Meiryo UI" panose="020B0604030504040204" pitchFamily="50" charset="-128"/>
                <a:ea typeface="Meiryo UI" panose="020B0604030504040204" pitchFamily="50" charset="-128"/>
              </a:rPr>
              <a:t>PLSA</a:t>
            </a:r>
            <a:r>
              <a:rPr lang="ja-JP" altLang="en-US" dirty="0">
                <a:latin typeface="Meiryo UI" panose="020B0604030504040204" pitchFamily="50" charset="-128"/>
                <a:ea typeface="Meiryo UI" panose="020B0604030504040204" pitchFamily="50" charset="-128"/>
              </a:rPr>
              <a:t>はこの初期値によって最終的な解が微妙に影響を受ける初期値依存性があります</a:t>
            </a:r>
          </a:p>
        </p:txBody>
      </p:sp>
      <mc:AlternateContent xmlns:mc="http://schemas.openxmlformats.org/markup-compatibility/2006" xmlns:a14="http://schemas.microsoft.com/office/drawing/2010/main">
        <mc:Choice Requires="a14">
          <p:graphicFrame>
            <p:nvGraphicFramePr>
              <p:cNvPr id="6" name="表 7">
                <a:extLst>
                  <a:ext uri="{FF2B5EF4-FFF2-40B4-BE49-F238E27FC236}">
                    <a16:creationId xmlns:a16="http://schemas.microsoft.com/office/drawing/2014/main" id="{25813BA1-52A1-4AD1-8F53-BFEE27DBEC50}"/>
                  </a:ext>
                </a:extLst>
              </p:cNvPr>
              <p:cNvGraphicFramePr>
                <a:graphicFrameLocks noGrp="1"/>
              </p:cNvGraphicFramePr>
              <p:nvPr>
                <p:extLst>
                  <p:ext uri="{D42A27DB-BD31-4B8C-83A1-F6EECF244321}">
                    <p14:modId xmlns:p14="http://schemas.microsoft.com/office/powerpoint/2010/main" val="3215637263"/>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oMath>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499783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e>
                                      </m:func>
                                    </m:e>
                                  </m:nary>
                                </m:e>
                              </m:nary>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2416263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020732"/>
                      </a:ext>
                    </a:extLst>
                  </a:tr>
                  <a:tr h="4397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55278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 </a:t>
                          </a:r>
                          <a14:m>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e>
                                  </m:nary>
                                </m:den>
                              </m:f>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7427975"/>
                      </a:ext>
                    </a:extLst>
                  </a:tr>
                </a:tbl>
              </a:graphicData>
            </a:graphic>
          </p:graphicFrame>
        </mc:Choice>
        <mc:Fallback xmlns="">
          <p:graphicFrame>
            <p:nvGraphicFramePr>
              <p:cNvPr id="6" name="表 7">
                <a:extLst>
                  <a:ext uri="{FF2B5EF4-FFF2-40B4-BE49-F238E27FC236}">
                    <a16:creationId xmlns:a16="http://schemas.microsoft.com/office/drawing/2014/main" id="{25813BA1-52A1-4AD1-8F53-BFEE27DBEC50}"/>
                  </a:ext>
                </a:extLst>
              </p:cNvPr>
              <p:cNvGraphicFramePr>
                <a:graphicFrameLocks noGrp="1"/>
              </p:cNvGraphicFramePr>
              <p:nvPr>
                <p:extLst>
                  <p:ext uri="{D42A27DB-BD31-4B8C-83A1-F6EECF244321}">
                    <p14:modId xmlns:p14="http://schemas.microsoft.com/office/powerpoint/2010/main" val="3215637263"/>
                  </p:ext>
                </p:extLst>
              </p:nvPr>
            </p:nvGraphicFramePr>
            <p:xfrm>
              <a:off x="540000" y="1980000"/>
              <a:ext cx="9164955" cy="2994916"/>
            </p:xfrm>
            <a:graphic>
              <a:graphicData uri="http://schemas.openxmlformats.org/drawingml/2006/table">
                <a:tbl>
                  <a:tblPr firstRow="1" bandRow="1">
                    <a:tableStyleId>{2D5ABB26-0587-4C30-8999-92F81FD0307C}</a:tableStyleId>
                  </a:tblPr>
                  <a:tblGrid>
                    <a:gridCol w="1087755">
                      <a:extLst>
                        <a:ext uri="{9D8B030D-6E8A-4147-A177-3AD203B41FA5}">
                          <a16:colId xmlns:a16="http://schemas.microsoft.com/office/drawing/2014/main" val="2667644316"/>
                        </a:ext>
                      </a:extLst>
                    </a:gridCol>
                    <a:gridCol w="1819592">
                      <a:extLst>
                        <a:ext uri="{9D8B030D-6E8A-4147-A177-3AD203B41FA5}">
                          <a16:colId xmlns:a16="http://schemas.microsoft.com/office/drawing/2014/main" val="858439037"/>
                        </a:ext>
                      </a:extLst>
                    </a:gridCol>
                    <a:gridCol w="1005205">
                      <a:extLst>
                        <a:ext uri="{9D8B030D-6E8A-4147-A177-3AD203B41FA5}">
                          <a16:colId xmlns:a16="http://schemas.microsoft.com/office/drawing/2014/main" val="382032798"/>
                        </a:ext>
                      </a:extLst>
                    </a:gridCol>
                    <a:gridCol w="525240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のモデル化</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74392" t="-116393" r="-116" b="-709836"/>
                          </a:stretch>
                        </a:blipFill>
                      </a:tcPr>
                    </a:tc>
                    <a:extLst>
                      <a:ext uri="{0D108BD9-81ED-4DB2-BD59-A6C34878D82A}">
                        <a16:rowId xmlns:a16="http://schemas.microsoft.com/office/drawing/2014/main" val="949978322"/>
                      </a:ext>
                    </a:extLst>
                  </a:tr>
                  <a:tr h="387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ja-JP" altLang="en-US" dirty="0">
                              <a:latin typeface="Meiryo UI" panose="020B0604030504040204" pitchFamily="50" charset="-128"/>
                              <a:ea typeface="Meiryo UI" panose="020B0604030504040204" pitchFamily="50" charset="-128"/>
                            </a:rPr>
                            <a:t>対数尤度関数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06250" r="-116" b="-576563"/>
                          </a:stretch>
                        </a:blipFill>
                      </a:tcPr>
                    </a:tc>
                    <a:extLst>
                      <a:ext uri="{0D108BD9-81ED-4DB2-BD59-A6C34878D82A}">
                        <a16:rowId xmlns:a16="http://schemas.microsoft.com/office/drawing/2014/main" val="4241626392"/>
                      </a:ext>
                    </a:extLst>
                  </a:tr>
                  <a:tr h="542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3</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Meiryo UI" panose="020B0604030504040204" pitchFamily="50" charset="-128"/>
                              <a:ea typeface="Meiryo UI" panose="020B0604030504040204" pitchFamily="50" charset="-128"/>
                            </a:rPr>
                            <a:t>E</a:t>
                          </a:r>
                          <a:r>
                            <a:rPr kumimoji="1" lang="ja-JP" altLang="en-US" dirty="0">
                              <a:latin typeface="Meiryo UI" panose="020B0604030504040204" pitchFamily="50" charset="-128"/>
                              <a:ea typeface="Meiryo UI" panose="020B0604030504040204" pitchFamily="50" charset="-128"/>
                            </a:rPr>
                            <a:t>ステップ</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220225" r="-116" b="-314607"/>
                          </a:stretch>
                        </a:blipFill>
                      </a:tcPr>
                    </a:tc>
                    <a:extLst>
                      <a:ext uri="{0D108BD9-81ED-4DB2-BD59-A6C34878D82A}">
                        <a16:rowId xmlns:a16="http://schemas.microsoft.com/office/drawing/2014/main" val="123402073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303191" r="-116" b="-197872"/>
                          </a:stretch>
                        </a:blipFill>
                      </a:tcPr>
                    </a:tc>
                    <a:extLst>
                      <a:ext uri="{0D108BD9-81ED-4DB2-BD59-A6C34878D82A}">
                        <a16:rowId xmlns:a16="http://schemas.microsoft.com/office/drawing/2014/main" val="3485341491"/>
                      </a:ext>
                    </a:extLst>
                  </a:tr>
                  <a:tr h="5581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5</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y|z</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411957" r="-116" b="-102174"/>
                          </a:stretch>
                        </a:blipFill>
                      </a:tcPr>
                    </a:tc>
                    <a:extLst>
                      <a:ext uri="{0D108BD9-81ED-4DB2-BD59-A6C34878D82A}">
                        <a16:rowId xmlns:a16="http://schemas.microsoft.com/office/drawing/2014/main" val="1485527852"/>
                      </a:ext>
                    </a:extLst>
                  </a:tr>
                  <a:tr h="567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式（</a:t>
                          </a: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6</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M</a:t>
                          </a: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ステップ③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392" t="-506452" r="-116" b="-1075"/>
                          </a:stretch>
                        </a:blipFill>
                      </a:tcPr>
                    </a:tc>
                    <a:extLst>
                      <a:ext uri="{0D108BD9-81ED-4DB2-BD59-A6C34878D82A}">
                        <a16:rowId xmlns:a16="http://schemas.microsoft.com/office/drawing/2014/main" val="3757427975"/>
                      </a:ext>
                    </a:extLst>
                  </a:tr>
                </a:tbl>
              </a:graphicData>
            </a:graphic>
          </p:graphicFrame>
        </mc:Fallback>
      </mc:AlternateContent>
    </p:spTree>
    <p:extLst>
      <p:ext uri="{BB962C8B-B14F-4D97-AF65-F5344CB8AC3E}">
        <p14:creationId xmlns:p14="http://schemas.microsoft.com/office/powerpoint/2010/main" val="3008296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ja-JP" altLang="en-US" dirty="0"/>
              <a:t>基本的な数式　復習</a:t>
            </a:r>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kumimoji="1" lang="ja-JP" altLang="en-US" sz="2000" b="1" kern="1200" dirty="0">
                <a:solidFill>
                  <a:schemeClr val="tx1"/>
                </a:solidFill>
                <a:effectLst/>
                <a:latin typeface="Meiryo UI" panose="020B0604030504040204" pitchFamily="50" charset="-128"/>
                <a:ea typeface="Meiryo UI" panose="020B0604030504040204" pitchFamily="50" charset="-128"/>
                <a:cs typeface="+mn-cs"/>
              </a:rPr>
              <a:t>条件付確率でよく使われる公式の復習です。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mc:AlternateContent xmlns:mc="http://schemas.openxmlformats.org/markup-compatibility/2006" xmlns:a14="http://schemas.microsoft.com/office/drawing/2010/main">
        <mc:Choice Requires="a14">
          <p:graphicFrame>
            <p:nvGraphicFramePr>
              <p:cNvPr id="7" name="表 7">
                <a:extLst>
                  <a:ext uri="{FF2B5EF4-FFF2-40B4-BE49-F238E27FC236}">
                    <a16:creationId xmlns:a16="http://schemas.microsoft.com/office/drawing/2014/main" id="{73E6AD4C-69C8-4848-ADAA-E88534E0342F}"/>
                  </a:ext>
                </a:extLst>
              </p:cNvPr>
              <p:cNvGraphicFramePr>
                <a:graphicFrameLocks noGrp="1"/>
              </p:cNvGraphicFramePr>
              <p:nvPr>
                <p:extLst>
                  <p:ext uri="{D42A27DB-BD31-4B8C-83A1-F6EECF244321}">
                    <p14:modId xmlns:p14="http://schemas.microsoft.com/office/powerpoint/2010/main" val="63617386"/>
                  </p:ext>
                </p:extLst>
              </p:nvPr>
            </p:nvGraphicFramePr>
            <p:xfrm>
              <a:off x="2215579" y="1980000"/>
              <a:ext cx="5474843" cy="1507300"/>
            </p:xfrm>
            <a:graphic>
              <a:graphicData uri="http://schemas.openxmlformats.org/drawingml/2006/table">
                <a:tbl>
                  <a:tblPr firstRow="1" bandRow="1">
                    <a:tableStyleId>{2D5ABB26-0587-4C30-8999-92F81FD0307C}</a:tableStyleId>
                  </a:tblPr>
                  <a:tblGrid>
                    <a:gridCol w="2221230">
                      <a:extLst>
                        <a:ext uri="{9D8B030D-6E8A-4147-A177-3AD203B41FA5}">
                          <a16:colId xmlns:a16="http://schemas.microsoft.com/office/drawing/2014/main" val="858439037"/>
                        </a:ext>
                      </a:extLst>
                    </a:gridCol>
                    <a:gridCol w="918464">
                      <a:extLst>
                        <a:ext uri="{9D8B030D-6E8A-4147-A177-3AD203B41FA5}">
                          <a16:colId xmlns:a16="http://schemas.microsoft.com/office/drawing/2014/main" val="612212733"/>
                        </a:ext>
                      </a:extLst>
                    </a:gridCol>
                    <a:gridCol w="405130">
                      <a:extLst>
                        <a:ext uri="{9D8B030D-6E8A-4147-A177-3AD203B41FA5}">
                          <a16:colId xmlns:a16="http://schemas.microsoft.com/office/drawing/2014/main" val="2365146083"/>
                        </a:ext>
                      </a:extLst>
                    </a:gridCol>
                    <a:gridCol w="1930019">
                      <a:extLst>
                        <a:ext uri="{9D8B030D-6E8A-4147-A177-3AD203B41FA5}">
                          <a16:colId xmlns:a16="http://schemas.microsoft.com/office/drawing/2014/main" val="2031940348"/>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条件付き確率の公式</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oMath>
                            </m:oMathPara>
                          </a14:m>
                          <a:endParaRPr kumimoji="1" lang="ja-JP" altLang="en-US" dirty="0">
                            <a:latin typeface="Cambria Math" panose="02040503050406030204" pitchFamily="18" charset="0"/>
                          </a:endParaRPr>
                        </a:p>
                      </a:txBody>
                      <a:tcPr anchor="ctr"/>
                    </a:tc>
                    <a:extLst>
                      <a:ext uri="{0D108BD9-81ED-4DB2-BD59-A6C34878D82A}">
                        <a16:rowId xmlns:a16="http://schemas.microsoft.com/office/drawing/2014/main" val="94997832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乗法定理</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)P(y)</a:t>
                          </a:r>
                          <a:endParaRPr kumimoji="1" lang="ja-JP" altLang="en-US" dirty="0">
                            <a:latin typeface="Cambria Math" panose="02040503050406030204" pitchFamily="18" charset="0"/>
                          </a:endParaRPr>
                        </a:p>
                      </a:txBody>
                      <a:tcPr anchor="ctr"/>
                    </a:tc>
                    <a:extLst>
                      <a:ext uri="{0D108BD9-81ED-4DB2-BD59-A6C34878D82A}">
                        <a16:rowId xmlns:a16="http://schemas.microsoft.com/office/drawing/2014/main" val="424162639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ベイズの定理</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𝑥</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oMath>
                            </m:oMathPara>
                          </a14:m>
                          <a:endParaRPr kumimoji="1" lang="ja-JP" altLang="en-US" dirty="0">
                            <a:latin typeface="Cambria Math" panose="02040503050406030204" pitchFamily="18" charset="0"/>
                          </a:endParaRPr>
                        </a:p>
                      </a:txBody>
                      <a:tcPr anchor="ctr"/>
                    </a:tc>
                    <a:extLst>
                      <a:ext uri="{0D108BD9-81ED-4DB2-BD59-A6C34878D82A}">
                        <a16:rowId xmlns:a16="http://schemas.microsoft.com/office/drawing/2014/main" val="1234020732"/>
                      </a:ext>
                    </a:extLst>
                  </a:tr>
                </a:tbl>
              </a:graphicData>
            </a:graphic>
          </p:graphicFrame>
        </mc:Choice>
        <mc:Fallback xmlns="">
          <p:graphicFrame>
            <p:nvGraphicFramePr>
              <p:cNvPr id="7" name="表 7">
                <a:extLst>
                  <a:ext uri="{FF2B5EF4-FFF2-40B4-BE49-F238E27FC236}">
                    <a16:creationId xmlns:a16="http://schemas.microsoft.com/office/drawing/2014/main" id="{73E6AD4C-69C8-4848-ADAA-E88534E0342F}"/>
                  </a:ext>
                </a:extLst>
              </p:cNvPr>
              <p:cNvGraphicFramePr>
                <a:graphicFrameLocks noGrp="1"/>
              </p:cNvGraphicFramePr>
              <p:nvPr>
                <p:extLst>
                  <p:ext uri="{D42A27DB-BD31-4B8C-83A1-F6EECF244321}">
                    <p14:modId xmlns:p14="http://schemas.microsoft.com/office/powerpoint/2010/main" val="63617386"/>
                  </p:ext>
                </p:extLst>
              </p:nvPr>
            </p:nvGraphicFramePr>
            <p:xfrm>
              <a:off x="2215579" y="1980000"/>
              <a:ext cx="5474843" cy="1507300"/>
            </p:xfrm>
            <a:graphic>
              <a:graphicData uri="http://schemas.openxmlformats.org/drawingml/2006/table">
                <a:tbl>
                  <a:tblPr firstRow="1" bandRow="1">
                    <a:tableStyleId>{2D5ABB26-0587-4C30-8999-92F81FD0307C}</a:tableStyleId>
                  </a:tblPr>
                  <a:tblGrid>
                    <a:gridCol w="2221230">
                      <a:extLst>
                        <a:ext uri="{9D8B030D-6E8A-4147-A177-3AD203B41FA5}">
                          <a16:colId xmlns:a16="http://schemas.microsoft.com/office/drawing/2014/main" val="858439037"/>
                        </a:ext>
                      </a:extLst>
                    </a:gridCol>
                    <a:gridCol w="918464">
                      <a:extLst>
                        <a:ext uri="{9D8B030D-6E8A-4147-A177-3AD203B41FA5}">
                          <a16:colId xmlns:a16="http://schemas.microsoft.com/office/drawing/2014/main" val="612212733"/>
                        </a:ext>
                      </a:extLst>
                    </a:gridCol>
                    <a:gridCol w="405130">
                      <a:extLst>
                        <a:ext uri="{9D8B030D-6E8A-4147-A177-3AD203B41FA5}">
                          <a16:colId xmlns:a16="http://schemas.microsoft.com/office/drawing/2014/main" val="2365146083"/>
                        </a:ext>
                      </a:extLst>
                    </a:gridCol>
                    <a:gridCol w="1930019">
                      <a:extLst>
                        <a:ext uri="{9D8B030D-6E8A-4147-A177-3AD203B41FA5}">
                          <a16:colId xmlns:a16="http://schemas.microsoft.com/office/drawing/2014/main" val="2031940348"/>
                        </a:ext>
                      </a:extLst>
                    </a:gridCol>
                  </a:tblGrid>
                  <a:tr h="563309">
                    <a:tc>
                      <a:txBody>
                        <a:bodyPr/>
                        <a:lstStyle/>
                        <a:p>
                          <a:pPr algn="ctr"/>
                          <a:r>
                            <a:rPr kumimoji="1" lang="ja-JP" altLang="en-US" dirty="0">
                              <a:latin typeface="Meiryo UI" panose="020B0604030504040204" pitchFamily="50" charset="-128"/>
                              <a:ea typeface="Meiryo UI" panose="020B0604030504040204" pitchFamily="50" charset="-128"/>
                            </a:rPr>
                            <a:t>条件付き確率の公式</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 </a:t>
                          </a:r>
                        </a:p>
                      </a:txBody>
                      <a:tcPr anchor="ctr"/>
                    </a:tc>
                    <a:tc>
                      <a:txBody>
                        <a:bodyPr/>
                        <a:lstStyle/>
                        <a:p>
                          <a:endParaRPr lang="ja-JP"/>
                        </a:p>
                      </a:txBody>
                      <a:tcPr anchor="ctr">
                        <a:blipFill>
                          <a:blip r:embed="rId2"/>
                          <a:stretch>
                            <a:fillRect l="-781818" r="-480303" b="-167742"/>
                          </a:stretch>
                        </a:blipFill>
                      </a:tcPr>
                    </a:tc>
                    <a:tc>
                      <a:txBody>
                        <a:bodyPr/>
                        <a:lstStyle/>
                        <a:p>
                          <a:endParaRPr lang="ja-JP"/>
                        </a:p>
                      </a:txBody>
                      <a:tcPr anchor="ctr">
                        <a:blipFill>
                          <a:blip r:embed="rId2"/>
                          <a:stretch>
                            <a:fillRect l="-183596" b="-167742"/>
                          </a:stretch>
                        </a:blipFill>
                      </a:tcPr>
                    </a:tc>
                    <a:extLst>
                      <a:ext uri="{0D108BD9-81ED-4DB2-BD59-A6C34878D82A}">
                        <a16:rowId xmlns:a16="http://schemas.microsoft.com/office/drawing/2014/main" val="94997832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乗法定理</a:t>
                          </a:r>
                        </a:p>
                      </a:txBody>
                      <a:tcPr anchor="ctr"/>
                    </a:tc>
                    <a:tc>
                      <a:txBody>
                        <a:bodyPr/>
                        <a:lstStyle/>
                        <a:p>
                          <a:endParaRPr lang="ja-JP"/>
                        </a:p>
                      </a:txBody>
                      <a:tcPr anchor="ctr">
                        <a:blipFill>
                          <a:blip r:embed="rId2"/>
                          <a:stretch>
                            <a:fillRect l="-241722" t="-152459" r="-253642" b="-155738"/>
                          </a:stretch>
                        </a:blipFill>
                      </a:tcPr>
                    </a:tc>
                    <a:tc>
                      <a:txBody>
                        <a:bodyPr/>
                        <a:lstStyle/>
                        <a:p>
                          <a:endParaRPr lang="ja-JP"/>
                        </a:p>
                      </a:txBody>
                      <a:tcPr anchor="ctr">
                        <a:blipFill>
                          <a:blip r:embed="rId2"/>
                          <a:stretch>
                            <a:fillRect l="-781818" t="-152459" r="-480303" b="-15573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)P(y)</a:t>
                          </a:r>
                          <a:endParaRPr kumimoji="1" lang="ja-JP" altLang="en-US" dirty="0">
                            <a:latin typeface="Cambria Math" panose="02040503050406030204" pitchFamily="18" charset="0"/>
                          </a:endParaRPr>
                        </a:p>
                      </a:txBody>
                      <a:tcPr anchor="ctr"/>
                    </a:tc>
                    <a:extLst>
                      <a:ext uri="{0D108BD9-81ED-4DB2-BD59-A6C34878D82A}">
                        <a16:rowId xmlns:a16="http://schemas.microsoft.com/office/drawing/2014/main" val="4241626392"/>
                      </a:ext>
                    </a:extLst>
                  </a:tr>
                  <a:tr h="573151">
                    <a:tc>
                      <a:txBody>
                        <a:bodyPr/>
                        <a:lstStyle/>
                        <a:p>
                          <a:pPr algn="ctr"/>
                          <a:r>
                            <a:rPr kumimoji="1" lang="ja-JP" altLang="en-US" dirty="0">
                              <a:latin typeface="Meiryo UI" panose="020B0604030504040204" pitchFamily="50" charset="-128"/>
                              <a:ea typeface="Meiryo UI" panose="020B0604030504040204" pitchFamily="50" charset="-128"/>
                            </a:rPr>
                            <a:t>ベイズの定理</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tc>
                    <a:tc>
                      <a:txBody>
                        <a:bodyPr/>
                        <a:lstStyle/>
                        <a:p>
                          <a:endParaRPr lang="ja-JP"/>
                        </a:p>
                      </a:txBody>
                      <a:tcPr anchor="ctr">
                        <a:blipFill>
                          <a:blip r:embed="rId2"/>
                          <a:stretch>
                            <a:fillRect l="-781818" t="-162105" r="-480303"/>
                          </a:stretch>
                        </a:blipFill>
                      </a:tcPr>
                    </a:tc>
                    <a:tc>
                      <a:txBody>
                        <a:bodyPr/>
                        <a:lstStyle/>
                        <a:p>
                          <a:endParaRPr lang="ja-JP"/>
                        </a:p>
                      </a:txBody>
                      <a:tcPr anchor="ctr">
                        <a:blipFill>
                          <a:blip r:embed="rId2"/>
                          <a:stretch>
                            <a:fillRect l="-183596" t="-162105"/>
                          </a:stretch>
                        </a:blipFill>
                      </a:tcPr>
                    </a:tc>
                    <a:extLst>
                      <a:ext uri="{0D108BD9-81ED-4DB2-BD59-A6C34878D82A}">
                        <a16:rowId xmlns:a16="http://schemas.microsoft.com/office/drawing/2014/main" val="1234020732"/>
                      </a:ext>
                    </a:extLst>
                  </a:tr>
                </a:tbl>
              </a:graphicData>
            </a:graphic>
          </p:graphicFrame>
        </mc:Fallback>
      </mc:AlternateContent>
      <p:sp>
        <p:nvSpPr>
          <p:cNvPr id="10" name="正方形/長方形 9">
            <a:extLst>
              <a:ext uri="{FF2B5EF4-FFF2-40B4-BE49-F238E27FC236}">
                <a16:creationId xmlns:a16="http://schemas.microsoft.com/office/drawing/2014/main" id="{ADC1DF08-352A-479B-A1B0-062DEADC555C}"/>
              </a:ext>
            </a:extLst>
          </p:cNvPr>
          <p:cNvSpPr/>
          <p:nvPr/>
        </p:nvSpPr>
        <p:spPr>
          <a:xfrm>
            <a:off x="1238266" y="4387554"/>
            <a:ext cx="7429468" cy="748764"/>
          </a:xfrm>
          <a:prstGeom prst="rect">
            <a:avLst/>
          </a:prstGeom>
        </p:spPr>
        <p:txBody>
          <a:bodyPr wrap="square" lIns="72000" tIns="72000" rIns="72000" bIns="72000">
            <a:noAutofit/>
          </a:bodyPr>
          <a:lstStyle/>
          <a:p>
            <a:r>
              <a:rPr lang="ja-JP" altLang="en-US" dirty="0">
                <a:latin typeface="Meiryo UI" panose="020B0604030504040204" pitchFamily="50" charset="-128"/>
                <a:ea typeface="Meiryo UI" panose="020B0604030504040204" pitchFamily="50" charset="-128"/>
              </a:rPr>
              <a:t>乗法定理は、条件付き確率の公式から、導出されます</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ベイズの定理は、条件付確率の公式に乗法定理を導入することで、導出されます</a:t>
            </a:r>
          </a:p>
        </p:txBody>
      </p:sp>
    </p:spTree>
    <p:extLst>
      <p:ext uri="{BB962C8B-B14F-4D97-AF65-F5344CB8AC3E}">
        <p14:creationId xmlns:p14="http://schemas.microsoft.com/office/powerpoint/2010/main" val="338807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2A28C4D-9124-4498-9E6A-9842F001C8E9}"/>
              </a:ext>
            </a:extLst>
          </p:cNvPr>
          <p:cNvSpPr/>
          <p:nvPr/>
        </p:nvSpPr>
        <p:spPr>
          <a:xfrm>
            <a:off x="2273968" y="2719551"/>
            <a:ext cx="2959699" cy="345744"/>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式（</a:t>
            </a:r>
            <a:r>
              <a:rPr kumimoji="1" lang="en-US" altLang="ja-JP" dirty="0"/>
              <a:t>1</a:t>
            </a:r>
            <a:r>
              <a:rPr kumimoji="1" lang="ja-JP" altLang="en-US" dirty="0"/>
              <a:t>）</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dirty="0"/>
              <a:t>共起確率</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x,y</a:t>
            </a:r>
            <a:r>
              <a:rPr lang="en-US" altLang="ja-JP" dirty="0">
                <a:latin typeface="Cambria Math" panose="02040503050406030204" pitchFamily="18" charset="0"/>
                <a:ea typeface="Cambria Math" panose="02040503050406030204" pitchFamily="18" charset="0"/>
              </a:rPr>
              <a:t>)</a:t>
            </a:r>
            <a:r>
              <a:rPr lang="ja-JP" altLang="en-US" dirty="0"/>
              <a:t>を潜在クラスタ</a:t>
            </a:r>
            <a:r>
              <a:rPr lang="en-US" altLang="ja-JP" dirty="0">
                <a:latin typeface="Cambria Math" panose="02040503050406030204" pitchFamily="18" charset="0"/>
                <a:ea typeface="Cambria Math" panose="02040503050406030204" pitchFamily="18" charset="0"/>
              </a:rPr>
              <a:t>z</a:t>
            </a:r>
            <a:r>
              <a:rPr lang="ja-JP" altLang="en-US" dirty="0"/>
              <a:t>を使って表現します。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16" name="テキスト ボックス 15">
            <a:extLst>
              <a:ext uri="{FF2B5EF4-FFF2-40B4-BE49-F238E27FC236}">
                <a16:creationId xmlns:a16="http://schemas.microsoft.com/office/drawing/2014/main" id="{7699124B-1EF0-4EFD-98D1-AD30731F570C}"/>
              </a:ext>
            </a:extLst>
          </p:cNvPr>
          <p:cNvSpPr txBox="1"/>
          <p:nvPr/>
        </p:nvSpPr>
        <p:spPr>
          <a:xfrm>
            <a:off x="540000" y="5184996"/>
            <a:ext cx="5859296" cy="646331"/>
          </a:xfrm>
          <a:prstGeom prst="rect">
            <a:avLst/>
          </a:prstGeom>
          <a:noFill/>
        </p:spPr>
        <p:txBody>
          <a:bodyPr wrap="none" rtlCol="0">
            <a:spAutoFit/>
          </a:bodyPr>
          <a:lstStyle/>
          <a:p>
            <a:r>
              <a:rPr kumimoji="1" lang="ja-JP" altLang="en-US" dirty="0">
                <a:latin typeface="Meiryo UI" panose="020B0604030504040204" pitchFamily="50" charset="-128"/>
                <a:ea typeface="Meiryo UI" panose="020B0604030504040204" pitchFamily="50" charset="-128"/>
              </a:rPr>
              <a:t>式（</a:t>
            </a:r>
            <a:r>
              <a:rPr kumimoji="1"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）は</a:t>
            </a:r>
            <a:r>
              <a:rPr kumimoji="1" lang="ja-JP" altLang="en-US" dirty="0">
                <a:latin typeface="Meiryo UI" panose="020B0604030504040204" pitchFamily="50" charset="-128"/>
                <a:ea typeface="Meiryo UI" panose="020B0604030504040204" pitchFamily="50" charset="-128"/>
              </a:rPr>
              <a:t>クラスタ</a:t>
            </a:r>
            <a:r>
              <a:rPr kumimoji="1" lang="en-US" altLang="ja-JP" dirty="0">
                <a:latin typeface="Cambria Math" panose="02040503050406030204" pitchFamily="18" charset="0"/>
                <a:ea typeface="Cambria Math" panose="02040503050406030204" pitchFamily="18" charset="0"/>
              </a:rPr>
              <a:t>z</a:t>
            </a:r>
            <a:r>
              <a:rPr kumimoji="1" lang="ja-JP" altLang="en-US" dirty="0">
                <a:latin typeface="Meiryo UI" panose="020B0604030504040204" pitchFamily="50" charset="-128"/>
                <a:ea typeface="Meiryo UI" panose="020B0604030504040204" pitchFamily="50" charset="-128"/>
              </a:rPr>
              <a:t>から</a:t>
            </a:r>
            <a:r>
              <a:rPr kumimoji="1" lang="en-US" altLang="ja-JP" dirty="0">
                <a:latin typeface="Cambria Math" panose="02040503050406030204" pitchFamily="18" charset="0"/>
                <a:ea typeface="Cambria Math" panose="02040503050406030204" pitchFamily="18" charset="0"/>
              </a:rPr>
              <a:t>x</a:t>
            </a:r>
            <a:r>
              <a:rPr kumimoji="1" lang="ja-JP" altLang="en-US" dirty="0">
                <a:latin typeface="Meiryo UI" panose="020B0604030504040204" pitchFamily="50" charset="-128"/>
                <a:ea typeface="Meiryo UI" panose="020B0604030504040204" pitchFamily="50" charset="-128"/>
              </a:rPr>
              <a:t>と</a:t>
            </a:r>
            <a:r>
              <a:rPr kumimoji="1" lang="en-US" altLang="ja-JP" dirty="0">
                <a:latin typeface="Cambria Math" panose="02040503050406030204" pitchFamily="18" charset="0"/>
                <a:ea typeface="Cambria Math" panose="02040503050406030204" pitchFamily="18" charset="0"/>
              </a:rPr>
              <a:t>y</a:t>
            </a:r>
            <a:r>
              <a:rPr kumimoji="1" lang="ja-JP" altLang="en-US" dirty="0">
                <a:latin typeface="Meiryo UI" panose="020B0604030504040204" pitchFamily="50" charset="-128"/>
                <a:ea typeface="Meiryo UI" panose="020B0604030504040204" pitchFamily="50" charset="-128"/>
              </a:rPr>
              <a:t>が生成されると考えることができます</a:t>
            </a:r>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加法定理と乗法定理を合わせた展開を周辺化と呼びます</a:t>
            </a:r>
            <a:endParaRPr kumimoji="1" lang="ja-JP" altLang="en-US" dirty="0">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A27E7BF4-B901-4249-A852-77D29C1C64DC}"/>
              </a:ext>
            </a:extLst>
          </p:cNvPr>
          <p:cNvSpPr/>
          <p:nvPr/>
        </p:nvSpPr>
        <p:spPr>
          <a:xfrm>
            <a:off x="3276444" y="1980000"/>
            <a:ext cx="2624436"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1</a:t>
            </a:r>
            <a:r>
              <a:rPr lang="ja-JP" altLang="en-US" b="1" dirty="0">
                <a:latin typeface="Meiryo UI" panose="020B0604030504040204" pitchFamily="50" charset="-128"/>
                <a:ea typeface="Meiryo UI" panose="020B0604030504040204" pitchFamily="50" charset="-128"/>
              </a:rPr>
              <a:t>）</a:t>
            </a:r>
            <a:r>
              <a:rPr lang="en-US" altLang="ja-JP" b="1" dirty="0">
                <a:latin typeface="Cambria Math" panose="02040503050406030204" pitchFamily="18" charset="0"/>
                <a:ea typeface="Cambria Math" panose="02040503050406030204" pitchFamily="18" charset="0"/>
              </a:rPr>
              <a:t>P(</a:t>
            </a:r>
            <a:r>
              <a:rPr lang="en-US" altLang="ja-JP" b="1" dirty="0" err="1">
                <a:latin typeface="Cambria Math" panose="02040503050406030204" pitchFamily="18" charset="0"/>
                <a:ea typeface="Cambria Math" panose="02040503050406030204" pitchFamily="18" charset="0"/>
              </a:rPr>
              <a:t>x,y</a:t>
            </a:r>
            <a:r>
              <a:rPr lang="en-US" altLang="ja-JP" b="1" dirty="0">
                <a:latin typeface="Cambria Math" panose="02040503050406030204" pitchFamily="18" charset="0"/>
                <a:ea typeface="Cambria Math" panose="02040503050406030204" pitchFamily="18" charset="0"/>
              </a:rPr>
              <a:t>)</a:t>
            </a:r>
            <a:r>
              <a:rPr lang="ja-JP" altLang="en-US" b="1" dirty="0">
                <a:latin typeface="Meiryo UI" panose="020B0604030504040204" pitchFamily="50" charset="-128"/>
                <a:ea typeface="Meiryo UI" panose="020B0604030504040204" pitchFamily="50" charset="-128"/>
              </a:rPr>
              <a:t>のモデル化</a:t>
            </a:r>
          </a:p>
        </p:txBody>
      </p:sp>
      <p:sp>
        <p:nvSpPr>
          <p:cNvPr id="12" name="正方形/長方形 11">
            <a:extLst>
              <a:ext uri="{FF2B5EF4-FFF2-40B4-BE49-F238E27FC236}">
                <a16:creationId xmlns:a16="http://schemas.microsoft.com/office/drawing/2014/main" id="{C7DC162A-9278-4FD2-BE49-384251BBBEC3}"/>
              </a:ext>
            </a:extLst>
          </p:cNvPr>
          <p:cNvSpPr/>
          <p:nvPr/>
        </p:nvSpPr>
        <p:spPr>
          <a:xfrm>
            <a:off x="2273968" y="3124225"/>
            <a:ext cx="2959699" cy="345744"/>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54BE4F5B-3981-4465-80A7-1DA467F4C481}"/>
              </a:ext>
            </a:extLst>
          </p:cNvPr>
          <p:cNvSpPr txBox="1"/>
          <p:nvPr/>
        </p:nvSpPr>
        <p:spPr>
          <a:xfrm>
            <a:off x="5859639" y="2335503"/>
            <a:ext cx="1107996" cy="369332"/>
          </a:xfrm>
          <a:prstGeom prst="rect">
            <a:avLst/>
          </a:prstGeom>
          <a:noFill/>
        </p:spPr>
        <p:txBody>
          <a:bodyPr wrap="none" rtlCol="0">
            <a:spAutoFit/>
          </a:bodyPr>
          <a:lstStyle/>
          <a:p>
            <a:r>
              <a:rPr lang="ja-JP" altLang="en-US" dirty="0">
                <a:latin typeface="Meiryo UI" panose="020B0604030504040204" pitchFamily="50" charset="-128"/>
                <a:ea typeface="Meiryo UI" panose="020B0604030504040204" pitchFamily="50" charset="-128"/>
              </a:rPr>
              <a:t>加法</a:t>
            </a:r>
            <a:r>
              <a:rPr kumimoji="1" lang="ja-JP" altLang="en-US" dirty="0">
                <a:latin typeface="Meiryo UI" panose="020B0604030504040204" pitchFamily="50" charset="-128"/>
                <a:ea typeface="Meiryo UI" panose="020B0604030504040204" pitchFamily="50" charset="-128"/>
              </a:rPr>
              <a:t>定理</a:t>
            </a:r>
          </a:p>
        </p:txBody>
      </p:sp>
      <p:cxnSp>
        <p:nvCxnSpPr>
          <p:cNvPr id="6" name="直線矢印コネクタ 5">
            <a:extLst>
              <a:ext uri="{FF2B5EF4-FFF2-40B4-BE49-F238E27FC236}">
                <a16:creationId xmlns:a16="http://schemas.microsoft.com/office/drawing/2014/main" id="{BB6D96FB-FA33-45FF-ABCF-2624B2915B38}"/>
              </a:ext>
            </a:extLst>
          </p:cNvPr>
          <p:cNvCxnSpPr>
            <a:cxnSpLocks/>
            <a:stCxn id="11" idx="1"/>
          </p:cNvCxnSpPr>
          <p:nvPr/>
        </p:nvCxnSpPr>
        <p:spPr>
          <a:xfrm flipH="1">
            <a:off x="5506177" y="2520169"/>
            <a:ext cx="3534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F754F239-9F06-49B5-8CB3-0DCA457B7040}"/>
              </a:ext>
            </a:extLst>
          </p:cNvPr>
          <p:cNvCxnSpPr>
            <a:cxnSpLocks/>
          </p:cNvCxnSpPr>
          <p:nvPr/>
        </p:nvCxnSpPr>
        <p:spPr>
          <a:xfrm>
            <a:off x="5506177" y="3201423"/>
            <a:ext cx="12700" cy="504109"/>
          </a:xfrm>
          <a:prstGeom prst="bentConnector4">
            <a:avLst>
              <a:gd name="adj1" fmla="val 2700000"/>
              <a:gd name="adj2" fmla="val 99897"/>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219B4580-FFDE-47B8-9297-5E8388BCD043}"/>
              </a:ext>
            </a:extLst>
          </p:cNvPr>
          <p:cNvSpPr txBox="1"/>
          <p:nvPr/>
        </p:nvSpPr>
        <p:spPr>
          <a:xfrm>
            <a:off x="5859639" y="3322946"/>
            <a:ext cx="1513556" cy="369332"/>
          </a:xfrm>
          <a:prstGeom prst="rect">
            <a:avLst/>
          </a:prstGeom>
          <a:noFill/>
        </p:spPr>
        <p:txBody>
          <a:bodyPr wrap="none" rtlCol="0">
            <a:spAutoFit/>
          </a:bodyPr>
          <a:lstStyle/>
          <a:p>
            <a:r>
              <a:rPr kumimoji="1" lang="ja-JP" altLang="en-US" dirty="0">
                <a:latin typeface="Meiryo UI" panose="020B0604030504040204" pitchFamily="50" charset="-128"/>
                <a:ea typeface="Meiryo UI" panose="020B0604030504040204" pitchFamily="50" charset="-128"/>
              </a:rPr>
              <a:t>条件付き独立</a:t>
            </a:r>
            <a:endParaRPr kumimoji="1" lang="en-US" altLang="ja-JP" dirty="0">
              <a:latin typeface="Meiryo UI" panose="020B0604030504040204" pitchFamily="50" charset="-128"/>
              <a:ea typeface="Meiryo UI" panose="020B0604030504040204" pitchFamily="50" charset="-128"/>
            </a:endParaRPr>
          </a:p>
        </p:txBody>
      </p:sp>
      <p:cxnSp>
        <p:nvCxnSpPr>
          <p:cNvPr id="21" name="コネクタ: カギ線 20">
            <a:extLst>
              <a:ext uri="{FF2B5EF4-FFF2-40B4-BE49-F238E27FC236}">
                <a16:creationId xmlns:a16="http://schemas.microsoft.com/office/drawing/2014/main" id="{203402E3-167B-490D-B386-CDF1CD364BA5}"/>
              </a:ext>
            </a:extLst>
          </p:cNvPr>
          <p:cNvCxnSpPr>
            <a:cxnSpLocks/>
            <a:stCxn id="23" idx="3"/>
            <a:endCxn id="8" idx="3"/>
          </p:cNvCxnSpPr>
          <p:nvPr/>
        </p:nvCxnSpPr>
        <p:spPr>
          <a:xfrm>
            <a:off x="5526292" y="2609372"/>
            <a:ext cx="12700" cy="365655"/>
          </a:xfrm>
          <a:prstGeom prst="bentConnector3">
            <a:avLst>
              <a:gd name="adj1" fmla="val 180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C9D6CEE8-F4B2-473C-B02A-0C99DA2DAD73}"/>
              </a:ext>
            </a:extLst>
          </p:cNvPr>
          <p:cNvSpPr txBox="1"/>
          <p:nvPr/>
        </p:nvSpPr>
        <p:spPr>
          <a:xfrm>
            <a:off x="5859639" y="2642813"/>
            <a:ext cx="1107996" cy="369332"/>
          </a:xfrm>
          <a:prstGeom prst="rect">
            <a:avLst/>
          </a:prstGeom>
          <a:noFill/>
        </p:spPr>
        <p:txBody>
          <a:bodyPr wrap="none" rtlCol="0">
            <a:spAutoFit/>
          </a:bodyPr>
          <a:lstStyle/>
          <a:p>
            <a:r>
              <a:rPr kumimoji="1" lang="ja-JP" altLang="en-US" dirty="0">
                <a:latin typeface="Meiryo UI" panose="020B0604030504040204" pitchFamily="50" charset="-128"/>
                <a:ea typeface="Meiryo UI" panose="020B0604030504040204" pitchFamily="50" charset="-128"/>
              </a:rPr>
              <a:t>乗法定理</a:t>
            </a:r>
            <a:endParaRPr kumimoji="1" lang="en-US" altLang="ja-JP"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E67A7F8-20BB-4E23-84F5-487A7E045A1B}"/>
              </a:ext>
            </a:extLst>
          </p:cNvPr>
          <p:cNvSpPr/>
          <p:nvPr/>
        </p:nvSpPr>
        <p:spPr>
          <a:xfrm>
            <a:off x="2120900" y="2794797"/>
            <a:ext cx="3405392" cy="360459"/>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11655DF3-5BFB-4F7F-AE90-C3DC9C7AF8D7}"/>
              </a:ext>
            </a:extLst>
          </p:cNvPr>
          <p:cNvSpPr/>
          <p:nvPr/>
        </p:nvSpPr>
        <p:spPr>
          <a:xfrm>
            <a:off x="2120900" y="2429142"/>
            <a:ext cx="3405392" cy="360459"/>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mc:AlternateContent xmlns:mc="http://schemas.openxmlformats.org/markup-compatibility/2006" xmlns:a14="http://schemas.microsoft.com/office/drawing/2010/main">
        <mc:Choice Requires="a14">
          <p:graphicFrame>
            <p:nvGraphicFramePr>
              <p:cNvPr id="30" name="表 29">
                <a:extLst>
                  <a:ext uri="{FF2B5EF4-FFF2-40B4-BE49-F238E27FC236}">
                    <a16:creationId xmlns:a16="http://schemas.microsoft.com/office/drawing/2014/main" id="{E843FBA3-ED5A-4C0A-80FF-CB8D6178709D}"/>
                  </a:ext>
                </a:extLst>
              </p:cNvPr>
              <p:cNvGraphicFramePr>
                <a:graphicFrameLocks noGrp="1"/>
              </p:cNvGraphicFramePr>
              <p:nvPr>
                <p:extLst>
                  <p:ext uri="{D42A27DB-BD31-4B8C-83A1-F6EECF244321}">
                    <p14:modId xmlns:p14="http://schemas.microsoft.com/office/powerpoint/2010/main" val="2487270564"/>
                  </p:ext>
                </p:extLst>
              </p:nvPr>
            </p:nvGraphicFramePr>
            <p:xfrm>
              <a:off x="540000" y="2340000"/>
              <a:ext cx="4988053" cy="149733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858439037"/>
                        </a:ext>
                      </a:extLst>
                    </a:gridCol>
                    <a:gridCol w="828993">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3264662">
                      <a:extLst>
                        <a:ext uri="{9D8B030D-6E8A-4147-A177-3AD203B41FA5}">
                          <a16:colId xmlns:a16="http://schemas.microsoft.com/office/drawing/2014/main" val="1342385149"/>
                        </a:ext>
                      </a:extLst>
                    </a:gridCol>
                  </a:tblGrid>
                  <a:tr h="370840">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lang="ja-JP" altLang="ja-JP" i="1" smtClean="0">
                                        <a:latin typeface="Cambria Math" panose="02040503050406030204" pitchFamily="18" charset="0"/>
                                      </a:rPr>
                                    </m:ctrlPr>
                                  </m:naryPr>
                                  <m:sub>
                                    <m:r>
                                      <m:rPr>
                                        <m:brk m:alnAt="7"/>
                                      </m:rPr>
                                      <a:rPr lang="en-US" altLang="ja-JP">
                                        <a:latin typeface="Cambria Math" panose="02040503050406030204" pitchFamily="18" charset="0"/>
                                        <a:ea typeface="Cambria Math" panose="02040503050406030204" pitchFamily="18" charset="0"/>
                                      </a:rPr>
                                      <m:t>𝑧</m:t>
                                    </m:r>
                                  </m:sub>
                                  <m:sup/>
                                  <m:e>
                                    <m:r>
                                      <a:rPr lang="en-US" altLang="ja-JP">
                                        <a:latin typeface="Cambria Math" panose="02040503050406030204" pitchFamily="18" charset="0"/>
                                        <a:ea typeface="Cambria Math" panose="02040503050406030204" pitchFamily="18" charset="0"/>
                                      </a:rPr>
                                      <m:t>𝑃</m:t>
                                    </m:r>
                                    <m:d>
                                      <m:dPr>
                                        <m:ctrlPr>
                                          <a:rPr lang="en-US" altLang="ja-JP" i="1">
                                            <a:latin typeface="Cambria Math" panose="02040503050406030204" pitchFamily="18" charset="0"/>
                                            <a:ea typeface="Cambria Math" panose="02040503050406030204" pitchFamily="18" charset="0"/>
                                          </a:rPr>
                                        </m:ctrlPr>
                                      </m:dPr>
                                      <m:e>
                                        <m:r>
                                          <a:rPr lang="en-US" altLang="ja-JP" i="1" smtClean="0">
                                            <a:latin typeface="Cambria Math" panose="02040503050406030204" pitchFamily="18" charset="0"/>
                                            <a:ea typeface="Cambria Math" panose="02040503050406030204" pitchFamily="18" charset="0"/>
                                          </a:rPr>
                                          <m:t>𝑥</m:t>
                                        </m:r>
                                        <m:r>
                                          <a:rPr lang="en-US" altLang="ja-JP" b="0" i="0" smtClean="0">
                                            <a:latin typeface="Cambria Math" panose="02040503050406030204" pitchFamily="18" charset="0"/>
                                            <a:ea typeface="Cambria Math" panose="02040503050406030204" pitchFamily="18" charset="0"/>
                                          </a:rPr>
                                          <m:t>,</m:t>
                                        </m:r>
                                        <m:r>
                                          <m:rPr>
                                            <m:sty m:val="p"/>
                                          </m:rPr>
                                          <a:rPr lang="en-US" altLang="ja-JP">
                                            <a:latin typeface="Cambria Math" panose="02040503050406030204" pitchFamily="18" charset="0"/>
                                            <a:ea typeface="Cambria Math" panose="02040503050406030204" pitchFamily="18" charset="0"/>
                                          </a:rPr>
                                          <m:t>y</m:t>
                                        </m:r>
                                        <m:r>
                                          <a:rPr lang="en-US" altLang="ja-JP">
                                            <a:latin typeface="Cambria Math" panose="02040503050406030204" pitchFamily="18" charset="0"/>
                                            <a:ea typeface="Cambria Math" panose="02040503050406030204" pitchFamily="18" charset="0"/>
                                          </a:rPr>
                                          <m:t>,</m:t>
                                        </m:r>
                                        <m:r>
                                          <m:rPr>
                                            <m:sty m:val="p"/>
                                          </m:rPr>
                                          <a:rPr lang="en-US" altLang="ja-JP">
                                            <a:latin typeface="Cambria Math" panose="02040503050406030204" pitchFamily="18" charset="0"/>
                                            <a:ea typeface="Cambria Math" panose="02040503050406030204" pitchFamily="18" charset="0"/>
                                          </a:rPr>
                                          <m:t>z</m:t>
                                        </m:r>
                                      </m:e>
                                    </m:d>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970641"/>
                      </a:ext>
                    </a:extLst>
                  </a:tr>
                  <a:tr h="370840">
                    <a:tc>
                      <a:txBody>
                        <a:bodyPr/>
                        <a:lstStyle/>
                        <a:p>
                          <a:pPr algn="ctr"/>
                          <a:r>
                            <a:rPr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latin typeface="Cambria Math" panose="02040503050406030204" pitchFamily="18" charset="0"/>
                              <a:ea typeface="Cambria Math" panose="02040503050406030204" pitchFamily="18" charset="0"/>
                            </a:rPr>
                            <a:t>P(z)</a:t>
                          </a:r>
                          <a:r>
                            <a:rPr lang="ja-JP" altLang="ja-JP" dirty="0">
                              <a:latin typeface="Cambria Math" panose="02040503050406030204" pitchFamily="18" charset="0"/>
                            </a:rPr>
                            <a:t> </a:t>
                          </a:r>
                          <a14:m>
                            <m:oMath xmlns:m="http://schemas.openxmlformats.org/officeDocument/2006/math">
                              <m:nary>
                                <m:naryPr>
                                  <m:chr m:val="∑"/>
                                  <m:supHide m:val="on"/>
                                  <m:ctrlPr>
                                    <a:rPr lang="ja-JP" altLang="ja-JP" i="1">
                                      <a:latin typeface="Cambria Math" panose="02040503050406030204" pitchFamily="18" charset="0"/>
                                    </a:rPr>
                                  </m:ctrlPr>
                                </m:naryPr>
                                <m:sub>
                                  <m:r>
                                    <m:rPr>
                                      <m:brk m:alnAt="7"/>
                                    </m:rPr>
                                    <a:rPr lang="en-US" altLang="ja-JP">
                                      <a:latin typeface="Cambria Math" panose="02040503050406030204" pitchFamily="18" charset="0"/>
                                      <a:ea typeface="Cambria Math" panose="02040503050406030204" pitchFamily="18" charset="0"/>
                                    </a:rPr>
                                    <m:t>𝑧</m:t>
                                  </m:r>
                                </m:sub>
                                <m:sup/>
                                <m:e>
                                  <m:r>
                                    <a:rPr lang="en-US" altLang="ja-JP">
                                      <a:latin typeface="Cambria Math" panose="02040503050406030204" pitchFamily="18" charset="0"/>
                                      <a:ea typeface="Cambria Math" panose="02040503050406030204" pitchFamily="18" charset="0"/>
                                    </a:rPr>
                                    <m:t>𝑃</m:t>
                                  </m:r>
                                  <m:d>
                                    <m:dPr>
                                      <m:ctrlPr>
                                        <a:rPr lang="en-US" altLang="ja-JP" i="1">
                                          <a:latin typeface="Cambria Math" panose="02040503050406030204" pitchFamily="18" charset="0"/>
                                          <a:ea typeface="Cambria Math" panose="02040503050406030204" pitchFamily="18" charset="0"/>
                                        </a:rPr>
                                      </m:ctrlPr>
                                    </m:dPr>
                                    <m:e>
                                      <m:r>
                                        <m:rPr>
                                          <m:sty m:val="p"/>
                                        </m:rPr>
                                        <a:rPr lang="en-US" altLang="ja-JP">
                                          <a:latin typeface="Cambria Math" panose="02040503050406030204" pitchFamily="18" charset="0"/>
                                          <a:ea typeface="Cambria Math" panose="02040503050406030204" pitchFamily="18" charset="0"/>
                                        </a:rPr>
                                        <m:t>y</m:t>
                                      </m:r>
                                      <m:r>
                                        <a:rPr lang="en-US" altLang="ja-JP">
                                          <a:latin typeface="Cambria Math" panose="02040503050406030204" pitchFamily="18" charset="0"/>
                                          <a:ea typeface="Cambria Math" panose="02040503050406030204" pitchFamily="18" charset="0"/>
                                        </a:rPr>
                                        <m:t>,</m:t>
                                      </m:r>
                                      <m:r>
                                        <m:rPr>
                                          <m:sty m:val="p"/>
                                        </m:rPr>
                                        <a:rPr lang="en-US" altLang="ja-JP" b="0" i="0" smtClean="0">
                                          <a:latin typeface="Cambria Math" panose="02040503050406030204" pitchFamily="18" charset="0"/>
                                          <a:ea typeface="Cambria Math" panose="02040503050406030204" pitchFamily="18" charset="0"/>
                                        </a:rPr>
                                        <m:t>x</m:t>
                                      </m:r>
                                      <m:r>
                                        <a:rPr lang="en-US" altLang="ja-JP" i="1">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𝑧</m:t>
                                      </m:r>
                                    </m:e>
                                  </m:d>
                                </m:e>
                              </m:nary>
                            </m:oMath>
                          </a14:m>
                          <a:endParaRPr lang="ja-JP" altLang="ja-JP"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472147"/>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Cambria Math" panose="02040503050406030204" pitchFamily="18" charset="0"/>
                            </a:rPr>
                            <a:t> </a:t>
                          </a:r>
                          <a14:m>
                            <m:oMath xmlns:m="http://schemas.openxmlformats.org/officeDocument/2006/math">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z</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oMath>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911825"/>
                      </a:ext>
                    </a:extLst>
                  </a:tr>
                </a:tbl>
              </a:graphicData>
            </a:graphic>
          </p:graphicFrame>
        </mc:Choice>
        <mc:Fallback xmlns="">
          <p:graphicFrame>
            <p:nvGraphicFramePr>
              <p:cNvPr id="30" name="表 29">
                <a:extLst>
                  <a:ext uri="{FF2B5EF4-FFF2-40B4-BE49-F238E27FC236}">
                    <a16:creationId xmlns:a16="http://schemas.microsoft.com/office/drawing/2014/main" id="{E843FBA3-ED5A-4C0A-80FF-CB8D6178709D}"/>
                  </a:ext>
                </a:extLst>
              </p:cNvPr>
              <p:cNvGraphicFramePr>
                <a:graphicFrameLocks noGrp="1"/>
              </p:cNvGraphicFramePr>
              <p:nvPr>
                <p:extLst>
                  <p:ext uri="{D42A27DB-BD31-4B8C-83A1-F6EECF244321}">
                    <p14:modId xmlns:p14="http://schemas.microsoft.com/office/powerpoint/2010/main" val="2487270564"/>
                  </p:ext>
                </p:extLst>
              </p:nvPr>
            </p:nvGraphicFramePr>
            <p:xfrm>
              <a:off x="540000" y="2340000"/>
              <a:ext cx="4988053" cy="149733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858439037"/>
                        </a:ext>
                      </a:extLst>
                    </a:gridCol>
                    <a:gridCol w="828993">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3264662">
                      <a:extLst>
                        <a:ext uri="{9D8B030D-6E8A-4147-A177-3AD203B41FA5}">
                          <a16:colId xmlns:a16="http://schemas.microsoft.com/office/drawing/2014/main" val="1342385149"/>
                        </a:ext>
                      </a:extLst>
                    </a:gridCol>
                  </a:tblGrid>
                  <a:tr h="755650">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2388" t="-800" r="-801493" b="-18800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2799" t="-800" r="-187" b="-188000"/>
                          </a:stretch>
                        </a:blipFill>
                      </a:tcPr>
                    </a:tc>
                    <a:extLst>
                      <a:ext uri="{0D108BD9-81ED-4DB2-BD59-A6C34878D82A}">
                        <a16:rowId xmlns:a16="http://schemas.microsoft.com/office/drawing/2014/main" val="2762970641"/>
                      </a:ext>
                    </a:extLst>
                  </a:tr>
                  <a:tr h="370840">
                    <a:tc>
                      <a:txBody>
                        <a:bodyPr/>
                        <a:lstStyle/>
                        <a:p>
                          <a:pPr algn="ctr"/>
                          <a:r>
                            <a:rPr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2388" t="-206557" r="-801493" b="-285246"/>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2799" t="-206557" r="-187" b="-285246"/>
                          </a:stretch>
                        </a:blipFill>
                      </a:tcPr>
                    </a:tc>
                    <a:extLst>
                      <a:ext uri="{0D108BD9-81ED-4DB2-BD59-A6C34878D82A}">
                        <a16:rowId xmlns:a16="http://schemas.microsoft.com/office/drawing/2014/main" val="4258472147"/>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2388" t="-306557" r="-801493" b="-185246"/>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2799" t="-306557" r="-187" b="-185246"/>
                          </a:stretch>
                        </a:blipFill>
                      </a:tcPr>
                    </a:tc>
                    <a:extLst>
                      <a:ext uri="{0D108BD9-81ED-4DB2-BD59-A6C34878D82A}">
                        <a16:rowId xmlns:a16="http://schemas.microsoft.com/office/drawing/2014/main" val="3427911825"/>
                      </a:ext>
                    </a:extLst>
                  </a:tr>
                </a:tbl>
              </a:graphicData>
            </a:graphic>
          </p:graphicFrame>
        </mc:Fallback>
      </mc:AlternateContent>
    </p:spTree>
    <p:extLst>
      <p:ext uri="{BB962C8B-B14F-4D97-AF65-F5344CB8AC3E}">
        <p14:creationId xmlns:p14="http://schemas.microsoft.com/office/powerpoint/2010/main" val="3580576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ja-JP" altLang="en-US" dirty="0"/>
              <a:t>式（</a:t>
            </a:r>
            <a:r>
              <a:rPr lang="en-US" altLang="ja-JP" dirty="0"/>
              <a:t>2</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p:txBody>
          <a:bodyPr/>
          <a:lstStyle/>
          <a:p>
            <a:r>
              <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rPr>
              <a:t>PLSA</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の実行では、</a:t>
            </a:r>
            <a:r>
              <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rPr>
              <a:t>3</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種類の確率変数</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P(</a:t>
            </a:r>
            <a:r>
              <a:rPr kumimoji="1" lang="en-US" altLang="ja-JP" sz="2000" b="1" kern="1200" dirty="0" err="1">
                <a:solidFill>
                  <a:schemeClr val="tx1"/>
                </a:solidFill>
                <a:effectLst/>
                <a:latin typeface="Cambria Math" panose="02040503050406030204" pitchFamily="18" charset="0"/>
                <a:ea typeface="Cambria Math" panose="02040503050406030204" pitchFamily="18" charset="0"/>
              </a:rPr>
              <a:t>x|z</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 P(</a:t>
            </a:r>
            <a:r>
              <a:rPr kumimoji="1" lang="en-US" altLang="ja-JP" sz="2000" b="1" kern="1200" dirty="0" err="1">
                <a:solidFill>
                  <a:schemeClr val="tx1"/>
                </a:solidFill>
                <a:effectLst/>
                <a:latin typeface="Cambria Math" panose="02040503050406030204" pitchFamily="18" charset="0"/>
                <a:ea typeface="Cambria Math" panose="02040503050406030204" pitchFamily="18" charset="0"/>
              </a:rPr>
              <a:t>y|z</a:t>
            </a:r>
            <a:r>
              <a:rPr kumimoji="1" lang="en-US" altLang="ja-JP" sz="2000" b="1" kern="1200" dirty="0">
                <a:solidFill>
                  <a:schemeClr val="tx1"/>
                </a:solidFill>
                <a:effectLst/>
                <a:latin typeface="Cambria Math" panose="02040503050406030204" pitchFamily="18" charset="0"/>
                <a:ea typeface="Cambria Math" panose="02040503050406030204" pitchFamily="18" charset="0"/>
              </a:rPr>
              <a:t>), P(z)</a:t>
            </a:r>
            <a:r>
              <a:rPr kumimoji="1" lang="ja-JP" altLang="ja-JP" sz="2000" b="1" kern="1200" dirty="0">
                <a:solidFill>
                  <a:schemeClr val="tx1"/>
                </a:solidFill>
                <a:effectLst/>
                <a:latin typeface="Meiryo UI" panose="020B0604030504040204" pitchFamily="50" charset="-128"/>
                <a:ea typeface="Meiryo UI" panose="020B0604030504040204" pitchFamily="50" charset="-128"/>
                <a:cs typeface="+mn-cs"/>
              </a:rPr>
              <a:t>を計算することが最終アウトプット</a:t>
            </a:r>
            <a:r>
              <a:rPr kumimoji="1" lang="ja-JP" altLang="en-US" sz="2000" b="1" kern="1200" dirty="0">
                <a:solidFill>
                  <a:schemeClr val="tx1"/>
                </a:solidFill>
                <a:effectLst/>
                <a:latin typeface="Meiryo UI" panose="020B0604030504040204" pitchFamily="50" charset="-128"/>
                <a:ea typeface="Meiryo UI" panose="020B0604030504040204" pitchFamily="50" charset="-128"/>
                <a:cs typeface="+mn-cs"/>
              </a:rPr>
              <a:t>になります。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mc:AlternateContent xmlns:mc="http://schemas.openxmlformats.org/markup-compatibility/2006" xmlns:a14="http://schemas.microsoft.com/office/drawing/2010/main">
        <mc:Choice Requires="a14">
          <p:graphicFrame>
            <p:nvGraphicFramePr>
              <p:cNvPr id="11" name="表 10">
                <a:extLst>
                  <a:ext uri="{FF2B5EF4-FFF2-40B4-BE49-F238E27FC236}">
                    <a16:creationId xmlns:a16="http://schemas.microsoft.com/office/drawing/2014/main" id="{3E8ADC24-087D-4942-BC23-384A846CB782}"/>
                  </a:ext>
                </a:extLst>
              </p:cNvPr>
              <p:cNvGraphicFramePr>
                <a:graphicFrameLocks noGrp="1"/>
              </p:cNvGraphicFramePr>
              <p:nvPr>
                <p:extLst>
                  <p:ext uri="{D42A27DB-BD31-4B8C-83A1-F6EECF244321}">
                    <p14:modId xmlns:p14="http://schemas.microsoft.com/office/powerpoint/2010/main" val="598232876"/>
                  </p:ext>
                </p:extLst>
              </p:nvPr>
            </p:nvGraphicFramePr>
            <p:xfrm>
              <a:off x="540000" y="2340000"/>
              <a:ext cx="7281164" cy="2768473"/>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713130767"/>
                        </a:ext>
                      </a:extLst>
                    </a:gridCol>
                    <a:gridCol w="355917">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6030849">
                      <a:extLst>
                        <a:ext uri="{9D8B030D-6E8A-4147-A177-3AD203B41FA5}">
                          <a16:colId xmlns:a16="http://schemas.microsoft.com/office/drawing/2014/main" val="1342385149"/>
                        </a:ext>
                      </a:extLst>
                    </a:gridCol>
                  </a:tblGrid>
                  <a:tr h="370840">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log</a:t>
                          </a:r>
                          <a14:m>
                            <m:oMath xmlns:m="http://schemas.openxmlformats.org/officeDocument/2006/math">
                              <m:nary>
                                <m:naryPr>
                                  <m:chr m:val="∏"/>
                                  <m:supHide m:val="on"/>
                                  <m:ctrlPr>
                                    <a:rPr kumimoji="1" lang="ja-JP" altLang="en-US" i="1" smtClean="0">
                                      <a:latin typeface="Cambria Math" panose="02040503050406030204" pitchFamily="18" charset="0"/>
                                    </a:rPr>
                                  </m:ctrlPr>
                                </m:naryPr>
                                <m:sub>
                                  <m:r>
                                    <a:rPr kumimoji="1" lang="en-US" altLang="ja-JP" b="0" i="1" smtClean="0">
                                      <a:latin typeface="Cambria Math" panose="02040503050406030204" pitchFamily="18" charset="0"/>
                                    </a:rPr>
                                    <m:t>𝑥</m:t>
                                  </m:r>
                                </m:sub>
                                <m:sup/>
                                <m:e>
                                  <m:nary>
                                    <m:naryPr>
                                      <m:chr m:val="∏"/>
                                      <m:supHide m:val="on"/>
                                      <m:ctrlPr>
                                        <a:rPr kumimoji="1" lang="en-US" altLang="ja-JP" i="1" smtClean="0">
                                          <a:latin typeface="Cambria Math" panose="02040503050406030204" pitchFamily="18" charset="0"/>
                                        </a:rPr>
                                      </m:ctrlPr>
                                    </m:naryPr>
                                    <m:sub>
                                      <m:r>
                                        <a:rPr kumimoji="1" lang="en-US" altLang="ja-JP" b="0" i="1" smtClean="0">
                                          <a:latin typeface="Cambria Math" panose="02040503050406030204" pitchFamily="18" charset="0"/>
                                        </a:rPr>
                                        <m:t>𝑦</m:t>
                                      </m:r>
                                    </m:sub>
                                    <m:sup/>
                                    <m:e>
                                      <m:sSup>
                                        <m:sSupPr>
                                          <m:ctrlPr>
                                            <a:rPr kumimoji="1" lang="en-US" altLang="ja-JP" i="1" smtClean="0">
                                              <a:latin typeface="Cambria Math" panose="02040503050406030204" pitchFamily="18" charset="0"/>
                                            </a:rPr>
                                          </m:ctrlPr>
                                        </m:sSupPr>
                                        <m:e>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e>
                                        <m:sup>
                                          <m:r>
                                            <a:rPr kumimoji="1" lang="en-US" altLang="ja-JP" b="0" i="1" smtClean="0">
                                              <a:latin typeface="Cambria Math" panose="02040503050406030204" pitchFamily="18" charset="0"/>
                                            </a:rPr>
                                            <m:t>𝑁</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sup>
                                      </m:sSup>
                                    </m:e>
                                  </m:nary>
                                </m:e>
                              </m:nary>
                            </m:oMath>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082841"/>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e>
                                        </m:func>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97832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728609"/>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④</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e>
                                            </m:nary>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1283781"/>
                      </a:ext>
                    </a:extLst>
                  </a:tr>
                </a:tbl>
              </a:graphicData>
            </a:graphic>
          </p:graphicFrame>
        </mc:Choice>
        <mc:Fallback xmlns="">
          <p:graphicFrame>
            <p:nvGraphicFramePr>
              <p:cNvPr id="11" name="表 10">
                <a:extLst>
                  <a:ext uri="{FF2B5EF4-FFF2-40B4-BE49-F238E27FC236}">
                    <a16:creationId xmlns:a16="http://schemas.microsoft.com/office/drawing/2014/main" id="{3E8ADC24-087D-4942-BC23-384A846CB782}"/>
                  </a:ext>
                </a:extLst>
              </p:cNvPr>
              <p:cNvGraphicFramePr>
                <a:graphicFrameLocks noGrp="1"/>
              </p:cNvGraphicFramePr>
              <p:nvPr>
                <p:extLst>
                  <p:ext uri="{D42A27DB-BD31-4B8C-83A1-F6EECF244321}">
                    <p14:modId xmlns:p14="http://schemas.microsoft.com/office/powerpoint/2010/main" val="598232876"/>
                  </p:ext>
                </p:extLst>
              </p:nvPr>
            </p:nvGraphicFramePr>
            <p:xfrm>
              <a:off x="540000" y="2340000"/>
              <a:ext cx="7281164" cy="2768473"/>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713130767"/>
                        </a:ext>
                      </a:extLst>
                    </a:gridCol>
                    <a:gridCol w="355917">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6030849">
                      <a:extLst>
                        <a:ext uri="{9D8B030D-6E8A-4147-A177-3AD203B41FA5}">
                          <a16:colId xmlns:a16="http://schemas.microsoft.com/office/drawing/2014/main" val="1342385149"/>
                        </a:ext>
                      </a:extLst>
                    </a:gridCol>
                  </a:tblGrid>
                  <a:tr h="405130">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0707" t="-101493" r="-202" b="-582090"/>
                          </a:stretch>
                        </a:blipFill>
                      </a:tcPr>
                    </a:tc>
                    <a:extLst>
                      <a:ext uri="{0D108BD9-81ED-4DB2-BD59-A6C34878D82A}">
                        <a16:rowId xmlns:a16="http://schemas.microsoft.com/office/drawing/2014/main" val="2366082841"/>
                      </a:ext>
                    </a:extLst>
                  </a:tr>
                  <a:tr h="787781">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0606" t="-104651" r="-1503030" b="-202326"/>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707" t="-104651" r="-202" b="-202326"/>
                          </a:stretch>
                        </a:blipFill>
                      </a:tcPr>
                    </a:tc>
                    <a:extLst>
                      <a:ext uri="{0D108BD9-81ED-4DB2-BD59-A6C34878D82A}">
                        <a16:rowId xmlns:a16="http://schemas.microsoft.com/office/drawing/2014/main" val="949978322"/>
                      </a:ext>
                    </a:extLst>
                  </a:tr>
                  <a:tr h="787781">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0606" t="-203077" r="-1503030" b="-100769"/>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707" t="-203077" r="-202" b="-100769"/>
                          </a:stretch>
                        </a:blipFill>
                      </a:tcPr>
                    </a:tc>
                    <a:extLst>
                      <a:ext uri="{0D108BD9-81ED-4DB2-BD59-A6C34878D82A}">
                        <a16:rowId xmlns:a16="http://schemas.microsoft.com/office/drawing/2014/main" val="2118728609"/>
                      </a:ext>
                    </a:extLst>
                  </a:tr>
                  <a:tr h="787781">
                    <a:tc>
                      <a:txBody>
                        <a:bodyPr/>
                        <a:lstStyle/>
                        <a:p>
                          <a:pPr algn="ctr"/>
                          <a:r>
                            <a:rPr kumimoji="1" lang="ja-JP" altLang="en-US" dirty="0">
                              <a:latin typeface="Meiryo UI" panose="020B0604030504040204" pitchFamily="50" charset="-128"/>
                              <a:ea typeface="Meiryo UI" panose="020B0604030504040204" pitchFamily="50" charset="-128"/>
                            </a:rPr>
                            <a:t>④</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0606" t="-303077" r="-1503030" b="-769"/>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707" t="-303077" r="-202" b="-769"/>
                          </a:stretch>
                        </a:blipFill>
                      </a:tcPr>
                    </a:tc>
                    <a:extLst>
                      <a:ext uri="{0D108BD9-81ED-4DB2-BD59-A6C34878D82A}">
                        <a16:rowId xmlns:a16="http://schemas.microsoft.com/office/drawing/2014/main" val="1901283781"/>
                      </a:ext>
                    </a:extLst>
                  </a:tr>
                </a:tbl>
              </a:graphicData>
            </a:graphic>
          </p:graphicFrame>
        </mc:Fallback>
      </mc:AlternateContent>
      <p:sp>
        <p:nvSpPr>
          <p:cNvPr id="4" name="正方形/長方形 3">
            <a:extLst>
              <a:ext uri="{FF2B5EF4-FFF2-40B4-BE49-F238E27FC236}">
                <a16:creationId xmlns:a16="http://schemas.microsoft.com/office/drawing/2014/main" id="{3393AAA7-2584-4A9F-9F46-5CB70C400EB2}"/>
              </a:ext>
            </a:extLst>
          </p:cNvPr>
          <p:cNvSpPr/>
          <p:nvPr/>
        </p:nvSpPr>
        <p:spPr>
          <a:xfrm>
            <a:off x="539999" y="5468473"/>
            <a:ext cx="9360000" cy="646331"/>
          </a:xfrm>
          <a:prstGeom prst="rect">
            <a:avLst/>
          </a:prstGeom>
        </p:spPr>
        <p:txBody>
          <a:bodyPr wrap="square">
            <a:spAutoFit/>
          </a:bodyPr>
          <a:lstStyle/>
          <a:p>
            <a:r>
              <a:rPr lang="en-US" altLang="ja-JP" dirty="0">
                <a:latin typeface="Cambria Math" panose="02040503050406030204" pitchFamily="18" charset="0"/>
                <a:ea typeface="Cambria Math" panose="02040503050406030204" pitchFamily="18" charset="0"/>
              </a:rPr>
              <a:t>N(</a:t>
            </a:r>
            <a:r>
              <a:rPr lang="en-US" altLang="ja-JP" dirty="0" err="1">
                <a:latin typeface="Cambria Math" panose="02040503050406030204" pitchFamily="18" charset="0"/>
                <a:ea typeface="Cambria Math" panose="02040503050406030204" pitchFamily="18" charset="0"/>
              </a:rPr>
              <a:t>x,y</a:t>
            </a:r>
            <a:r>
              <a:rPr lang="en-US" altLang="ja-JP" dirty="0">
                <a:latin typeface="Cambria Math" panose="02040503050406030204" pitchFamily="18" charset="0"/>
                <a:ea typeface="Cambria Math" panose="02040503050406030204" pitchFamily="18" charset="0"/>
              </a:rPr>
              <a:t>)</a:t>
            </a:r>
            <a:r>
              <a:rPr lang="ja-JP" altLang="en-US" dirty="0">
                <a:latin typeface="Meiryo UI" panose="020B0604030504040204" pitchFamily="50" charset="-128"/>
                <a:ea typeface="Meiryo UI" panose="020B0604030504040204" pitchFamily="50" charset="-128"/>
              </a:rPr>
              <a:t>は文書</a:t>
            </a:r>
            <a:r>
              <a:rPr lang="en-US" altLang="ja-JP" dirty="0">
                <a:latin typeface="Cambria Math" panose="02040503050406030204" pitchFamily="18" charset="0"/>
                <a:ea typeface="Cambria Math" panose="02040503050406030204" pitchFamily="18" charset="0"/>
              </a:rPr>
              <a:t>x</a:t>
            </a:r>
            <a:r>
              <a:rPr lang="ja-JP" altLang="en-US" dirty="0">
                <a:latin typeface="Meiryo UI" panose="020B0604030504040204" pitchFamily="50" charset="-128"/>
                <a:ea typeface="Meiryo UI" panose="020B0604030504040204" pitchFamily="50" charset="-128"/>
              </a:rPr>
              <a:t>で単語</a:t>
            </a:r>
            <a:r>
              <a:rPr lang="en-US" altLang="ja-JP" dirty="0">
                <a:latin typeface="Cambria Math" panose="02040503050406030204" pitchFamily="18" charset="0"/>
                <a:ea typeface="Cambria Math" panose="02040503050406030204" pitchFamily="18" charset="0"/>
              </a:rPr>
              <a:t>y</a:t>
            </a:r>
            <a:r>
              <a:rPr lang="ja-JP" altLang="en-US" dirty="0">
                <a:latin typeface="Meiryo UI" panose="020B0604030504040204" pitchFamily="50" charset="-128"/>
                <a:ea typeface="Meiryo UI" panose="020B0604030504040204" pitchFamily="50" charset="-128"/>
              </a:rPr>
              <a:t>が出現する回数です</a:t>
            </a:r>
            <a:br>
              <a:rPr lang="ja-JP" altLang="en-US" dirty="0">
                <a:latin typeface="Meiryo UI" panose="020B0604030504040204" pitchFamily="50" charset="-128"/>
                <a:ea typeface="Meiryo UI" panose="020B0604030504040204" pitchFamily="50" charset="-128"/>
              </a:rPr>
            </a:br>
            <a:r>
              <a:rPr lang="en-US" altLang="ja-JP" dirty="0">
                <a:latin typeface="Meiryo UI" panose="020B0604030504040204" pitchFamily="50" charset="-128"/>
                <a:ea typeface="Meiryo UI" panose="020B0604030504040204" pitchFamily="50" charset="-128"/>
              </a:rPr>
              <a:t>EM</a:t>
            </a:r>
            <a:r>
              <a:rPr lang="ja-JP" altLang="en-US" dirty="0">
                <a:latin typeface="Meiryo UI" panose="020B0604030504040204" pitchFamily="50" charset="-128"/>
                <a:ea typeface="Meiryo UI" panose="020B0604030504040204" pitchFamily="50" charset="-128"/>
              </a:rPr>
              <a:t>アルゴリズムの</a:t>
            </a:r>
            <a:r>
              <a:rPr lang="en-US" altLang="ja-JP" dirty="0">
                <a:latin typeface="Meiryo UI" panose="020B0604030504040204" pitchFamily="50" charset="-128"/>
                <a:ea typeface="Meiryo UI" panose="020B0604030504040204" pitchFamily="50" charset="-128"/>
              </a:rPr>
              <a:t>E-Step</a:t>
            </a:r>
            <a:r>
              <a:rPr lang="ja-JP" altLang="en-US" dirty="0">
                <a:latin typeface="Meiryo UI" panose="020B0604030504040204" pitchFamily="50" charset="-128"/>
                <a:ea typeface="Meiryo UI" panose="020B0604030504040204" pitchFamily="50" charset="-128"/>
              </a:rPr>
              <a:t>で求める潜在クラスタ</a:t>
            </a:r>
            <a:r>
              <a:rPr lang="en-US" altLang="ja-JP" dirty="0">
                <a:latin typeface="Meiryo UI" panose="020B0604030504040204" pitchFamily="50" charset="-128"/>
                <a:ea typeface="Meiryo UI" panose="020B0604030504040204" pitchFamily="50" charset="-128"/>
              </a:rPr>
              <a:t>z</a:t>
            </a:r>
            <a:r>
              <a:rPr lang="ja-JP" altLang="en-US" dirty="0">
                <a:latin typeface="Meiryo UI" panose="020B0604030504040204" pitchFamily="50" charset="-128"/>
                <a:ea typeface="Meiryo UI" panose="020B0604030504040204" pitchFamily="50" charset="-128"/>
              </a:rPr>
              <a:t>の事後分布を、上記のように変形することで、求めます</a:t>
            </a:r>
          </a:p>
        </p:txBody>
      </p:sp>
      <p:sp>
        <p:nvSpPr>
          <p:cNvPr id="12" name="正方形/長方形 11">
            <a:extLst>
              <a:ext uri="{FF2B5EF4-FFF2-40B4-BE49-F238E27FC236}">
                <a16:creationId xmlns:a16="http://schemas.microsoft.com/office/drawing/2014/main" id="{3782FD58-E8ED-4C12-B5ED-4206044C3D4B}"/>
              </a:ext>
            </a:extLst>
          </p:cNvPr>
          <p:cNvSpPr/>
          <p:nvPr/>
        </p:nvSpPr>
        <p:spPr>
          <a:xfrm>
            <a:off x="3386249" y="1980000"/>
            <a:ext cx="2404826"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2</a:t>
            </a:r>
            <a:r>
              <a:rPr lang="ja-JP" altLang="en-US" b="1" dirty="0">
                <a:latin typeface="Meiryo UI" panose="020B0604030504040204" pitchFamily="50" charset="-128"/>
                <a:ea typeface="Meiryo UI" panose="020B0604030504040204" pitchFamily="50" charset="-128"/>
              </a:rPr>
              <a:t>）対数尤度関数</a:t>
            </a:r>
          </a:p>
        </p:txBody>
      </p:sp>
    </p:spTree>
    <p:extLst>
      <p:ext uri="{BB962C8B-B14F-4D97-AF65-F5344CB8AC3E}">
        <p14:creationId xmlns:p14="http://schemas.microsoft.com/office/powerpoint/2010/main" val="79217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1" name="表 10">
                <a:extLst>
                  <a:ext uri="{FF2B5EF4-FFF2-40B4-BE49-F238E27FC236}">
                    <a16:creationId xmlns:a16="http://schemas.microsoft.com/office/drawing/2014/main" id="{3E8ADC24-087D-4942-BC23-384A846CB782}"/>
                  </a:ext>
                </a:extLst>
              </p:cNvPr>
              <p:cNvGraphicFramePr>
                <a:graphicFrameLocks noGrp="1"/>
              </p:cNvGraphicFramePr>
              <p:nvPr>
                <p:extLst>
                  <p:ext uri="{D42A27DB-BD31-4B8C-83A1-F6EECF244321}">
                    <p14:modId xmlns:p14="http://schemas.microsoft.com/office/powerpoint/2010/main" val="2751221891"/>
                  </p:ext>
                </p:extLst>
              </p:nvPr>
            </p:nvGraphicFramePr>
            <p:xfrm>
              <a:off x="540000" y="2340000"/>
              <a:ext cx="7263426" cy="3059684"/>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3837126085"/>
                        </a:ext>
                      </a:extLst>
                    </a:gridCol>
                    <a:gridCol w="338179">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6030849">
                      <a:extLst>
                        <a:ext uri="{9D8B030D-6E8A-4147-A177-3AD203B41FA5}">
                          <a16:colId xmlns:a16="http://schemas.microsoft.com/office/drawing/2014/main" val="1342385149"/>
                        </a:ext>
                      </a:extLst>
                    </a:gridCol>
                  </a:tblGrid>
                  <a:tr h="370840">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Name>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e>
                                            </m:nary>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9923118"/>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m:rPr>
                                                    <m:sty m:val="p"/>
                                                  </m:rPr>
                                                  <a:rPr kumimoji="1" lang="en-US" altLang="ja-JP" smtClean="0">
                                                    <a:latin typeface="Cambria Math" panose="02040503050406030204" pitchFamily="18" charset="0"/>
                                                    <a:ea typeface="Cambria Math" panose="02040503050406030204" pitchFamily="18" charset="0"/>
                                                  </a:rPr>
                                                  <m:t>P</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fName>
                                          <m:e>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97832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 </m:t>
                                            </m:r>
                                          </m:fName>
                                          <m:e>
                                            <m:r>
                                              <m:rPr>
                                                <m:nor/>
                                              </m:rPr>
                                              <a:rPr kumimoji="1" lang="ja-JP" altLang="en-US" dirty="0">
                                                <a:latin typeface="Cambria Math" panose="02040503050406030204" pitchFamily="18" charset="0"/>
                                              </a:rPr>
                                              <m:t> </m:t>
                                            </m:r>
                                          </m:e>
                                        </m:func>
                                      </m:e>
                                    </m:nary>
                                  </m:e>
                                </m:nary>
                              </m:oMath>
                            </m:oMathPara>
                          </a14:m>
                          <a:endParaRPr kumimoji="1" lang="en-US" altLang="ja-JP"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e>
                                            </m:d>
                                          </m:fName>
                                          <m:e>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728609"/>
                      </a:ext>
                    </a:extLst>
                  </a:tr>
                </a:tbl>
              </a:graphicData>
            </a:graphic>
          </p:graphicFrame>
        </mc:Choice>
        <mc:Fallback xmlns="">
          <p:graphicFrame>
            <p:nvGraphicFramePr>
              <p:cNvPr id="11" name="表 10">
                <a:extLst>
                  <a:ext uri="{FF2B5EF4-FFF2-40B4-BE49-F238E27FC236}">
                    <a16:creationId xmlns:a16="http://schemas.microsoft.com/office/drawing/2014/main" id="{3E8ADC24-087D-4942-BC23-384A846CB782}"/>
                  </a:ext>
                </a:extLst>
              </p:cNvPr>
              <p:cNvGraphicFramePr>
                <a:graphicFrameLocks noGrp="1"/>
              </p:cNvGraphicFramePr>
              <p:nvPr>
                <p:extLst>
                  <p:ext uri="{D42A27DB-BD31-4B8C-83A1-F6EECF244321}">
                    <p14:modId xmlns:p14="http://schemas.microsoft.com/office/powerpoint/2010/main" val="2751221891"/>
                  </p:ext>
                </p:extLst>
              </p:nvPr>
            </p:nvGraphicFramePr>
            <p:xfrm>
              <a:off x="540000" y="2340000"/>
              <a:ext cx="7263426" cy="3059684"/>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3837126085"/>
                        </a:ext>
                      </a:extLst>
                    </a:gridCol>
                    <a:gridCol w="338179">
                      <a:extLst>
                        <a:ext uri="{9D8B030D-6E8A-4147-A177-3AD203B41FA5}">
                          <a16:colId xmlns:a16="http://schemas.microsoft.com/office/drawing/2014/main" val="612212733"/>
                        </a:ext>
                      </a:extLst>
                    </a:gridCol>
                    <a:gridCol w="405130">
                      <a:extLst>
                        <a:ext uri="{9D8B030D-6E8A-4147-A177-3AD203B41FA5}">
                          <a16:colId xmlns:a16="http://schemas.microsoft.com/office/drawing/2014/main" val="3400793522"/>
                        </a:ext>
                      </a:extLst>
                    </a:gridCol>
                    <a:gridCol w="6030849">
                      <a:extLst>
                        <a:ext uri="{9D8B030D-6E8A-4147-A177-3AD203B41FA5}">
                          <a16:colId xmlns:a16="http://schemas.microsoft.com/office/drawing/2014/main" val="1342385149"/>
                        </a:ext>
                      </a:extLst>
                    </a:gridCol>
                  </a:tblGrid>
                  <a:tr h="787781">
                    <a:tc>
                      <a:txBody>
                        <a:bodyPr/>
                        <a:lstStyle/>
                        <a:p>
                          <a:pPr algn="ctr"/>
                          <a:r>
                            <a:rPr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06061" r="-1503030" b="-287692"/>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0383" r="-101" b="-287692"/>
                          </a:stretch>
                        </a:blipFill>
                      </a:tcPr>
                    </a:tc>
                    <a:extLst>
                      <a:ext uri="{0D108BD9-81ED-4DB2-BD59-A6C34878D82A}">
                        <a16:rowId xmlns:a16="http://schemas.microsoft.com/office/drawing/2014/main" val="3579923118"/>
                      </a:ext>
                    </a:extLst>
                  </a:tr>
                  <a:tr h="787781">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6061" t="-100775" r="-1503030" b="-189922"/>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383" t="-100775" r="-101" b="-189922"/>
                          </a:stretch>
                        </a:blipFill>
                      </a:tcPr>
                    </a:tc>
                    <a:extLst>
                      <a:ext uri="{0D108BD9-81ED-4DB2-BD59-A6C34878D82A}">
                        <a16:rowId xmlns:a16="http://schemas.microsoft.com/office/drawing/2014/main" val="949978322"/>
                      </a:ext>
                    </a:extLst>
                  </a:tr>
                  <a:tr h="1484122">
                    <a:tc>
                      <a:txBody>
                        <a:bodyPr/>
                        <a:lstStyle/>
                        <a:p>
                          <a:pPr algn="ctr"/>
                          <a:r>
                            <a:rPr kumimoji="1" lang="ja-JP" altLang="en-US" dirty="0">
                              <a:latin typeface="Meiryo UI" panose="020B0604030504040204" pitchFamily="50" charset="-128"/>
                              <a:ea typeface="Meiryo UI" panose="020B0604030504040204" pitchFamily="50" charset="-128"/>
                            </a:rPr>
                            <a:t>③</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6061" t="-106148" r="-1503030" b="-41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383" t="-106148" r="-101" b="-410"/>
                          </a:stretch>
                        </a:blipFill>
                      </a:tcPr>
                    </a:tc>
                    <a:extLst>
                      <a:ext uri="{0D108BD9-81ED-4DB2-BD59-A6C34878D82A}">
                        <a16:rowId xmlns:a16="http://schemas.microsoft.com/office/drawing/2014/main" val="2118728609"/>
                      </a:ext>
                    </a:extLst>
                  </a:tr>
                </a:tbl>
              </a:graphicData>
            </a:graphic>
          </p:graphicFrame>
        </mc:Fallback>
      </mc:AlternateContent>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ja-JP" altLang="en-US" dirty="0"/>
              <a:t>式（</a:t>
            </a:r>
            <a:r>
              <a:rPr lang="en-US" altLang="ja-JP" dirty="0"/>
              <a:t>2</a:t>
            </a:r>
            <a:r>
              <a:rPr lang="ja-JP" altLang="en-US" dirty="0"/>
              <a:t>）から</a:t>
            </a:r>
            <a:r>
              <a:rPr lang="en-US" altLang="ja-JP" dirty="0"/>
              <a:t>EM</a:t>
            </a:r>
            <a:r>
              <a:rPr lang="ja-JP" altLang="en-US" dirty="0"/>
              <a:t>アルゴリズムまで</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b="1" dirty="0"/>
              <a:t>式（</a:t>
            </a:r>
            <a:r>
              <a:rPr lang="en-US" altLang="ja-JP" b="1" dirty="0"/>
              <a:t>2</a:t>
            </a:r>
            <a:r>
              <a:rPr lang="ja-JP" altLang="en-US" b="1" dirty="0"/>
              <a:t>）の対数尤度に対して，イェンセンの方程式を用いて下限を求めます</a:t>
            </a:r>
            <a:endParaRPr lang="en-US" altLang="ja-JP" b="1" dirty="0"/>
          </a:p>
        </p:txBody>
      </p:sp>
      <p:sp>
        <p:nvSpPr>
          <p:cNvPr id="4" name="正方形/長方形 3">
            <a:extLst>
              <a:ext uri="{FF2B5EF4-FFF2-40B4-BE49-F238E27FC236}">
                <a16:creationId xmlns:a16="http://schemas.microsoft.com/office/drawing/2014/main" id="{3393AAA7-2584-4A9F-9F46-5CB70C400EB2}"/>
              </a:ext>
            </a:extLst>
          </p:cNvPr>
          <p:cNvSpPr/>
          <p:nvPr/>
        </p:nvSpPr>
        <p:spPr>
          <a:xfrm>
            <a:off x="540000" y="5420194"/>
            <a:ext cx="9360000" cy="1200329"/>
          </a:xfrm>
          <a:prstGeom prst="rect">
            <a:avLst/>
          </a:prstGeom>
        </p:spPr>
        <p:txBody>
          <a:bodyPr wrap="square">
            <a:spAutoFit/>
          </a:bodyPr>
          <a:lstStyle/>
          <a:p>
            <a:r>
              <a:rPr lang="ja-JP" altLang="en-US" dirty="0">
                <a:latin typeface="Meiryo UI" panose="020B0604030504040204" pitchFamily="50" charset="-128"/>
                <a:ea typeface="Meiryo UI" panose="020B0604030504040204" pitchFamily="50" charset="-128"/>
              </a:rPr>
              <a:t>対数尤度の下限を最大化するパラメータを求めることにより、間接的に対数尤度を最大化します</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https://www.ccn.yamanashi.ac.jp/~tmiyamoto/img/variational_bayes1.pdf</a:t>
            </a:r>
            <a:r>
              <a:rPr lang="ja-JP" altLang="en-US" dirty="0">
                <a:latin typeface="Meiryo UI" panose="020B0604030504040204" pitchFamily="50" charset="-128"/>
                <a:ea typeface="Meiryo UI" panose="020B0604030504040204" pitchFamily="50" charset="-128"/>
              </a:rPr>
              <a:t>）</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クラスタ</a:t>
            </a:r>
            <a:r>
              <a:rPr lang="en-US" altLang="ja-JP" i="1" dirty="0">
                <a:latin typeface="Cambria Math" panose="02040503050406030204" pitchFamily="18" charset="0"/>
                <a:ea typeface="Cambria Math" panose="02040503050406030204" pitchFamily="18" charset="0"/>
              </a:rPr>
              <a:t>z</a:t>
            </a:r>
            <a:r>
              <a:rPr lang="ja-JP" altLang="en-US" dirty="0">
                <a:latin typeface="Meiryo UI" panose="020B0604030504040204" pitchFamily="50" charset="-128"/>
                <a:ea typeface="Meiryo UI" panose="020B0604030504040204" pitchFamily="50" charset="-128"/>
              </a:rPr>
              <a:t>の事後分布からなる</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項目を固定し（</a:t>
            </a:r>
            <a:r>
              <a:rPr lang="en-US" altLang="ja-JP" dirty="0">
                <a:latin typeface="Meiryo UI" panose="020B0604030504040204" pitchFamily="50" charset="-128"/>
                <a:ea typeface="Meiryo UI" panose="020B0604030504040204" pitchFamily="50" charset="-128"/>
              </a:rPr>
              <a:t>E-step</a:t>
            </a:r>
            <a:r>
              <a:rPr lang="ja-JP" altLang="en-US" dirty="0">
                <a:latin typeface="Meiryo UI" panose="020B0604030504040204" pitchFamily="50" charset="-128"/>
                <a:ea typeface="Meiryo UI" panose="020B0604030504040204" pitchFamily="50" charset="-128"/>
              </a:rPr>
              <a:t>）、その他の事後分布を求めます</a:t>
            </a:r>
            <a:r>
              <a:rPr lang="en-US" altLang="ja-JP" dirty="0">
                <a:latin typeface="Meiryo UI" panose="020B0604030504040204" pitchFamily="50" charset="-128"/>
                <a:ea typeface="Meiryo UI" panose="020B0604030504040204" pitchFamily="50" charset="-128"/>
              </a:rPr>
              <a:t>(M-step)</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これを繰り返し、対数尤度が収束するまで行います</a:t>
            </a:r>
            <a:endParaRPr lang="en-US" altLang="ja-JP" dirty="0">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2EFCA4F-0B89-462B-A76A-A1E17D43F5F9}"/>
              </a:ext>
            </a:extLst>
          </p:cNvPr>
          <p:cNvSpPr/>
          <p:nvPr/>
        </p:nvSpPr>
        <p:spPr>
          <a:xfrm>
            <a:off x="8106837" y="2357294"/>
            <a:ext cx="1748363" cy="2031325"/>
          </a:xfrm>
          <a:prstGeom prst="rect">
            <a:avLst/>
          </a:prstGeom>
        </p:spPr>
        <p:txBody>
          <a:bodyPr wrap="square">
            <a:spAutoFit/>
          </a:bodyPr>
          <a:lstStyle/>
          <a:p>
            <a:r>
              <a:rPr lang="en-US" altLang="ja-JP" dirty="0">
                <a:latin typeface="Cambria Math" panose="02040503050406030204" pitchFamily="18" charset="0"/>
                <a:ea typeface="Cambria Math" panose="02040503050406030204" pitchFamily="18" charset="0"/>
              </a:rPr>
              <a:t>log</a:t>
            </a:r>
            <a:r>
              <a:rPr lang="ja-JP" altLang="en-US" dirty="0">
                <a:latin typeface="Meiryo UI" panose="020B0604030504040204" pitchFamily="50" charset="-128"/>
                <a:ea typeface="Meiryo UI" panose="020B0604030504040204" pitchFamily="50" charset="-128"/>
              </a:rPr>
              <a:t>の中に</a:t>
            </a:r>
            <a:r>
              <a:rPr lang="en-US" altLang="ja-JP" dirty="0">
                <a:latin typeface="Cambria Math" panose="02040503050406030204" pitchFamily="18" charset="0"/>
                <a:ea typeface="Cambria Math" panose="02040503050406030204" pitchFamily="18" charset="0"/>
              </a:rPr>
              <a:t>Σ</a:t>
            </a:r>
            <a:r>
              <a:rPr lang="ja-JP" altLang="en-US" dirty="0">
                <a:latin typeface="Meiryo UI" panose="020B0604030504040204" pitchFamily="50" charset="-128"/>
                <a:ea typeface="Meiryo UI" panose="020B0604030504040204" pitchFamily="50" charset="-128"/>
              </a:rPr>
              <a:t>がある形は解析的に求めることが困難なため、イェンセンの方程式を用いて</a:t>
            </a:r>
            <a:r>
              <a:rPr lang="en-US" altLang="ja-JP" dirty="0">
                <a:latin typeface="Cambria Math" panose="02040503050406030204" pitchFamily="18" charset="0"/>
                <a:ea typeface="Cambria Math" panose="02040503050406030204" pitchFamily="18" charset="0"/>
              </a:rPr>
              <a:t>Σ</a:t>
            </a:r>
            <a:r>
              <a:rPr lang="ja-JP" altLang="en-US" dirty="0">
                <a:latin typeface="Meiryo UI" panose="020B0604030504040204" pitchFamily="50" charset="-128"/>
                <a:ea typeface="Meiryo UI" panose="020B0604030504040204" pitchFamily="50" charset="-128"/>
              </a:rPr>
              <a:t>を</a:t>
            </a:r>
            <a:r>
              <a:rPr lang="en-US" altLang="ja-JP" dirty="0">
                <a:latin typeface="Cambria Math" panose="02040503050406030204" pitchFamily="18" charset="0"/>
                <a:ea typeface="Cambria Math" panose="02040503050406030204" pitchFamily="18" charset="0"/>
              </a:rPr>
              <a:t>log</a:t>
            </a:r>
            <a:r>
              <a:rPr lang="ja-JP" altLang="en-US" dirty="0">
                <a:latin typeface="Meiryo UI" panose="020B0604030504040204" pitchFamily="50" charset="-128"/>
                <a:ea typeface="Meiryo UI" panose="020B0604030504040204" pitchFamily="50" charset="-128"/>
              </a:rPr>
              <a:t>の外に出す</a:t>
            </a:r>
            <a:endParaRPr lang="ja-JP" altLang="en-US" dirty="0"/>
          </a:p>
        </p:txBody>
      </p:sp>
      <p:cxnSp>
        <p:nvCxnSpPr>
          <p:cNvPr id="7" name="コネクタ: カギ線 6">
            <a:extLst>
              <a:ext uri="{FF2B5EF4-FFF2-40B4-BE49-F238E27FC236}">
                <a16:creationId xmlns:a16="http://schemas.microsoft.com/office/drawing/2014/main" id="{93125993-895A-4304-A6C3-C0F10CE6A8BC}"/>
              </a:ext>
            </a:extLst>
          </p:cNvPr>
          <p:cNvCxnSpPr>
            <a:cxnSpLocks/>
            <a:stCxn id="12" idx="3"/>
            <a:endCxn id="23" idx="3"/>
          </p:cNvCxnSpPr>
          <p:nvPr/>
        </p:nvCxnSpPr>
        <p:spPr>
          <a:xfrm>
            <a:off x="7803426" y="2714382"/>
            <a:ext cx="12700" cy="777526"/>
          </a:xfrm>
          <a:prstGeom prst="bentConnector3">
            <a:avLst>
              <a:gd name="adj1" fmla="val 180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A1F44AED-3730-4F54-AB48-915EB30A5948}"/>
              </a:ext>
            </a:extLst>
          </p:cNvPr>
          <p:cNvSpPr/>
          <p:nvPr/>
        </p:nvSpPr>
        <p:spPr>
          <a:xfrm>
            <a:off x="1755829" y="2340000"/>
            <a:ext cx="6047597" cy="748763"/>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F7661558-A4DC-45AD-8DA2-BE1842C164B3}"/>
              </a:ext>
            </a:extLst>
          </p:cNvPr>
          <p:cNvSpPr/>
          <p:nvPr/>
        </p:nvSpPr>
        <p:spPr>
          <a:xfrm>
            <a:off x="1755829" y="3117526"/>
            <a:ext cx="6047597" cy="748763"/>
          </a:xfrm>
          <a:prstGeom prst="rect">
            <a:avLst/>
          </a:prstGeom>
        </p:spPr>
        <p:txBody>
          <a:bodyPr wrap="square" lIns="72000" tIns="72000" rIns="72000" bIns="72000" rtlCol="0" anchor="ctr">
            <a:noAutofit/>
          </a:bodyPr>
          <a:lstStyle/>
          <a:p>
            <a:pPr algn="l"/>
            <a:endParaRPr kumimoji="1" lang="ja-JP" altLang="en-US" dirty="0">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95A0C38D-CE88-4530-B428-17D96723DE15}"/>
              </a:ext>
            </a:extLst>
          </p:cNvPr>
          <p:cNvSpPr/>
          <p:nvPr/>
        </p:nvSpPr>
        <p:spPr>
          <a:xfrm>
            <a:off x="3386249" y="1980000"/>
            <a:ext cx="2404826"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2</a:t>
            </a:r>
            <a:r>
              <a:rPr lang="ja-JP" altLang="en-US" b="1" dirty="0">
                <a:latin typeface="Meiryo UI" panose="020B0604030504040204" pitchFamily="50" charset="-128"/>
                <a:ea typeface="Meiryo UI" panose="020B0604030504040204" pitchFamily="50" charset="-128"/>
              </a:rPr>
              <a:t>）対数尤度関数</a:t>
            </a:r>
          </a:p>
        </p:txBody>
      </p:sp>
    </p:spTree>
    <p:extLst>
      <p:ext uri="{BB962C8B-B14F-4D97-AF65-F5344CB8AC3E}">
        <p14:creationId xmlns:p14="http://schemas.microsoft.com/office/powerpoint/2010/main" val="313228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ja-JP" altLang="en-US" dirty="0"/>
              <a:t>式（</a:t>
            </a:r>
            <a:r>
              <a:rPr lang="en-US" altLang="ja-JP" dirty="0"/>
              <a:t>3</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b="1" dirty="0"/>
              <a:t>クラスタ</a:t>
            </a:r>
            <a:r>
              <a:rPr lang="en-US" altLang="ja-JP" b="1" dirty="0">
                <a:latin typeface="Cambria Math" panose="02040503050406030204" pitchFamily="18" charset="0"/>
                <a:ea typeface="Cambria Math" panose="02040503050406030204" pitchFamily="18" charset="0"/>
              </a:rPr>
              <a:t>z</a:t>
            </a:r>
            <a:r>
              <a:rPr lang="ja-JP" altLang="en-US" b="1" dirty="0"/>
              <a:t>の事後分布を求めます。</a:t>
            </a:r>
            <a:endParaRPr kumimoji="1" lang="en-US" altLang="ja-JP" sz="2000" b="1" kern="1200" dirty="0">
              <a:solidFill>
                <a:schemeClr val="tx1"/>
              </a:solidFill>
              <a:effectLst/>
              <a:latin typeface="Meiryo UI" panose="020B0604030504040204" pitchFamily="50" charset="-128"/>
              <a:ea typeface="Meiryo UI" panose="020B0604030504040204" pitchFamily="50" charset="-128"/>
              <a:cs typeface="+mn-cs"/>
            </a:endParaRPr>
          </a:p>
        </p:txBody>
      </p:sp>
      <mc:AlternateContent xmlns:mc="http://schemas.openxmlformats.org/markup-compatibility/2006" xmlns:a14="http://schemas.microsoft.com/office/drawing/2010/main">
        <mc:Choice Requires="a14">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nvGraphicFramePr>
            <p:xfrm>
              <a:off x="540000" y="2340000"/>
              <a:ext cx="6066473" cy="1146303"/>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816257635"/>
                        </a:ext>
                      </a:extLst>
                    </a:gridCol>
                    <a:gridCol w="1032192">
                      <a:extLst>
                        <a:ext uri="{9D8B030D-6E8A-4147-A177-3AD203B41FA5}">
                          <a16:colId xmlns:a16="http://schemas.microsoft.com/office/drawing/2014/main" val="3910990434"/>
                        </a:ext>
                      </a:extLst>
                    </a:gridCol>
                    <a:gridCol w="405130">
                      <a:extLst>
                        <a:ext uri="{9D8B030D-6E8A-4147-A177-3AD203B41FA5}">
                          <a16:colId xmlns:a16="http://schemas.microsoft.com/office/drawing/2014/main" val="2474621597"/>
                        </a:ext>
                      </a:extLst>
                    </a:gridCol>
                    <a:gridCol w="4139883">
                      <a:extLst>
                        <a:ext uri="{9D8B030D-6E8A-4147-A177-3AD203B41FA5}">
                          <a16:colId xmlns:a16="http://schemas.microsoft.com/office/drawing/2014/main" val="612212733"/>
                        </a:ext>
                      </a:extLst>
                    </a:gridCol>
                  </a:tblGrid>
                  <a:tr h="370840">
                    <a:tc>
                      <a:txBody>
                        <a:bodyPr/>
                        <a:lstStyle/>
                        <a:p>
                          <a:pPr algn="ctr"/>
                          <a:r>
                            <a:rPr kumimoji="1"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den>
                                </m:f>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020732"/>
                      </a:ext>
                    </a:extLst>
                  </a:tr>
                  <a:tr h="370840">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e>
                                    </m:nary>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2531104"/>
                      </a:ext>
                    </a:extLst>
                  </a:tr>
                </a:tbl>
              </a:graphicData>
            </a:graphic>
          </p:graphicFrame>
        </mc:Choice>
        <mc:Fallback xmlns="">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extLst>
                  <p:ext uri="{D42A27DB-BD31-4B8C-83A1-F6EECF244321}">
                    <p14:modId xmlns:p14="http://schemas.microsoft.com/office/powerpoint/2010/main" val="2228498014"/>
                  </p:ext>
                </p:extLst>
              </p:nvPr>
            </p:nvGraphicFramePr>
            <p:xfrm>
              <a:off x="540000" y="2340000"/>
              <a:ext cx="6066473" cy="1146303"/>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816257635"/>
                        </a:ext>
                      </a:extLst>
                    </a:gridCol>
                    <a:gridCol w="1032192">
                      <a:extLst>
                        <a:ext uri="{9D8B030D-6E8A-4147-A177-3AD203B41FA5}">
                          <a16:colId xmlns:a16="http://schemas.microsoft.com/office/drawing/2014/main" val="3910990434"/>
                        </a:ext>
                      </a:extLst>
                    </a:gridCol>
                    <a:gridCol w="405130">
                      <a:extLst>
                        <a:ext uri="{9D8B030D-6E8A-4147-A177-3AD203B41FA5}">
                          <a16:colId xmlns:a16="http://schemas.microsoft.com/office/drawing/2014/main" val="2474621597"/>
                        </a:ext>
                      </a:extLst>
                    </a:gridCol>
                    <a:gridCol w="4139883">
                      <a:extLst>
                        <a:ext uri="{9D8B030D-6E8A-4147-A177-3AD203B41FA5}">
                          <a16:colId xmlns:a16="http://schemas.microsoft.com/office/drawing/2014/main" val="612212733"/>
                        </a:ext>
                      </a:extLst>
                    </a:gridCol>
                  </a:tblGrid>
                  <a:tr h="563309">
                    <a:tc>
                      <a:txBody>
                        <a:bodyPr/>
                        <a:lstStyle/>
                        <a:p>
                          <a:pPr algn="ctr"/>
                          <a:r>
                            <a:rPr kumimoji="1" lang="ja-JP" altLang="en-US" dirty="0">
                              <a:latin typeface="Meiryo UI" panose="020B0604030504040204" pitchFamily="50" charset="-128"/>
                              <a:ea typeface="Meiryo UI" panose="020B0604030504040204" pitchFamily="50" charset="-128"/>
                            </a:rPr>
                            <a:t>①</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latin typeface="Cambria Math" panose="02040503050406030204" pitchFamily="18" charset="0"/>
                              <a:ea typeface="Cambria Math" panose="02040503050406030204" pitchFamily="18" charset="0"/>
                            </a:rPr>
                            <a:t>P(</a:t>
                          </a:r>
                          <a:r>
                            <a:rPr kumimoji="1" lang="en-US" altLang="ja-JP" dirty="0" err="1">
                              <a:latin typeface="Cambria Math" panose="02040503050406030204" pitchFamily="18" charset="0"/>
                              <a:ea typeface="Cambria Math" panose="02040503050406030204" pitchFamily="18" charset="0"/>
                            </a:rPr>
                            <a:t>z|x,y</a:t>
                          </a:r>
                          <a:r>
                            <a:rPr kumimoji="1" lang="en-US" altLang="ja-JP" dirty="0">
                              <a:latin typeface="Cambria Math" panose="02040503050406030204" pitchFamily="18" charset="0"/>
                              <a:ea typeface="Cambria Math" panose="02040503050406030204" pitchFamily="18" charset="0"/>
                            </a:rPr>
                            <a:t>)</a:t>
                          </a:r>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378788" r="-1031818" b="-10430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46471" r="-147" b="-104301"/>
                          </a:stretch>
                        </a:blipFill>
                      </a:tcPr>
                    </a:tc>
                    <a:extLst>
                      <a:ext uri="{0D108BD9-81ED-4DB2-BD59-A6C34878D82A}">
                        <a16:rowId xmlns:a16="http://schemas.microsoft.com/office/drawing/2014/main" val="1234020732"/>
                      </a:ext>
                    </a:extLst>
                  </a:tr>
                  <a:tr h="582994">
                    <a:tc>
                      <a:txBody>
                        <a:bodyPr/>
                        <a:lstStyle/>
                        <a:p>
                          <a:pPr algn="ctr"/>
                          <a:r>
                            <a:rPr kumimoji="1" lang="ja-JP" altLang="en-US" dirty="0">
                              <a:latin typeface="Meiryo UI" panose="020B0604030504040204" pitchFamily="50" charset="-128"/>
                              <a:ea typeface="Meiryo UI" panose="020B0604030504040204" pitchFamily="50" charset="-128"/>
                            </a:rPr>
                            <a:t>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1" lang="ja-JP" altLang="en-US" dirty="0">
                            <a:latin typeface="Cambria Math" panose="02040503050406030204" pitchFamily="18" charset="0"/>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78788" t="-96875" r="-1031818" b="-1042"/>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471" t="-96875" r="-147" b="-1042"/>
                          </a:stretch>
                        </a:blipFill>
                      </a:tcPr>
                    </a:tc>
                    <a:extLst>
                      <a:ext uri="{0D108BD9-81ED-4DB2-BD59-A6C34878D82A}">
                        <a16:rowId xmlns:a16="http://schemas.microsoft.com/office/drawing/2014/main" val="2262531104"/>
                      </a:ext>
                    </a:extLst>
                  </a:tr>
                </a:tbl>
              </a:graphicData>
            </a:graphic>
          </p:graphicFrame>
        </mc:Fallback>
      </mc:AlternateContent>
      <p:sp>
        <p:nvSpPr>
          <p:cNvPr id="6" name="正方形/長方形 5">
            <a:extLst>
              <a:ext uri="{FF2B5EF4-FFF2-40B4-BE49-F238E27FC236}">
                <a16:creationId xmlns:a16="http://schemas.microsoft.com/office/drawing/2014/main" id="{F7F83825-3304-405C-ABD0-C6A037F0A97E}"/>
              </a:ext>
            </a:extLst>
          </p:cNvPr>
          <p:cNvSpPr/>
          <p:nvPr/>
        </p:nvSpPr>
        <p:spPr>
          <a:xfrm>
            <a:off x="3637920" y="1980000"/>
            <a:ext cx="1901483"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3</a:t>
            </a:r>
            <a:r>
              <a:rPr lang="ja-JP" altLang="en-US" b="1" dirty="0">
                <a:latin typeface="Meiryo UI" panose="020B0604030504040204" pitchFamily="50" charset="-128"/>
                <a:ea typeface="Meiryo UI" panose="020B0604030504040204" pitchFamily="50" charset="-128"/>
              </a:rPr>
              <a:t>）</a:t>
            </a:r>
            <a:r>
              <a:rPr lang="en-US" altLang="ja-JP" b="1" dirty="0">
                <a:latin typeface="Meiryo UI" panose="020B0604030504040204" pitchFamily="50" charset="-128"/>
                <a:ea typeface="Meiryo UI" panose="020B0604030504040204" pitchFamily="50" charset="-128"/>
              </a:rPr>
              <a:t>E</a:t>
            </a:r>
            <a:r>
              <a:rPr lang="ja-JP" altLang="en-US" b="1" dirty="0">
                <a:latin typeface="Meiryo UI" panose="020B0604030504040204" pitchFamily="50" charset="-128"/>
                <a:ea typeface="Meiryo UI" panose="020B0604030504040204" pitchFamily="50" charset="-128"/>
              </a:rPr>
              <a:t>ステップ</a:t>
            </a:r>
          </a:p>
        </p:txBody>
      </p:sp>
      <p:sp>
        <p:nvSpPr>
          <p:cNvPr id="7" name="テキスト ボックス 6">
            <a:extLst>
              <a:ext uri="{FF2B5EF4-FFF2-40B4-BE49-F238E27FC236}">
                <a16:creationId xmlns:a16="http://schemas.microsoft.com/office/drawing/2014/main" id="{28D46D8D-1F38-4CF4-B42C-0F41C1920B2B}"/>
              </a:ext>
            </a:extLst>
          </p:cNvPr>
          <p:cNvSpPr txBox="1"/>
          <p:nvPr/>
        </p:nvSpPr>
        <p:spPr>
          <a:xfrm>
            <a:off x="540000" y="3997540"/>
            <a:ext cx="8547100" cy="369332"/>
          </a:xfrm>
          <a:prstGeom prst="rect">
            <a:avLst/>
          </a:prstGeom>
          <a:noFill/>
        </p:spPr>
        <p:txBody>
          <a:bodyPr wrap="square" rtlCol="0">
            <a:spAutoFit/>
          </a:bodyPr>
          <a:lstStyle/>
          <a:p>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 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 P(z)</a:t>
            </a:r>
            <a:r>
              <a:rPr lang="ja-JP" altLang="en-US" dirty="0">
                <a:latin typeface="Meiryo UI" panose="020B0604030504040204" pitchFamily="50" charset="-128"/>
                <a:ea typeface="Meiryo UI" panose="020B0604030504040204" pitchFamily="50" charset="-128"/>
              </a:rPr>
              <a:t>に対して、</a:t>
            </a:r>
            <a:r>
              <a:rPr kumimoji="1" lang="ja-JP" altLang="en-US" dirty="0">
                <a:latin typeface="Meiryo UI" panose="020B0604030504040204" pitchFamily="50" charset="-128"/>
                <a:ea typeface="Meiryo UI" panose="020B0604030504040204" pitchFamily="50" charset="-128"/>
              </a:rPr>
              <a:t>ランダムな値を</a:t>
            </a:r>
            <a:r>
              <a:rPr lang="ja-JP" altLang="en-US" dirty="0">
                <a:latin typeface="Meiryo UI" panose="020B0604030504040204" pitchFamily="50" charset="-128"/>
                <a:ea typeface="Meiryo UI" panose="020B0604030504040204" pitchFamily="50" charset="-128"/>
              </a:rPr>
              <a:t>初期値として設定し、</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z|x,y</a:t>
            </a:r>
            <a:r>
              <a:rPr lang="en-US" altLang="ja-JP" dirty="0">
                <a:latin typeface="Cambria Math" panose="02040503050406030204" pitchFamily="18" charset="0"/>
                <a:ea typeface="Cambria Math" panose="02040503050406030204" pitchFamily="18" charset="0"/>
              </a:rPr>
              <a:t>)</a:t>
            </a:r>
            <a:r>
              <a:rPr kumimoji="1" lang="ja-JP" altLang="en-US" dirty="0">
                <a:latin typeface="Meiryo UI" panose="020B0604030504040204" pitchFamily="50" charset="-128"/>
                <a:ea typeface="Meiryo UI" panose="020B0604030504040204" pitchFamily="50" charset="-128"/>
              </a:rPr>
              <a:t>を固定します</a:t>
            </a:r>
            <a:endParaRPr kumimoji="1" lang="en-US" altLang="ja-JP"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736B75CC-8CAE-4E8A-85F8-D51DE72E2381}"/>
              </a:ext>
            </a:extLst>
          </p:cNvPr>
          <p:cNvSpPr txBox="1"/>
          <p:nvPr/>
        </p:nvSpPr>
        <p:spPr>
          <a:xfrm>
            <a:off x="6984129" y="2427066"/>
            <a:ext cx="2164375" cy="369332"/>
          </a:xfrm>
          <a:prstGeom prst="rect">
            <a:avLst/>
          </a:prstGeom>
          <a:noFill/>
        </p:spPr>
        <p:txBody>
          <a:bodyPr wrap="none" rtlCol="0">
            <a:spAutoFit/>
          </a:bodyPr>
          <a:lstStyle/>
          <a:p>
            <a:r>
              <a:rPr kumimoji="1" lang="ja-JP" altLang="en-US" dirty="0">
                <a:latin typeface="Meiryo UI" panose="020B0604030504040204" pitchFamily="50" charset="-128"/>
                <a:ea typeface="Meiryo UI" panose="020B0604030504040204" pitchFamily="50" charset="-128"/>
              </a:rPr>
              <a:t>条件付き確率の公式</a:t>
            </a:r>
          </a:p>
        </p:txBody>
      </p:sp>
      <p:cxnSp>
        <p:nvCxnSpPr>
          <p:cNvPr id="9" name="直線矢印コネクタ 8">
            <a:extLst>
              <a:ext uri="{FF2B5EF4-FFF2-40B4-BE49-F238E27FC236}">
                <a16:creationId xmlns:a16="http://schemas.microsoft.com/office/drawing/2014/main" id="{A320ADD8-B31D-4DC0-B304-E62CDA6CEA03}"/>
              </a:ext>
            </a:extLst>
          </p:cNvPr>
          <p:cNvCxnSpPr>
            <a:cxnSpLocks/>
            <a:stCxn id="8" idx="1"/>
          </p:cNvCxnSpPr>
          <p:nvPr/>
        </p:nvCxnSpPr>
        <p:spPr>
          <a:xfrm flipH="1">
            <a:off x="6630667" y="2611732"/>
            <a:ext cx="35346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259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en-US" altLang="ja-JP" dirty="0"/>
              <a:t>EM</a:t>
            </a:r>
            <a:r>
              <a:rPr lang="ja-JP" altLang="en-US" dirty="0"/>
              <a:t>アルゴリズム（</a:t>
            </a:r>
            <a:r>
              <a:rPr lang="en-US" altLang="ja-JP" dirty="0"/>
              <a:t>M-Step</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p:txBody>
          <a:bodyPr/>
          <a:lstStyle/>
          <a:p>
            <a:r>
              <a:rPr lang="ja-JP" altLang="en-US" b="1" dirty="0"/>
              <a:t>クラスタ</a:t>
            </a:r>
            <a:r>
              <a:rPr lang="en-US" altLang="ja-JP" b="1" dirty="0">
                <a:latin typeface="Cambria Math" panose="02040503050406030204" pitchFamily="18" charset="0"/>
                <a:ea typeface="Cambria Math" panose="02040503050406030204" pitchFamily="18" charset="0"/>
              </a:rPr>
              <a:t>z</a:t>
            </a:r>
            <a:r>
              <a:rPr lang="ja-JP" altLang="en-US" b="1" dirty="0"/>
              <a:t>の事後分布を固定した状態で、その他の事後分布を求めます。</a:t>
            </a:r>
            <a:br>
              <a:rPr lang="ja-JP" altLang="en-US" b="1" dirty="0"/>
            </a:br>
            <a:r>
              <a:rPr lang="ja-JP" altLang="en-US" b="1" dirty="0"/>
              <a:t>対数尤度</a:t>
            </a:r>
            <a:r>
              <a:rPr lang="en-US" altLang="ja-JP" b="1" dirty="0"/>
              <a:t>L</a:t>
            </a:r>
            <a:r>
              <a:rPr lang="ja-JP" altLang="en-US" b="1" dirty="0"/>
              <a:t>に対してラグランジュの未定乗数法を使用します。</a:t>
            </a:r>
            <a:endParaRPr kumimoji="1" lang="en-US" altLang="ja-JP" sz="2000" b="1" kern="1200" dirty="0">
              <a:effectLst/>
            </a:endParaRPr>
          </a:p>
        </p:txBody>
      </p:sp>
      <mc:AlternateContent xmlns:mc="http://schemas.openxmlformats.org/markup-compatibility/2006" xmlns:a14="http://schemas.microsoft.com/office/drawing/2010/main">
        <mc:Choice Requires="a14">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extLst>
                  <p:ext uri="{D42A27DB-BD31-4B8C-83A1-F6EECF244321}">
                    <p14:modId xmlns:p14="http://schemas.microsoft.com/office/powerpoint/2010/main" val="3966694294"/>
                  </p:ext>
                </p:extLst>
              </p:nvPr>
            </p:nvGraphicFramePr>
            <p:xfrm>
              <a:off x="540000" y="2340000"/>
              <a:ext cx="7200678" cy="2968244"/>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906891008"/>
                        </a:ext>
                      </a:extLst>
                    </a:gridCol>
                    <a:gridCol w="355918">
                      <a:extLst>
                        <a:ext uri="{9D8B030D-6E8A-4147-A177-3AD203B41FA5}">
                          <a16:colId xmlns:a16="http://schemas.microsoft.com/office/drawing/2014/main" val="2561236756"/>
                        </a:ext>
                      </a:extLst>
                    </a:gridCol>
                    <a:gridCol w="362933">
                      <a:extLst>
                        <a:ext uri="{9D8B030D-6E8A-4147-A177-3AD203B41FA5}">
                          <a16:colId xmlns:a16="http://schemas.microsoft.com/office/drawing/2014/main" val="2461200273"/>
                        </a:ext>
                      </a:extLst>
                    </a:gridCol>
                    <a:gridCol w="5992559">
                      <a:extLst>
                        <a:ext uri="{9D8B030D-6E8A-4147-A177-3AD203B41FA5}">
                          <a16:colId xmlns:a16="http://schemas.microsoft.com/office/drawing/2014/main" val="6122127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 </m:t>
                                            </m:r>
                                          </m:fName>
                                          <m:e>
                                            <m:r>
                                              <m:rPr>
                                                <m:nor/>
                                              </m:rPr>
                                              <a:rPr kumimoji="1" lang="ja-JP" altLang="en-US" dirty="0">
                                                <a:latin typeface="Cambria Math" panose="02040503050406030204" pitchFamily="18" charset="0"/>
                                              </a:rPr>
                                              <m:t> </m:t>
                                            </m:r>
                                          </m:e>
                                        </m:func>
                                      </m:e>
                                    </m:nary>
                                  </m:e>
                                </m:nary>
                              </m:oMath>
                            </m:oMathPara>
                          </a14:m>
                          <a:endParaRPr kumimoji="1" lang="en-US" altLang="ja-JP"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e>
                                            </m:d>
                                          </m:fName>
                                          <m:e>
                                            <m:r>
                                              <m:rPr>
                                                <m:nor/>
                                              </m:rPr>
                                              <a:rPr kumimoji="1" lang="ja-JP" altLang="en-US" dirty="0">
                                                <a:latin typeface="Cambria Math" panose="02040503050406030204" pitchFamily="18" charset="0"/>
                                              </a:rPr>
                                              <m:t> </m:t>
                                            </m:r>
                                          </m:e>
                                        </m:func>
                                      </m:e>
                                    </m:nary>
                                  </m:e>
                                </m:nary>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F</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x</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e>
                                        </m:nary>
                                        <m:func>
                                          <m:funcPr>
                                            <m:ctrlPr>
                                              <a:rPr kumimoji="1" lang="en-US" altLang="ja-JP" i="1" smtClean="0">
                                                <a:latin typeface="Cambria Math" panose="02040503050406030204" pitchFamily="18" charset="0"/>
                                                <a:ea typeface="Cambria Math" panose="02040503050406030204" pitchFamily="18" charset="0"/>
                                              </a:rPr>
                                            </m:ctrlPr>
                                          </m:funcPr>
                                          <m:fName>
                                            <m:r>
                                              <m:rPr>
                                                <m:sty m:val="p"/>
                                              </m:rPr>
                                              <a:rPr kumimoji="1" lang="en-US" altLang="ja-JP" smtClean="0">
                                                <a:latin typeface="Cambria Math" panose="02040503050406030204" pitchFamily="18" charset="0"/>
                                                <a:ea typeface="Cambria Math" panose="02040503050406030204" pitchFamily="18" charset="0"/>
                                              </a:rPr>
                                              <m:t>log</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 </m:t>
                                            </m:r>
                                          </m:fName>
                                          <m:e>
                                            <m:r>
                                              <m:rPr>
                                                <m:nor/>
                                              </m:rPr>
                                              <a:rPr kumimoji="1" lang="ja-JP" altLang="en-US" dirty="0">
                                                <a:latin typeface="Cambria Math" panose="02040503050406030204" pitchFamily="18" charset="0"/>
                                              </a:rPr>
                                              <m:t> </m:t>
                                            </m:r>
                                          </m:e>
                                        </m:func>
                                      </m:e>
                                    </m:nary>
                                  </m:e>
                                </m:nary>
                              </m:oMath>
                            </m:oMathPara>
                          </a14:m>
                          <a:endParaRPr kumimoji="1" lang="en-US" altLang="ja-JP" dirty="0">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1</m:t>
                                    </m:r>
                                  </m:sub>
                                </m:sSub>
                                <m:r>
                                  <a:rPr kumimoji="1" lang="en-US" altLang="ja-JP" smtClean="0">
                                    <a:latin typeface="Cambria Math" panose="02040503050406030204" pitchFamily="18" charset="0"/>
                                    <a:ea typeface="Cambria Math" panose="02040503050406030204" pitchFamily="18" charset="0"/>
                                  </a:rPr>
                                  <m:t>(1−</m:t>
                                </m:r>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2</m:t>
                                        </m:r>
                                      </m:sub>
                                    </m:sSub>
                                    <m:r>
                                      <a:rPr kumimoji="1" lang="en-US" altLang="ja-JP" smtClean="0">
                                        <a:latin typeface="Cambria Math" panose="02040503050406030204" pitchFamily="18" charset="0"/>
                                        <a:ea typeface="Cambria Math" panose="02040503050406030204" pitchFamily="18" charset="0"/>
                                      </a:rPr>
                                      <m:t>(1−</m:t>
                                    </m:r>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m:rPr>
                                            <m:sty m:val="p"/>
                                          </m:rPr>
                                          <a:rPr kumimoji="1" lang="en-US" altLang="ja-JP" b="0" i="0" smtClean="0">
                                            <a:latin typeface="Cambria Math" panose="02040503050406030204" pitchFamily="18" charset="0"/>
                                            <a:ea typeface="Cambria Math" panose="02040503050406030204" pitchFamily="18" charset="0"/>
                                          </a:rPr>
                                          <m:t>y</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3</m:t>
                                            </m:r>
                                          </m:sub>
                                        </m:sSub>
                                        <m:r>
                                          <a:rPr kumimoji="1" lang="en-US" altLang="ja-JP" smtClean="0">
                                            <a:latin typeface="Cambria Math" panose="02040503050406030204" pitchFamily="18" charset="0"/>
                                            <a:ea typeface="Cambria Math" panose="02040503050406030204" pitchFamily="18" charset="0"/>
                                          </a:rPr>
                                          <m:t>(1−</m:t>
                                        </m:r>
                                        <m:nary>
                                          <m:naryPr>
                                            <m:chr m:val="∑"/>
                                            <m:supHide m:val="on"/>
                                            <m:ctrlPr>
                                              <a:rPr kumimoji="1" lang="ja-JP" altLang="en-US" i="1" smtClean="0">
                                                <a:latin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d>
                                            <m:r>
                                              <a:rPr kumimoji="1" lang="en-US" altLang="ja-JP" smtClean="0">
                                                <a:latin typeface="Cambria Math" panose="02040503050406030204" pitchFamily="18" charset="0"/>
                                                <a:ea typeface="Cambria Math" panose="02040503050406030204" pitchFamily="18" charset="0"/>
                                              </a:rPr>
                                              <m:t>)</m:t>
                                            </m:r>
                                          </m:e>
                                        </m:nary>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bl>
              </a:graphicData>
            </a:graphic>
          </p:graphicFrame>
        </mc:Choice>
        <mc:Fallback xmlns="">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extLst>
                  <p:ext uri="{D42A27DB-BD31-4B8C-83A1-F6EECF244321}">
                    <p14:modId xmlns:p14="http://schemas.microsoft.com/office/powerpoint/2010/main" val="3966694294"/>
                  </p:ext>
                </p:extLst>
              </p:nvPr>
            </p:nvGraphicFramePr>
            <p:xfrm>
              <a:off x="540000" y="2340000"/>
              <a:ext cx="7200678" cy="2968244"/>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906891008"/>
                        </a:ext>
                      </a:extLst>
                    </a:gridCol>
                    <a:gridCol w="355918">
                      <a:extLst>
                        <a:ext uri="{9D8B030D-6E8A-4147-A177-3AD203B41FA5}">
                          <a16:colId xmlns:a16="http://schemas.microsoft.com/office/drawing/2014/main" val="2561236756"/>
                        </a:ext>
                      </a:extLst>
                    </a:gridCol>
                    <a:gridCol w="362933">
                      <a:extLst>
                        <a:ext uri="{9D8B030D-6E8A-4147-A177-3AD203B41FA5}">
                          <a16:colId xmlns:a16="http://schemas.microsoft.com/office/drawing/2014/main" val="2461200273"/>
                        </a:ext>
                      </a:extLst>
                    </a:gridCol>
                    <a:gridCol w="5992559">
                      <a:extLst>
                        <a:ext uri="{9D8B030D-6E8A-4147-A177-3AD203B41FA5}">
                          <a16:colId xmlns:a16="http://schemas.microsoft.com/office/drawing/2014/main" val="612212733"/>
                        </a:ext>
                      </a:extLst>
                    </a:gridCol>
                  </a:tblGrid>
                  <a:tr h="14841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L</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35593" r="-1669492" b="-100410"/>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0122" r="-102" b="-100410"/>
                          </a:stretch>
                        </a:blipFill>
                      </a:tcPr>
                    </a:tc>
                    <a:extLst>
                      <a:ext uri="{0D108BD9-81ED-4DB2-BD59-A6C34878D82A}">
                        <a16:rowId xmlns:a16="http://schemas.microsoft.com/office/drawing/2014/main" val="3485341491"/>
                      </a:ext>
                    </a:extLst>
                  </a:tr>
                  <a:tr h="14841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F</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35593" t="-100000" r="-1669492" b="-41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122" t="-100000" r="-102" b="-410"/>
                          </a:stretch>
                        </a:blipFill>
                      </a:tcPr>
                    </a:tc>
                    <a:extLst>
                      <a:ext uri="{0D108BD9-81ED-4DB2-BD59-A6C34878D82A}">
                        <a16:rowId xmlns:a16="http://schemas.microsoft.com/office/drawing/2014/main" val="1892669537"/>
                      </a:ext>
                    </a:extLst>
                  </a:tr>
                </a:tbl>
              </a:graphicData>
            </a:graphic>
          </p:graphicFrame>
        </mc:Fallback>
      </mc:AlternateContent>
      <p:sp>
        <p:nvSpPr>
          <p:cNvPr id="4" name="テキスト ボックス 3">
            <a:extLst>
              <a:ext uri="{FF2B5EF4-FFF2-40B4-BE49-F238E27FC236}">
                <a16:creationId xmlns:a16="http://schemas.microsoft.com/office/drawing/2014/main" id="{55B03F80-8A8E-4D57-85FD-641BC4DD6075}"/>
              </a:ext>
            </a:extLst>
          </p:cNvPr>
          <p:cNvSpPr txBox="1"/>
          <p:nvPr/>
        </p:nvSpPr>
        <p:spPr>
          <a:xfrm>
            <a:off x="540000" y="5364000"/>
            <a:ext cx="6339016" cy="646331"/>
          </a:xfrm>
          <a:prstGeom prst="rect">
            <a:avLst/>
          </a:prstGeom>
          <a:noFill/>
        </p:spPr>
        <p:txBody>
          <a:bodyPr wrap="square" rtlCol="0">
            <a:spAutoFit/>
          </a:bodyPr>
          <a:lstStyle/>
          <a:p>
            <a:pPr algn="l"/>
            <a:r>
              <a:rPr kumimoji="1" lang="ja-JP" altLang="en-US" dirty="0">
                <a:latin typeface="Meiryo UI" panose="020B0604030504040204" pitchFamily="50" charset="-128"/>
                <a:ea typeface="Meiryo UI" panose="020B0604030504040204" pitchFamily="50" charset="-128"/>
              </a:rPr>
              <a:t>ラグランジュの未定乗数法</a:t>
            </a:r>
            <a:r>
              <a:rPr kumimoji="1" lang="en-US" altLang="ja-JP" baseline="30000"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を用いて、事後分布を求めます</a:t>
            </a:r>
            <a:endParaRPr kumimoji="1" lang="en-US" altLang="ja-JP" dirty="0">
              <a:latin typeface="Meiryo UI" panose="020B0604030504040204" pitchFamily="50" charset="-128"/>
              <a:ea typeface="Meiryo UI" panose="020B0604030504040204" pitchFamily="50" charset="-128"/>
            </a:endParaRPr>
          </a:p>
          <a:p>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ラグランジュの未定乗数法　参考：</a:t>
            </a:r>
            <a:r>
              <a:rPr lang="en-US" altLang="ja-JP" dirty="0">
                <a:hlinkClick r:id="rId3"/>
              </a:rPr>
              <a:t>https://mathtrain.jp/mlm</a:t>
            </a:r>
            <a:endParaRPr lang="ja-JP" altLang="en-US" dirty="0"/>
          </a:p>
        </p:txBody>
      </p:sp>
      <p:sp>
        <p:nvSpPr>
          <p:cNvPr id="10" name="正方形/長方形 9">
            <a:extLst>
              <a:ext uri="{FF2B5EF4-FFF2-40B4-BE49-F238E27FC236}">
                <a16:creationId xmlns:a16="http://schemas.microsoft.com/office/drawing/2014/main" id="{06081AB6-9477-4E73-BA83-E069C6877352}"/>
              </a:ext>
            </a:extLst>
          </p:cNvPr>
          <p:cNvSpPr/>
          <p:nvPr/>
        </p:nvSpPr>
        <p:spPr>
          <a:xfrm>
            <a:off x="3211522" y="1980000"/>
            <a:ext cx="2754280" cy="369332"/>
          </a:xfrm>
          <a:prstGeom prst="rect">
            <a:avLst/>
          </a:prstGeom>
        </p:spPr>
        <p:txBody>
          <a:bodyPr wrap="none">
            <a:spAutoFit/>
          </a:bodyPr>
          <a:lstStyle/>
          <a:p>
            <a:pPr algn="ctr"/>
            <a:r>
              <a:rPr lang="en-US" altLang="ja-JP" b="1" dirty="0">
                <a:latin typeface="Meiryo UI" panose="020B0604030504040204" pitchFamily="50" charset="-128"/>
                <a:ea typeface="Meiryo UI" panose="020B0604030504040204" pitchFamily="50" charset="-128"/>
              </a:rPr>
              <a:t>EM</a:t>
            </a:r>
            <a:r>
              <a:rPr lang="ja-JP" altLang="en-US" b="1" dirty="0">
                <a:latin typeface="Meiryo UI" panose="020B0604030504040204" pitchFamily="50" charset="-128"/>
                <a:ea typeface="Meiryo UI" panose="020B0604030504040204" pitchFamily="50" charset="-128"/>
              </a:rPr>
              <a:t>アルゴリズム　</a:t>
            </a:r>
            <a:r>
              <a:rPr lang="en-US" altLang="ja-JP" b="1" dirty="0">
                <a:solidFill>
                  <a:prstClr val="black"/>
                </a:solidFill>
                <a:latin typeface="Meiryo UI" panose="020B0604030504040204" pitchFamily="50" charset="-128"/>
                <a:ea typeface="Meiryo UI" panose="020B0604030504040204" pitchFamily="50" charset="-128"/>
              </a:rPr>
              <a:t>M</a:t>
            </a:r>
            <a:r>
              <a:rPr lang="ja-JP" altLang="en-US" b="1" dirty="0">
                <a:solidFill>
                  <a:prstClr val="black"/>
                </a:solidFill>
                <a:latin typeface="Meiryo UI" panose="020B0604030504040204" pitchFamily="50" charset="-128"/>
                <a:ea typeface="Meiryo UI" panose="020B0604030504040204" pitchFamily="50" charset="-128"/>
              </a:rPr>
              <a:t>ステップ</a:t>
            </a:r>
          </a:p>
        </p:txBody>
      </p:sp>
    </p:spTree>
    <p:extLst>
      <p:ext uri="{BB962C8B-B14F-4D97-AF65-F5344CB8AC3E}">
        <p14:creationId xmlns:p14="http://schemas.microsoft.com/office/powerpoint/2010/main" val="1788034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a:xfrm>
            <a:off x="540000" y="180000"/>
            <a:ext cx="9180000" cy="1080000"/>
          </a:xfrm>
        </p:spPr>
        <p:txBody>
          <a:bodyPr/>
          <a:lstStyle/>
          <a:p>
            <a:r>
              <a:rPr kumimoji="1" lang="en-US" altLang="ja-JP" dirty="0"/>
              <a:t>PLSA</a:t>
            </a:r>
            <a:r>
              <a:rPr kumimoji="1" lang="ja-JP" altLang="en-US" dirty="0"/>
              <a:t>の理論　</a:t>
            </a:r>
            <a:r>
              <a:rPr lang="ja-JP" altLang="en-US" dirty="0"/>
              <a:t>式（</a:t>
            </a:r>
            <a:r>
              <a:rPr lang="en-US" altLang="ja-JP" dirty="0"/>
              <a:t>4</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dirty="0"/>
              <a:t>先ほどの</a:t>
            </a:r>
            <a:r>
              <a:rPr lang="en-US" altLang="ja-JP" dirty="0"/>
              <a:t>F</a:t>
            </a:r>
            <a:r>
              <a:rPr lang="ja-JP" altLang="en-US" dirty="0"/>
              <a:t>を微分することで、</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a:t>
            </a:r>
            <a:r>
              <a:rPr lang="ja-JP" altLang="en-US" dirty="0"/>
              <a:t>を求めます。</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a:t>
            </a:r>
            <a:r>
              <a:rPr lang="ja-JP" altLang="en-US" dirty="0"/>
              <a:t>はクラスタ</a:t>
            </a:r>
            <a:r>
              <a:rPr lang="en-US" altLang="ja-JP" dirty="0"/>
              <a:t>z</a:t>
            </a:r>
            <a:r>
              <a:rPr lang="ja-JP" altLang="en-US" dirty="0"/>
              <a:t>の中でデータ</a:t>
            </a:r>
            <a:r>
              <a:rPr lang="en-US" altLang="ja-JP" dirty="0"/>
              <a:t>x</a:t>
            </a:r>
            <a:r>
              <a:rPr lang="ja-JP" altLang="en-US" dirty="0"/>
              <a:t>が出現する確率であり、</a:t>
            </a:r>
            <a:r>
              <a:rPr lang="ja-JP" altLang="en-US" i="1" dirty="0"/>
              <a:t>クラスタ</a:t>
            </a:r>
            <a:r>
              <a:rPr lang="ja-JP" altLang="en-US" dirty="0"/>
              <a:t>がどのような構成で作られているかを確認することができます</a:t>
            </a:r>
            <a:endParaRPr lang="en-US" altLang="ja-JP" dirty="0"/>
          </a:p>
        </p:txBody>
      </p:sp>
      <mc:AlternateContent xmlns:mc="http://schemas.openxmlformats.org/markup-compatibility/2006" xmlns:a14="http://schemas.microsoft.com/office/drawing/2010/main">
        <mc:Choice Requires="a14">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extLst>
                  <p:ext uri="{D42A27DB-BD31-4B8C-83A1-F6EECF244321}">
                    <p14:modId xmlns:p14="http://schemas.microsoft.com/office/powerpoint/2010/main" val="3779410614"/>
                  </p:ext>
                </p:extLst>
              </p:nvPr>
            </p:nvGraphicFramePr>
            <p:xfrm>
              <a:off x="540000" y="2340000"/>
              <a:ext cx="8909693" cy="3312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441013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type m:val="skw"/>
                                    <m:ctrlPr>
                                      <a:rPr lang="ja-JP" altLang="en-US" i="1" smtClean="0">
                                        <a:latin typeface="Cambria Math" panose="02040503050406030204" pitchFamily="18" charset="0"/>
                                      </a:rPr>
                                    </m:ctrlPr>
                                  </m:fPr>
                                  <m:num>
                                    <m:r>
                                      <m:rPr>
                                        <m:sty m:val="p"/>
                                      </m:rPr>
                                      <a:rPr lang="en-US" altLang="ja-JP" smtClean="0">
                                        <a:latin typeface="Cambria Math" panose="02040503050406030204" pitchFamily="18" charset="0"/>
                                        <a:ea typeface="Cambria Math" panose="02040503050406030204" pitchFamily="18" charset="0"/>
                                      </a:rPr>
                                      <m:t>δF</m:t>
                                    </m:r>
                                  </m:num>
                                  <m:den>
                                    <m:r>
                                      <m:rPr>
                                        <m:sty m:val="p"/>
                                      </m:rPr>
                                      <a:rPr lang="en-US" altLang="ja-JP" smtClean="0">
                                        <a:latin typeface="Cambria Math" panose="02040503050406030204" pitchFamily="18" charset="0"/>
                                        <a:ea typeface="Cambria Math" panose="02040503050406030204" pitchFamily="18" charset="0"/>
                                      </a:rPr>
                                      <m:t>δ</m:t>
                                    </m:r>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𝑥</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den>
                                </m:f>
                              </m:oMath>
                            </m:oMathPara>
                          </a14:m>
                          <a:endParaRPr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𝑥</m:t>
                                        </m:r>
                                      </m:e>
                                      <m:e>
                                        <m:r>
                                          <a:rPr kumimoji="1" lang="en-US" altLang="ja-JP" smtClean="0">
                                            <a:latin typeface="Cambria Math" panose="02040503050406030204" pitchFamily="18" charset="0"/>
                                            <a:ea typeface="Cambria Math" panose="02040503050406030204" pitchFamily="18" charset="0"/>
                                          </a:rPr>
                                          <m:t>𝑧</m:t>
                                        </m:r>
                                      </m:e>
                                    </m:d>
                                  </m:den>
                                </m:f>
                                <m:r>
                                  <a:rPr kumimoji="1" lang="en-US" altLang="ja-JP" smtClean="0">
                                    <a:latin typeface="Cambria Math" panose="02040503050406030204" pitchFamily="18" charset="0"/>
                                    <a:ea typeface="Cambria Math" panose="02040503050406030204" pitchFamily="18" charset="0"/>
                                  </a:rPr>
                                  <m:t>−</m:t>
                                </m:r>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1</m:t>
                                    </m:r>
                                  </m:sub>
                                </m:sSub>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𝑥</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1</m:t>
                                        </m:r>
                                      </m:sub>
                                    </m:sSub>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両辺の</a:t>
                          </a:r>
                          <a14:m>
                            <m:oMath xmlns:m="http://schemas.openxmlformats.org/officeDocument/2006/math">
                              <m:nary>
                                <m:naryPr>
                                  <m:chr m:val="∑"/>
                                  <m:supHide m:val="on"/>
                                  <m:ctrlPr>
                                    <a:rPr kumimoji="1" lang="en-US" altLang="ja-JP" i="1" smtClean="0">
                                      <a:latin typeface="Cambria Math" panose="02040503050406030204" pitchFamily="18" charset="0"/>
                                    </a:rPr>
                                  </m:ctrlPr>
                                </m:naryPr>
                                <m:sub>
                                  <m:r>
                                    <a:rPr kumimoji="1" lang="en-US" altLang="ja-JP" smtClean="0">
                                      <a:latin typeface="Cambria Math" panose="02040503050406030204" pitchFamily="18" charset="0"/>
                                    </a:rPr>
                                    <m:t>𝑥</m:t>
                                  </m:r>
                                </m:sub>
                                <m:sup/>
                                <m:e>
                                  <m:r>
                                    <a:rPr kumimoji="1" lang="ja-JP" altLang="en-US" i="1" smtClean="0">
                                      <a:latin typeface="Cambria Math" panose="02040503050406030204" pitchFamily="18" charset="0"/>
                                    </a:rPr>
                                    <m:t>をとる</m:t>
                                  </m:r>
                                </m:e>
                              </m:nary>
                            </m:oMath>
                          </a14:m>
                          <a:endParaRPr kumimoji="1" lang="ja-JP" altLang="en-US" dirty="0">
                            <a:latin typeface="Meiryo UI" panose="020B0604030504040204" pitchFamily="50" charset="-128"/>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1</m:t>
                                    </m:r>
                                  </m:sub>
                                </m:sSub>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𝑥</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bl>
              </a:graphicData>
            </a:graphic>
          </p:graphicFrame>
        </mc:Choice>
        <mc:Fallback xmlns="">
          <p:graphicFrame>
            <p:nvGraphicFramePr>
              <p:cNvPr id="5" name="表 7">
                <a:extLst>
                  <a:ext uri="{FF2B5EF4-FFF2-40B4-BE49-F238E27FC236}">
                    <a16:creationId xmlns:a16="http://schemas.microsoft.com/office/drawing/2014/main" id="{FA0AA03C-4E30-4685-96FE-FD46CCD4F3C0}"/>
                  </a:ext>
                </a:extLst>
              </p:cNvPr>
              <p:cNvGraphicFramePr>
                <a:graphicFrameLocks noGrp="1"/>
              </p:cNvGraphicFramePr>
              <p:nvPr>
                <p:extLst>
                  <p:ext uri="{D42A27DB-BD31-4B8C-83A1-F6EECF244321}">
                    <p14:modId xmlns:p14="http://schemas.microsoft.com/office/powerpoint/2010/main" val="3779410614"/>
                  </p:ext>
                </p:extLst>
              </p:nvPr>
            </p:nvGraphicFramePr>
            <p:xfrm>
              <a:off x="540000" y="2340000"/>
              <a:ext cx="8909693" cy="3312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441013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145495" t="-42647" r="-413964"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801471" t="-42647" r="-1251471"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84669" t="-42647" r="-17541"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1995522" t="-42647" r="-89552" b="-3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141606" r="-413964" b="-19927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141606" r="-1251471" b="-19927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141606" r="-17541" b="-19927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922" t="-243382" r="-469547"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243382" r="-413964"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243382" r="-1251471"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243382" r="-17541" b="-10073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343382" r="-413964" b="-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343382" r="-1251471" b="-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343382" r="-17541" b="-73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bl>
              </a:graphicData>
            </a:graphic>
          </p:graphicFrame>
        </mc:Fallback>
      </mc:AlternateContent>
      <p:sp>
        <p:nvSpPr>
          <p:cNvPr id="6" name="正方形/長方形 5">
            <a:extLst>
              <a:ext uri="{FF2B5EF4-FFF2-40B4-BE49-F238E27FC236}">
                <a16:creationId xmlns:a16="http://schemas.microsoft.com/office/drawing/2014/main" id="{F8B9638E-9B9F-40CA-8907-0610F91B5829}"/>
              </a:ext>
            </a:extLst>
          </p:cNvPr>
          <p:cNvSpPr/>
          <p:nvPr/>
        </p:nvSpPr>
        <p:spPr>
          <a:xfrm>
            <a:off x="3415905" y="1980000"/>
            <a:ext cx="2345515"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4</a:t>
            </a:r>
            <a:r>
              <a:rPr lang="ja-JP" altLang="en-US" b="1" dirty="0">
                <a:latin typeface="Meiryo UI" panose="020B0604030504040204" pitchFamily="50" charset="-128"/>
                <a:ea typeface="Meiryo UI" panose="020B0604030504040204" pitchFamily="50" charset="-128"/>
              </a:rPr>
              <a:t>）　</a:t>
            </a:r>
            <a:r>
              <a:rPr lang="en-US" altLang="ja-JP" b="1" dirty="0">
                <a:solidFill>
                  <a:prstClr val="black"/>
                </a:solidFill>
                <a:latin typeface="Meiryo UI" panose="020B0604030504040204" pitchFamily="50" charset="-128"/>
                <a:ea typeface="Meiryo UI" panose="020B0604030504040204" pitchFamily="50" charset="-128"/>
              </a:rPr>
              <a:t>M</a:t>
            </a:r>
            <a:r>
              <a:rPr lang="ja-JP" altLang="en-US" b="1" dirty="0">
                <a:solidFill>
                  <a:prstClr val="black"/>
                </a:solidFill>
                <a:latin typeface="Meiryo UI" panose="020B0604030504040204" pitchFamily="50" charset="-128"/>
                <a:ea typeface="Meiryo UI" panose="020B0604030504040204" pitchFamily="50" charset="-128"/>
              </a:rPr>
              <a:t>ステップ①</a:t>
            </a:r>
          </a:p>
        </p:txBody>
      </p:sp>
    </p:spTree>
    <p:extLst>
      <p:ext uri="{BB962C8B-B14F-4D97-AF65-F5344CB8AC3E}">
        <p14:creationId xmlns:p14="http://schemas.microsoft.com/office/powerpoint/2010/main" val="1822005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ja-JP" altLang="en-US" dirty="0"/>
              <a:t>式（</a:t>
            </a:r>
            <a:r>
              <a:rPr lang="en-US" altLang="ja-JP" dirty="0"/>
              <a:t>5</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dirty="0"/>
              <a:t>先ほどの</a:t>
            </a:r>
            <a:r>
              <a:rPr lang="en-US" altLang="ja-JP" dirty="0"/>
              <a:t>F</a:t>
            </a:r>
            <a:r>
              <a:rPr lang="ja-JP" altLang="en-US" dirty="0"/>
              <a:t>を微分することで、</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a:t>
            </a:r>
            <a:r>
              <a:rPr lang="ja-JP" altLang="en-US" dirty="0"/>
              <a:t>を求めます。</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a:t>
            </a:r>
            <a:r>
              <a:rPr lang="ja-JP" altLang="en-US" dirty="0"/>
              <a:t>はクラスタ</a:t>
            </a:r>
            <a:r>
              <a:rPr lang="en-US" altLang="ja-JP" dirty="0"/>
              <a:t>z</a:t>
            </a:r>
            <a:r>
              <a:rPr lang="ja-JP" altLang="en-US" dirty="0"/>
              <a:t>の中でデータ</a:t>
            </a:r>
            <a:r>
              <a:rPr lang="en-US" altLang="ja-JP" dirty="0"/>
              <a:t>y</a:t>
            </a:r>
            <a:r>
              <a:rPr lang="ja-JP" altLang="en-US" dirty="0"/>
              <a:t>が出現する確率であり、</a:t>
            </a:r>
            <a:r>
              <a:rPr lang="ja-JP" altLang="en-US" i="1" dirty="0"/>
              <a:t>クラスタ</a:t>
            </a:r>
            <a:r>
              <a:rPr lang="ja-JP" altLang="en-US" dirty="0"/>
              <a:t>がどのような構成で作られているかを確認することができます</a:t>
            </a:r>
            <a:endParaRPr lang="en-US" altLang="ja-JP" dirty="0"/>
          </a:p>
        </p:txBody>
      </p:sp>
      <mc:AlternateContent xmlns:mc="http://schemas.openxmlformats.org/markup-compatibility/2006" xmlns:a14="http://schemas.microsoft.com/office/drawing/2010/main">
        <mc:Choice Requires="a14">
          <p:graphicFrame>
            <p:nvGraphicFramePr>
              <p:cNvPr id="6" name="表 7">
                <a:extLst>
                  <a:ext uri="{FF2B5EF4-FFF2-40B4-BE49-F238E27FC236}">
                    <a16:creationId xmlns:a16="http://schemas.microsoft.com/office/drawing/2014/main" id="{3D4B1FD9-C6BF-4B71-8AB8-5F639606F019}"/>
                  </a:ext>
                </a:extLst>
              </p:cNvPr>
              <p:cNvGraphicFramePr>
                <a:graphicFrameLocks noGrp="1"/>
              </p:cNvGraphicFramePr>
              <p:nvPr>
                <p:extLst>
                  <p:ext uri="{D42A27DB-BD31-4B8C-83A1-F6EECF244321}">
                    <p14:modId xmlns:p14="http://schemas.microsoft.com/office/powerpoint/2010/main" val="533938898"/>
                  </p:ext>
                </p:extLst>
              </p:nvPr>
            </p:nvGraphicFramePr>
            <p:xfrm>
              <a:off x="540000" y="2340000"/>
              <a:ext cx="8909693" cy="3312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441013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type m:val="skw"/>
                                    <m:ctrlPr>
                                      <a:rPr lang="ja-JP" altLang="en-US" i="1" smtClean="0">
                                        <a:latin typeface="Cambria Math" panose="02040503050406030204" pitchFamily="18" charset="0"/>
                                      </a:rPr>
                                    </m:ctrlPr>
                                  </m:fPr>
                                  <m:num>
                                    <m:r>
                                      <m:rPr>
                                        <m:sty m:val="p"/>
                                      </m:rPr>
                                      <a:rPr lang="en-US" altLang="ja-JP" smtClean="0">
                                        <a:latin typeface="Cambria Math" panose="02040503050406030204" pitchFamily="18" charset="0"/>
                                        <a:ea typeface="Cambria Math" panose="02040503050406030204" pitchFamily="18" charset="0"/>
                                      </a:rPr>
                                      <m:t>δF</m:t>
                                    </m:r>
                                  </m:num>
                                  <m:den>
                                    <m:r>
                                      <m:rPr>
                                        <m:sty m:val="p"/>
                                      </m:rPr>
                                      <a:rPr lang="en-US" altLang="ja-JP" smtClean="0">
                                        <a:latin typeface="Cambria Math" panose="02040503050406030204" pitchFamily="18" charset="0"/>
                                        <a:ea typeface="Cambria Math" panose="02040503050406030204" pitchFamily="18" charset="0"/>
                                      </a:rPr>
                                      <m:t>δ</m:t>
                                    </m:r>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𝑦</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den>
                                </m:f>
                              </m:oMath>
                            </m:oMathPara>
                          </a14:m>
                          <a:endParaRPr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𝑦</m:t>
                                        </m:r>
                                      </m:e>
                                      <m:e>
                                        <m:r>
                                          <a:rPr kumimoji="1" lang="en-US" altLang="ja-JP" smtClean="0">
                                            <a:latin typeface="Cambria Math" panose="02040503050406030204" pitchFamily="18" charset="0"/>
                                            <a:ea typeface="Cambria Math" panose="02040503050406030204" pitchFamily="18" charset="0"/>
                                          </a:rPr>
                                          <m:t>𝑧</m:t>
                                        </m:r>
                                      </m:e>
                                    </m:d>
                                  </m:den>
                                </m:f>
                                <m:r>
                                  <a:rPr kumimoji="1" lang="en-US" altLang="ja-JP" smtClean="0">
                                    <a:latin typeface="Cambria Math" panose="02040503050406030204" pitchFamily="18" charset="0"/>
                                    <a:ea typeface="Cambria Math" panose="02040503050406030204" pitchFamily="18" charset="0"/>
                                  </a:rPr>
                                  <m:t>−</m:t>
                                </m:r>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2</m:t>
                                    </m:r>
                                  </m:sub>
                                </m:sSub>
                              </m:oMath>
                            </m:oMathPara>
                          </a14:m>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𝑦</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2</m:t>
                                        </m:r>
                                      </m:sub>
                                    </m:sSub>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両辺の</a:t>
                          </a:r>
                          <a14:m>
                            <m:oMath xmlns:m="http://schemas.openxmlformats.org/officeDocument/2006/math">
                              <m:nary>
                                <m:naryPr>
                                  <m:chr m:val="∑"/>
                                  <m:supHide m:val="on"/>
                                  <m:ctrlPr>
                                    <a:rPr kumimoji="1" lang="en-US" altLang="ja-JP" i="1" smtClean="0">
                                      <a:latin typeface="Cambria Math" panose="02040503050406030204" pitchFamily="18" charset="0"/>
                                    </a:rPr>
                                  </m:ctrlPr>
                                </m:naryPr>
                                <m:sub>
                                  <m:r>
                                    <m:rPr>
                                      <m:sty m:val="p"/>
                                    </m:rPr>
                                    <a:rPr kumimoji="1" lang="en-US" altLang="ja-JP" b="0" i="0" smtClean="0">
                                      <a:latin typeface="Cambria Math" panose="02040503050406030204" pitchFamily="18" charset="0"/>
                                    </a:rPr>
                                    <m:t>y</m:t>
                                  </m:r>
                                </m:sub>
                                <m:sup/>
                                <m:e>
                                  <m:r>
                                    <a:rPr kumimoji="1" lang="ja-JP" altLang="en-US" i="1" smtClean="0">
                                      <a:latin typeface="Cambria Math" panose="02040503050406030204" pitchFamily="18" charset="0"/>
                                    </a:rPr>
                                    <m:t>をとる</m:t>
                                  </m:r>
                                </m:e>
                              </m:nary>
                            </m:oMath>
                          </a14:m>
                          <a:endParaRPr kumimoji="1" lang="ja-JP" altLang="en-US" dirty="0">
                            <a:latin typeface="Meiryo UI" panose="020B0604030504040204" pitchFamily="50" charset="-128"/>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2</m:t>
                                    </m:r>
                                  </m:sub>
                                </m:sSub>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𝑦</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bl>
              </a:graphicData>
            </a:graphic>
          </p:graphicFrame>
        </mc:Choice>
        <mc:Fallback xmlns="">
          <p:graphicFrame>
            <p:nvGraphicFramePr>
              <p:cNvPr id="6" name="表 7">
                <a:extLst>
                  <a:ext uri="{FF2B5EF4-FFF2-40B4-BE49-F238E27FC236}">
                    <a16:creationId xmlns:a16="http://schemas.microsoft.com/office/drawing/2014/main" id="{3D4B1FD9-C6BF-4B71-8AB8-5F639606F019}"/>
                  </a:ext>
                </a:extLst>
              </p:cNvPr>
              <p:cNvGraphicFramePr>
                <a:graphicFrameLocks noGrp="1"/>
              </p:cNvGraphicFramePr>
              <p:nvPr>
                <p:extLst>
                  <p:ext uri="{D42A27DB-BD31-4B8C-83A1-F6EECF244321}">
                    <p14:modId xmlns:p14="http://schemas.microsoft.com/office/powerpoint/2010/main" val="533938898"/>
                  </p:ext>
                </p:extLst>
              </p:nvPr>
            </p:nvGraphicFramePr>
            <p:xfrm>
              <a:off x="540000" y="2340000"/>
              <a:ext cx="8909693" cy="3312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441013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145495" t="-42647" r="-413964"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801471" t="-42647" r="-1251471"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84669" t="-42647" r="-17541" b="-3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1995522" t="-42647" r="-89552" b="-3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141606" r="-413964" b="-19927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141606" r="-1251471" b="-199270"/>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141606" r="-17541" b="-19927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922" t="-243382" r="-469547"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243382" r="-413964"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243382" r="-1251471" b="-100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243382" r="-17541" b="-10073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5495" t="-343382" r="-413964" b="-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343382" r="-1251471" b="-735"/>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669" t="-343382" r="-17541" b="-73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bl>
              </a:graphicData>
            </a:graphic>
          </p:graphicFrame>
        </mc:Fallback>
      </mc:AlternateContent>
      <p:sp>
        <p:nvSpPr>
          <p:cNvPr id="7" name="正方形/長方形 6">
            <a:extLst>
              <a:ext uri="{FF2B5EF4-FFF2-40B4-BE49-F238E27FC236}">
                <a16:creationId xmlns:a16="http://schemas.microsoft.com/office/drawing/2014/main" id="{243AD0ED-ABC6-4BA2-8D19-2850FAB42B44}"/>
              </a:ext>
            </a:extLst>
          </p:cNvPr>
          <p:cNvSpPr/>
          <p:nvPr/>
        </p:nvSpPr>
        <p:spPr>
          <a:xfrm>
            <a:off x="3415906" y="1980000"/>
            <a:ext cx="2345515"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5</a:t>
            </a:r>
            <a:r>
              <a:rPr lang="ja-JP" altLang="en-US" b="1" dirty="0">
                <a:latin typeface="Meiryo UI" panose="020B0604030504040204" pitchFamily="50" charset="-128"/>
                <a:ea typeface="Meiryo UI" panose="020B0604030504040204" pitchFamily="50" charset="-128"/>
              </a:rPr>
              <a:t>）　</a:t>
            </a:r>
            <a:r>
              <a:rPr lang="en-US" altLang="ja-JP" b="1" dirty="0">
                <a:solidFill>
                  <a:prstClr val="black"/>
                </a:solidFill>
                <a:latin typeface="Meiryo UI" panose="020B0604030504040204" pitchFamily="50" charset="-128"/>
                <a:ea typeface="Meiryo UI" panose="020B0604030504040204" pitchFamily="50" charset="-128"/>
              </a:rPr>
              <a:t>M</a:t>
            </a:r>
            <a:r>
              <a:rPr lang="ja-JP" altLang="en-US" b="1" dirty="0">
                <a:solidFill>
                  <a:prstClr val="black"/>
                </a:solidFill>
                <a:latin typeface="Meiryo UI" panose="020B0604030504040204" pitchFamily="50" charset="-128"/>
                <a:ea typeface="Meiryo UI" panose="020B0604030504040204" pitchFamily="50" charset="-128"/>
              </a:rPr>
              <a:t>ステップ②</a:t>
            </a:r>
          </a:p>
        </p:txBody>
      </p:sp>
    </p:spTree>
    <p:extLst>
      <p:ext uri="{BB962C8B-B14F-4D97-AF65-F5344CB8AC3E}">
        <p14:creationId xmlns:p14="http://schemas.microsoft.com/office/powerpoint/2010/main" val="1315160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表 7">
                <a:extLst>
                  <a:ext uri="{FF2B5EF4-FFF2-40B4-BE49-F238E27FC236}">
                    <a16:creationId xmlns:a16="http://schemas.microsoft.com/office/drawing/2014/main" id="{9845A12B-31C9-4713-B17C-53BF8B54120A}"/>
                  </a:ext>
                </a:extLst>
              </p:cNvPr>
              <p:cNvGraphicFramePr>
                <a:graphicFrameLocks noGrp="1"/>
              </p:cNvGraphicFramePr>
              <p:nvPr>
                <p:extLst>
                  <p:ext uri="{D42A27DB-BD31-4B8C-83A1-F6EECF244321}">
                    <p14:modId xmlns:p14="http://schemas.microsoft.com/office/powerpoint/2010/main" val="1684921308"/>
                  </p:ext>
                </p:extLst>
              </p:nvPr>
            </p:nvGraphicFramePr>
            <p:xfrm>
              <a:off x="270001" y="2340000"/>
              <a:ext cx="9556123" cy="4140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505656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type m:val="skw"/>
                                    <m:ctrlPr>
                                      <a:rPr lang="ja-JP" altLang="en-US" i="1" smtClean="0">
                                        <a:latin typeface="Cambria Math" panose="02040503050406030204" pitchFamily="18" charset="0"/>
                                      </a:rPr>
                                    </m:ctrlPr>
                                  </m:fPr>
                                  <m:num>
                                    <m:r>
                                      <m:rPr>
                                        <m:sty m:val="p"/>
                                      </m:rPr>
                                      <a:rPr lang="en-US" altLang="ja-JP" smtClean="0">
                                        <a:latin typeface="Cambria Math" panose="02040503050406030204" pitchFamily="18" charset="0"/>
                                        <a:ea typeface="Cambria Math" panose="02040503050406030204" pitchFamily="18" charset="0"/>
                                      </a:rPr>
                                      <m:t>δF</m:t>
                                    </m:r>
                                  </m:num>
                                  <m:den>
                                    <m:r>
                                      <m:rPr>
                                        <m:sty m:val="p"/>
                                      </m:rPr>
                                      <a:rPr lang="en-US" altLang="ja-JP" smtClean="0">
                                        <a:latin typeface="Cambria Math" panose="02040503050406030204" pitchFamily="18" charset="0"/>
                                        <a:ea typeface="Cambria Math" panose="02040503050406030204" pitchFamily="18" charset="0"/>
                                      </a:rPr>
                                      <m:t>δ</m:t>
                                    </m:r>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den>
                                </m:f>
                              </m:oMath>
                            </m:oMathPara>
                          </a14:m>
                          <a:endParaRPr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r>
                                      <a:rPr kumimoji="1" lang="en-US" altLang="ja-JP" smtClean="0">
                                        <a:latin typeface="Cambria Math" panose="02040503050406030204" pitchFamily="18" charset="0"/>
                                        <a:ea typeface="Cambria Math" panose="02040503050406030204" pitchFamily="18" charset="0"/>
                                      </a:rPr>
                                      <m:t>𝑃</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𝑧</m:t>
                                    </m:r>
                                    <m:r>
                                      <a:rPr kumimoji="1" lang="en-US" altLang="ja-JP" smtClean="0">
                                        <a:latin typeface="Cambria Math" panose="02040503050406030204" pitchFamily="18" charset="0"/>
                                        <a:ea typeface="Cambria Math" panose="02040503050406030204" pitchFamily="18" charset="0"/>
                                      </a:rPr>
                                      <m:t>)</m:t>
                                    </m:r>
                                  </m:den>
                                </m:f>
                                <m:r>
                                  <a:rPr kumimoji="1" lang="en-US" altLang="ja-JP" smtClean="0">
                                    <a:latin typeface="Cambria Math" panose="02040503050406030204" pitchFamily="18" charset="0"/>
                                    <a:ea typeface="Cambria Math" panose="02040503050406030204" pitchFamily="18" charset="0"/>
                                  </a:rPr>
                                  <m:t>−</m:t>
                                </m:r>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3</m:t>
                                    </m:r>
                                  </m:sub>
                                </m:sSub>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dirty="0"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ja-JP" smtClean="0">
                                    <a:latin typeface="Cambria Math" panose="02040503050406030204" pitchFamily="18" charset="0"/>
                                    <a:ea typeface="Cambria Math" panose="02040503050406030204" pitchFamily="18" charset="0"/>
                                  </a:rPr>
                                  <m:t>𝑃</m:t>
                                </m:r>
                                <m:r>
                                  <a:rPr lang="en-US" altLang="ja-JP" smtClean="0">
                                    <a:latin typeface="Cambria Math" panose="02040503050406030204" pitchFamily="18" charset="0"/>
                                    <a:ea typeface="Cambria Math" panose="02040503050406030204" pitchFamily="18" charset="0"/>
                                  </a:rPr>
                                  <m:t>(</m:t>
                                </m:r>
                                <m:r>
                                  <a:rPr lang="en-US" altLang="ja-JP" smtClean="0">
                                    <a:latin typeface="Cambria Math" panose="02040503050406030204" pitchFamily="18" charset="0"/>
                                    <a:ea typeface="Cambria Math" panose="02040503050406030204" pitchFamily="18" charset="0"/>
                                  </a:rPr>
                                  <m:t>𝑧</m:t>
                                </m:r>
                                <m:r>
                                  <a:rPr lang="en-US" altLang="ja-JP" smtClean="0">
                                    <a:latin typeface="Cambria Math" panose="02040503050406030204" pitchFamily="18" charset="0"/>
                                    <a:ea typeface="Cambria Math" panose="02040503050406030204" pitchFamily="18" charset="0"/>
                                  </a:rPr>
                                  <m:t>)</m:t>
                                </m:r>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3</m:t>
                                        </m:r>
                                      </m:sub>
                                    </m:sSub>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ここで両辺の</a:t>
                          </a:r>
                          <a14:m>
                            <m:oMath xmlns:m="http://schemas.openxmlformats.org/officeDocument/2006/math">
                              <m:nary>
                                <m:naryPr>
                                  <m:chr m:val="∑"/>
                                  <m:supHide m:val="on"/>
                                  <m:ctrlPr>
                                    <a:rPr kumimoji="1" lang="en-US" altLang="ja-JP" i="1" smtClean="0">
                                      <a:latin typeface="Cambria Math" panose="02040503050406030204" pitchFamily="18" charset="0"/>
                                    </a:rPr>
                                  </m:ctrlPr>
                                </m:naryPr>
                                <m:sub>
                                  <m:r>
                                    <a:rPr kumimoji="1" lang="en-US" altLang="ja-JP" smtClean="0">
                                      <a:latin typeface="Cambria Math" panose="02040503050406030204" pitchFamily="18" charset="0"/>
                                    </a:rPr>
                                    <m:t>𝑧</m:t>
                                  </m:r>
                                </m:sub>
                                <m:sup/>
                                <m:e>
                                  <m:r>
                                    <a:rPr kumimoji="1" lang="ja-JP" altLang="en-US" smtClean="0">
                                      <a:latin typeface="Cambria Math" panose="02040503050406030204" pitchFamily="18" charset="0"/>
                                    </a:rPr>
                                    <m:t>をとる</m:t>
                                  </m:r>
                                </m:e>
                              </m:nary>
                            </m:oMath>
                          </a14:m>
                          <a:endParaRPr kumimoji="1" lang="ja-JP" altLang="en-US" dirty="0">
                            <a:latin typeface="Meiryo UI" panose="020B0604030504040204" pitchFamily="50" charset="-128"/>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ea typeface="Cambria Math" panose="02040503050406030204" pitchFamily="18" charset="0"/>
                                      </a:rPr>
                                    </m:ctrlPr>
                                  </m:sSubPr>
                                  <m:e>
                                    <m:r>
                                      <m:rPr>
                                        <m:sty m:val="p"/>
                                      </m:rPr>
                                      <a:rPr kumimoji="1" lang="en-US" altLang="ja-JP" smtClean="0">
                                        <a:latin typeface="Cambria Math" panose="02040503050406030204" pitchFamily="18" charset="0"/>
                                        <a:ea typeface="Cambria Math" panose="02040503050406030204" pitchFamily="18" charset="0"/>
                                      </a:rPr>
                                      <m:t>λ</m:t>
                                    </m:r>
                                  </m:e>
                                  <m:sub>
                                    <m:r>
                                      <a:rPr kumimoji="1" lang="en-US" altLang="ja-JP" smtClean="0">
                                        <a:latin typeface="Cambria Math" panose="02040503050406030204" pitchFamily="18" charset="0"/>
                                        <a:ea typeface="Cambria Math" panose="02040503050406030204" pitchFamily="18" charset="0"/>
                                      </a:rPr>
                                      <m:t>3</m:t>
                                    </m:r>
                                  </m:sub>
                                </m:sSub>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e>
                                </m:nary>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𝑧</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e>
                                    </m:nary>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ja-JP" sz="1800" u="none" strike="noStrike" kern="1200" cap="none" spc="0" normalizeH="0" baseline="0" noProof="0" dirty="0" smtClean="0">
                                    <a:ln>
                                      <a:noFill/>
                                    </a:ln>
                                    <a:effectLst/>
                                    <a:uLnTx/>
                                    <a:uFillTx/>
                                    <a:latin typeface="Cambria Math" panose="02040503050406030204" pitchFamily="18" charset="0"/>
                                    <a:ea typeface="Cambria Math" panose="02040503050406030204" pitchFamily="18" charset="0"/>
                                  </a:rPr>
                                  <m:t>=</m:t>
                                </m:r>
                              </m:oMath>
                            </m:oMathPara>
                          </a14:m>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1" lang="en-US" altLang="ja-JP" smtClean="0">
                                    <a:latin typeface="Cambria Math" panose="02040503050406030204" pitchFamily="18" charset="0"/>
                                    <a:ea typeface="Cambria Math" panose="02040503050406030204" pitchFamily="18" charset="0"/>
                                  </a:rPr>
                                  <m:t> </m:t>
                                </m:r>
                                <m:f>
                                  <m:fPr>
                                    <m:type m:val="skw"/>
                                    <m:ctrlPr>
                                      <a:rPr kumimoji="1" lang="en-US" altLang="ja-JP" i="1" smtClean="0">
                                        <a:latin typeface="Cambria Math" panose="02040503050406030204" pitchFamily="18" charset="0"/>
                                        <a:ea typeface="Cambria Math" panose="02040503050406030204" pitchFamily="18" charset="0"/>
                                      </a:rPr>
                                    </m:ctrlPr>
                                  </m:fPr>
                                  <m:num>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m:rPr>
                                                <m:brk m:alnAt="7"/>
                                              </m:rP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𝑃</m:t>
                                            </m:r>
                                            <m:d>
                                              <m:dPr>
                                                <m:ctrlPr>
                                                  <a:rPr kumimoji="1" lang="en-US" altLang="ja-JP" i="1" smtClean="0">
                                                    <a:latin typeface="Cambria Math" panose="02040503050406030204" pitchFamily="18" charset="0"/>
                                                    <a:ea typeface="Cambria Math" panose="02040503050406030204" pitchFamily="18" charset="0"/>
                                                  </a:rPr>
                                                </m:ctrlPr>
                                              </m:dPr>
                                              <m:e>
                                                <m:r>
                                                  <a:rPr kumimoji="1" lang="en-US" altLang="ja-JP" smtClean="0">
                                                    <a:latin typeface="Cambria Math" panose="02040503050406030204" pitchFamily="18" charset="0"/>
                                                    <a:ea typeface="Cambria Math" panose="02040503050406030204" pitchFamily="18" charset="0"/>
                                                  </a:rPr>
                                                  <m:t>𝑧</m:t>
                                                </m:r>
                                              </m:e>
                                              <m:e>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e>
                                            </m:d>
                                          </m:e>
                                        </m:nary>
                                      </m:e>
                                    </m:nary>
                                  </m:num>
                                  <m:den>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𝑥</m:t>
                                        </m:r>
                                      </m:sub>
                                      <m:sup/>
                                      <m:e>
                                        <m:nary>
                                          <m:naryPr>
                                            <m:chr m:val="∑"/>
                                            <m:supHide m:val="on"/>
                                            <m:ctrlPr>
                                              <a:rPr kumimoji="1" lang="en-US" altLang="ja-JP" i="1" smtClean="0">
                                                <a:latin typeface="Cambria Math" panose="02040503050406030204" pitchFamily="18" charset="0"/>
                                                <a:ea typeface="Cambria Math" panose="02040503050406030204" pitchFamily="18" charset="0"/>
                                              </a:rPr>
                                            </m:ctrlPr>
                                          </m:naryPr>
                                          <m:sub>
                                            <m:r>
                                              <a:rPr kumimoji="1" lang="en-US" altLang="ja-JP" smtClean="0">
                                                <a:latin typeface="Cambria Math" panose="02040503050406030204" pitchFamily="18" charset="0"/>
                                                <a:ea typeface="Cambria Math" panose="02040503050406030204" pitchFamily="18" charset="0"/>
                                              </a:rPr>
                                              <m:t>𝑦</m:t>
                                            </m:r>
                                          </m:sub>
                                          <m:sup/>
                                          <m:e>
                                            <m:r>
                                              <a:rPr kumimoji="1" lang="en-US" altLang="ja-JP" smtClean="0">
                                                <a:latin typeface="Cambria Math" panose="02040503050406030204" pitchFamily="18" charset="0"/>
                                                <a:ea typeface="Cambria Math" panose="02040503050406030204" pitchFamily="18" charset="0"/>
                                              </a:rPr>
                                              <m:t>𝑁</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𝑥</m:t>
                                            </m:r>
                                            <m:r>
                                              <a:rPr kumimoji="1" lang="en-US" altLang="ja-JP" smtClean="0">
                                                <a:latin typeface="Cambria Math" panose="02040503050406030204" pitchFamily="18" charset="0"/>
                                                <a:ea typeface="Cambria Math" panose="02040503050406030204" pitchFamily="18" charset="0"/>
                                              </a:rPr>
                                              <m:t>,</m:t>
                                            </m:r>
                                            <m:r>
                                              <a:rPr kumimoji="1" lang="en-US" altLang="ja-JP" smtClean="0">
                                                <a:latin typeface="Cambria Math" panose="02040503050406030204" pitchFamily="18" charset="0"/>
                                                <a:ea typeface="Cambria Math" panose="02040503050406030204" pitchFamily="18" charset="0"/>
                                              </a:rPr>
                                              <m:t>𝑦</m:t>
                                            </m:r>
                                            <m:r>
                                              <a:rPr kumimoji="1" lang="en-US" altLang="ja-JP" smtClean="0">
                                                <a:latin typeface="Cambria Math" panose="02040503050406030204" pitchFamily="18" charset="0"/>
                                                <a:ea typeface="Cambria Math" panose="02040503050406030204" pitchFamily="18" charset="0"/>
                                              </a:rPr>
                                              <m:t>)</m:t>
                                            </m:r>
                                          </m:e>
                                        </m:nary>
                                      </m:e>
                                    </m:nary>
                                  </m:den>
                                </m:f>
                              </m:oMath>
                            </m:oMathPara>
                          </a14:m>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050145"/>
                      </a:ext>
                    </a:extLst>
                  </a:tr>
                </a:tbl>
              </a:graphicData>
            </a:graphic>
          </p:graphicFrame>
        </mc:Choice>
        <mc:Fallback xmlns="">
          <p:graphicFrame>
            <p:nvGraphicFramePr>
              <p:cNvPr id="7" name="表 7">
                <a:extLst>
                  <a:ext uri="{FF2B5EF4-FFF2-40B4-BE49-F238E27FC236}">
                    <a16:creationId xmlns:a16="http://schemas.microsoft.com/office/drawing/2014/main" id="{9845A12B-31C9-4713-B17C-53BF8B54120A}"/>
                  </a:ext>
                </a:extLst>
              </p:cNvPr>
              <p:cNvGraphicFramePr>
                <a:graphicFrameLocks noGrp="1"/>
              </p:cNvGraphicFramePr>
              <p:nvPr>
                <p:extLst>
                  <p:ext uri="{D42A27DB-BD31-4B8C-83A1-F6EECF244321}">
                    <p14:modId xmlns:p14="http://schemas.microsoft.com/office/powerpoint/2010/main" val="1684921308"/>
                  </p:ext>
                </p:extLst>
              </p:nvPr>
            </p:nvGraphicFramePr>
            <p:xfrm>
              <a:off x="270001" y="2340000"/>
              <a:ext cx="9556123" cy="4140000"/>
            </p:xfrm>
            <a:graphic>
              <a:graphicData uri="http://schemas.openxmlformats.org/drawingml/2006/table">
                <a:tbl>
                  <a:tblPr firstRow="1" bandRow="1">
                    <a:tableStyleId>{2D5ABB26-0587-4C30-8999-92F81FD0307C}</a:tableStyleId>
                  </a:tblPr>
                  <a:tblGrid>
                    <a:gridCol w="489268">
                      <a:extLst>
                        <a:ext uri="{9D8B030D-6E8A-4147-A177-3AD203B41FA5}">
                          <a16:colId xmlns:a16="http://schemas.microsoft.com/office/drawing/2014/main" val="2667644316"/>
                        </a:ext>
                      </a:extLst>
                    </a:gridCol>
                    <a:gridCol w="1476000">
                      <a:extLst>
                        <a:ext uri="{9D8B030D-6E8A-4147-A177-3AD203B41FA5}">
                          <a16:colId xmlns:a16="http://schemas.microsoft.com/office/drawing/2014/main" val="858439037"/>
                        </a:ext>
                      </a:extLst>
                    </a:gridCol>
                    <a:gridCol w="1355408">
                      <a:extLst>
                        <a:ext uri="{9D8B030D-6E8A-4147-A177-3AD203B41FA5}">
                          <a16:colId xmlns:a16="http://schemas.microsoft.com/office/drawing/2014/main" val="2561236756"/>
                        </a:ext>
                      </a:extLst>
                    </a:gridCol>
                    <a:gridCol w="413068">
                      <a:extLst>
                        <a:ext uri="{9D8B030D-6E8A-4147-A177-3AD203B41FA5}">
                          <a16:colId xmlns:a16="http://schemas.microsoft.com/office/drawing/2014/main" val="2461200273"/>
                        </a:ext>
                      </a:extLst>
                    </a:gridCol>
                    <a:gridCol w="5056569">
                      <a:extLst>
                        <a:ext uri="{9D8B030D-6E8A-4147-A177-3AD203B41FA5}">
                          <a16:colId xmlns:a16="http://schemas.microsoft.com/office/drawing/2014/main" val="612212733"/>
                        </a:ext>
                      </a:extLst>
                    </a:gridCol>
                    <a:gridCol w="405130">
                      <a:extLst>
                        <a:ext uri="{9D8B030D-6E8A-4147-A177-3AD203B41FA5}">
                          <a16:colId xmlns:a16="http://schemas.microsoft.com/office/drawing/2014/main" val="2755323888"/>
                        </a:ext>
                      </a:extLst>
                    </a:gridCol>
                    <a:gridCol w="360680">
                      <a:extLst>
                        <a:ext uri="{9D8B030D-6E8A-4147-A177-3AD203B41FA5}">
                          <a16:colId xmlns:a16="http://schemas.microsoft.com/office/drawing/2014/main" val="3785906531"/>
                        </a:ext>
                      </a:extLst>
                    </a:gridCol>
                  </a:tblGrid>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B w="12700" cap="flat" cmpd="sng" algn="ctr">
                          <a:solidFill>
                            <a:schemeClr val="tx1"/>
                          </a:solidFill>
                          <a:prstDash val="solid"/>
                          <a:round/>
                          <a:headEnd type="none" w="med" len="med"/>
                          <a:tailEnd type="none" w="med" len="med"/>
                        </a:lnB>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144395" t="-42647" r="-459193" b="-4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801471" t="-42647" r="-1405882" b="-4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73945" t="-42647" r="-15320" b="-401471"/>
                          </a:stretch>
                        </a:blipFill>
                      </a:tcPr>
                    </a:tc>
                    <a:tc>
                      <a:txBody>
                        <a:bodyPr/>
                        <a:lstStyle/>
                        <a:p>
                          <a:endParaRPr lang="ja-JP"/>
                        </a:p>
                      </a:txBody>
                      <a:tcPr anchor="ctr">
                        <a:lnB w="12700" cap="flat" cmpd="sng" algn="ctr">
                          <a:solidFill>
                            <a:schemeClr val="tx1"/>
                          </a:solidFill>
                          <a:prstDash val="solid"/>
                          <a:round/>
                          <a:headEnd type="none" w="med" len="med"/>
                          <a:tailEnd type="none" w="med" len="med"/>
                        </a:lnB>
                        <a:blipFill>
                          <a:blip r:embed="rId2"/>
                          <a:stretch>
                            <a:fillRect l="-2152239" t="-42647" r="-89552" b="-4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0</a:t>
                          </a:r>
                          <a:endParaRPr kumimoji="1" lang="ja-JP" altLang="en-US" dirty="0">
                            <a:latin typeface="Cambria Math" panose="020405030504060302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41491"/>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①を展開</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4395" t="-142647" r="-459193" b="-3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142647" r="-1405882" b="-3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3945" t="-142647" r="-15320" b="-3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669537"/>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058" t="-242647" r="-515289" b="-2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4395" t="-242647" r="-459193" b="-2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242647" r="-1405882" b="-2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3945" t="-242647" r="-15320" b="-2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29340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③を②へ代入</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Cambria Math" panose="02040503050406030204" pitchFamily="18" charset="0"/>
                              <a:ea typeface="Cambria Math" panose="02040503050406030204" pitchFamily="18" charset="0"/>
                            </a:rPr>
                            <a:t>P(z)</a:t>
                          </a: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342647" r="-1405882" b="-10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3945" t="-342647" r="-15320" b="-10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295416"/>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471" t="-442647" r="-1405882" b="-1471"/>
                          </a:stretch>
                        </a:blipFill>
                      </a:tcPr>
                    </a:tc>
                    <a:tc>
                      <a:txBody>
                        <a:bodyPr/>
                        <a:lstStyle/>
                        <a:p>
                          <a:endParaRPr lang="ja-JP"/>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3945" t="-442647" r="-15320" b="-14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Cambria Math" panose="020405030504060302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050145"/>
                      </a:ext>
                    </a:extLst>
                  </a:tr>
                </a:tbl>
              </a:graphicData>
            </a:graphic>
          </p:graphicFrame>
        </mc:Fallback>
      </mc:AlternateContent>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の理論　</a:t>
            </a:r>
            <a:r>
              <a:rPr lang="ja-JP" altLang="en-US" dirty="0"/>
              <a:t>式（</a:t>
            </a:r>
            <a:r>
              <a:rPr lang="en-US" altLang="ja-JP" dirty="0"/>
              <a:t>6</a:t>
            </a:r>
            <a:r>
              <a:rPr lang="ja-JP" altLang="en-US" dirty="0"/>
              <a:t>）の導出</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b="1" dirty="0"/>
              <a:t>先ほどの</a:t>
            </a:r>
            <a:r>
              <a:rPr lang="en-US" altLang="ja-JP" b="1" dirty="0"/>
              <a:t>F</a:t>
            </a:r>
            <a:r>
              <a:rPr lang="ja-JP" altLang="en-US" b="1" dirty="0"/>
              <a:t>を微分することで、</a:t>
            </a:r>
            <a:r>
              <a:rPr lang="en-US" altLang="ja-JP" b="1" dirty="0">
                <a:latin typeface="Cambria Math" panose="02040503050406030204" pitchFamily="18" charset="0"/>
                <a:ea typeface="Cambria Math" panose="02040503050406030204" pitchFamily="18" charset="0"/>
              </a:rPr>
              <a:t>P(z)</a:t>
            </a:r>
            <a:r>
              <a:rPr lang="ja-JP" altLang="en-US" b="1" dirty="0"/>
              <a:t>を求めます。</a:t>
            </a:r>
            <a:endParaRPr lang="en-US" altLang="ja-JP" b="1" dirty="0"/>
          </a:p>
          <a:p>
            <a:r>
              <a:rPr lang="en-US" altLang="ja-JP" b="1" dirty="0">
                <a:latin typeface="Cambria Math" panose="02040503050406030204" pitchFamily="18" charset="0"/>
                <a:ea typeface="Cambria Math" panose="02040503050406030204" pitchFamily="18" charset="0"/>
              </a:rPr>
              <a:t>P(z)</a:t>
            </a:r>
            <a:r>
              <a:rPr lang="ja-JP" altLang="en-US" b="1" dirty="0"/>
              <a:t>はクラスタ</a:t>
            </a:r>
            <a:r>
              <a:rPr lang="en-US" altLang="ja-JP" b="1" dirty="0">
                <a:latin typeface="Cambria Math" panose="02040503050406030204" pitchFamily="18" charset="0"/>
                <a:ea typeface="Cambria Math" panose="02040503050406030204" pitchFamily="18" charset="0"/>
              </a:rPr>
              <a:t>z</a:t>
            </a:r>
            <a:r>
              <a:rPr lang="ja-JP" altLang="en-US" b="1" dirty="0"/>
              <a:t>の存在確率です。</a:t>
            </a:r>
            <a:endParaRPr lang="en-US" altLang="ja-JP" b="1" dirty="0"/>
          </a:p>
        </p:txBody>
      </p:sp>
      <p:sp>
        <p:nvSpPr>
          <p:cNvPr id="8" name="正方形/長方形 7">
            <a:extLst>
              <a:ext uri="{FF2B5EF4-FFF2-40B4-BE49-F238E27FC236}">
                <a16:creationId xmlns:a16="http://schemas.microsoft.com/office/drawing/2014/main" id="{7D9DB384-72BC-44EB-94B8-B32D0D722887}"/>
              </a:ext>
            </a:extLst>
          </p:cNvPr>
          <p:cNvSpPr/>
          <p:nvPr/>
        </p:nvSpPr>
        <p:spPr>
          <a:xfrm>
            <a:off x="3415905" y="1980000"/>
            <a:ext cx="2345515"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式（</a:t>
            </a:r>
            <a:r>
              <a:rPr lang="en-US" altLang="ja-JP" b="1" dirty="0">
                <a:latin typeface="Meiryo UI" panose="020B0604030504040204" pitchFamily="50" charset="-128"/>
                <a:ea typeface="Meiryo UI" panose="020B0604030504040204" pitchFamily="50" charset="-128"/>
              </a:rPr>
              <a:t>6</a:t>
            </a:r>
            <a:r>
              <a:rPr lang="ja-JP" altLang="en-US" b="1" dirty="0">
                <a:latin typeface="Meiryo UI" panose="020B0604030504040204" pitchFamily="50" charset="-128"/>
                <a:ea typeface="Meiryo UI" panose="020B0604030504040204" pitchFamily="50" charset="-128"/>
              </a:rPr>
              <a:t>）　</a:t>
            </a:r>
            <a:r>
              <a:rPr lang="en-US" altLang="ja-JP" b="1" dirty="0">
                <a:solidFill>
                  <a:prstClr val="black"/>
                </a:solidFill>
                <a:latin typeface="Meiryo UI" panose="020B0604030504040204" pitchFamily="50" charset="-128"/>
                <a:ea typeface="Meiryo UI" panose="020B0604030504040204" pitchFamily="50" charset="-128"/>
              </a:rPr>
              <a:t>M</a:t>
            </a:r>
            <a:r>
              <a:rPr lang="ja-JP" altLang="en-US" b="1" dirty="0">
                <a:solidFill>
                  <a:prstClr val="black"/>
                </a:solidFill>
                <a:latin typeface="Meiryo UI" panose="020B0604030504040204" pitchFamily="50" charset="-128"/>
                <a:ea typeface="Meiryo UI" panose="020B0604030504040204" pitchFamily="50" charset="-128"/>
              </a:rPr>
              <a:t>ステップ③</a:t>
            </a:r>
          </a:p>
        </p:txBody>
      </p:sp>
    </p:spTree>
    <p:extLst>
      <p:ext uri="{BB962C8B-B14F-4D97-AF65-F5344CB8AC3E}">
        <p14:creationId xmlns:p14="http://schemas.microsoft.com/office/powerpoint/2010/main" val="3665269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E0D8E3-A032-4AFD-88AF-6860623C5F1E}"/>
              </a:ext>
            </a:extLst>
          </p:cNvPr>
          <p:cNvSpPr>
            <a:spLocks noGrp="1"/>
          </p:cNvSpPr>
          <p:nvPr>
            <p:ph type="title"/>
          </p:nvPr>
        </p:nvSpPr>
        <p:spPr/>
        <p:txBody>
          <a:bodyPr/>
          <a:lstStyle/>
          <a:p>
            <a:r>
              <a:rPr lang="en-US" altLang="ja-JP" dirty="0"/>
              <a:t>PLSA</a:t>
            </a:r>
            <a:r>
              <a:rPr lang="ja-JP" altLang="en-US" dirty="0"/>
              <a:t>の実行方法　インプット</a:t>
            </a:r>
            <a:endParaRPr kumimoji="1" lang="ja-JP" altLang="en-US" dirty="0"/>
          </a:p>
        </p:txBody>
      </p:sp>
      <p:sp>
        <p:nvSpPr>
          <p:cNvPr id="3" name="コンテンツ プレースホルダー 2">
            <a:extLst>
              <a:ext uri="{FF2B5EF4-FFF2-40B4-BE49-F238E27FC236}">
                <a16:creationId xmlns:a16="http://schemas.microsoft.com/office/drawing/2014/main" id="{6E5F4BC5-7A48-4E4A-846E-DE8C982D0270}"/>
              </a:ext>
            </a:extLst>
          </p:cNvPr>
          <p:cNvSpPr>
            <a:spLocks noGrp="1"/>
          </p:cNvSpPr>
          <p:nvPr>
            <p:ph idx="1"/>
          </p:nvPr>
        </p:nvSpPr>
        <p:spPr/>
        <p:txBody>
          <a:bodyPr/>
          <a:lstStyle/>
          <a:p>
            <a:r>
              <a:rPr lang="ja-JP" altLang="en-US" dirty="0"/>
              <a:t>単語</a:t>
            </a:r>
            <a:r>
              <a:rPr lang="en-US" altLang="ja-JP" dirty="0"/>
              <a:t>×</a:t>
            </a:r>
            <a:r>
              <a:rPr lang="ja-JP" altLang="en-US" dirty="0"/>
              <a:t>単語の共起行列データを使用することで、潜在クラスタの抽出がしやすくなり、意味を容易に解釈できるようになります。</a:t>
            </a:r>
            <a:endParaRPr lang="en-US" altLang="ja-JP" dirty="0"/>
          </a:p>
        </p:txBody>
      </p:sp>
      <p:sp>
        <p:nvSpPr>
          <p:cNvPr id="11" name="正方形/長方形 10">
            <a:extLst>
              <a:ext uri="{FF2B5EF4-FFF2-40B4-BE49-F238E27FC236}">
                <a16:creationId xmlns:a16="http://schemas.microsoft.com/office/drawing/2014/main" id="{06416A9B-0739-4BFE-9759-3EEBF05DD816}"/>
              </a:ext>
            </a:extLst>
          </p:cNvPr>
          <p:cNvSpPr/>
          <p:nvPr/>
        </p:nvSpPr>
        <p:spPr>
          <a:xfrm>
            <a:off x="2595624" y="1980000"/>
            <a:ext cx="4714753" cy="369332"/>
          </a:xfrm>
          <a:prstGeom prst="rect">
            <a:avLst/>
          </a:prstGeom>
        </p:spPr>
        <p:txBody>
          <a:bodyPr wrap="none">
            <a:spAutoFit/>
          </a:bodyPr>
          <a:lstStyle/>
          <a:p>
            <a:pPr algn="ctr"/>
            <a:r>
              <a:rPr lang="ja-JP" altLang="en-US" b="1" dirty="0">
                <a:solidFill>
                  <a:srgbClr val="333333"/>
                </a:solidFill>
                <a:latin typeface="Meiryo UI" panose="020B0604030504040204" pitchFamily="50" charset="-128"/>
                <a:ea typeface="Meiryo UI" panose="020B0604030504040204" pitchFamily="50" charset="-128"/>
              </a:rPr>
              <a:t>単語</a:t>
            </a:r>
            <a:r>
              <a:rPr lang="en-US" altLang="ja-JP" b="1" dirty="0">
                <a:solidFill>
                  <a:srgbClr val="333333"/>
                </a:solidFill>
                <a:latin typeface="Meiryo UI" panose="020B0604030504040204" pitchFamily="50" charset="-128"/>
                <a:ea typeface="Meiryo UI" panose="020B0604030504040204" pitchFamily="50" charset="-128"/>
              </a:rPr>
              <a:t>×</a:t>
            </a:r>
            <a:r>
              <a:rPr lang="ja-JP" altLang="en-US" b="1" dirty="0">
                <a:solidFill>
                  <a:srgbClr val="333333"/>
                </a:solidFill>
                <a:latin typeface="Meiryo UI" panose="020B0604030504040204" pitchFamily="50" charset="-128"/>
                <a:ea typeface="Meiryo UI" panose="020B0604030504040204" pitchFamily="50" charset="-128"/>
              </a:rPr>
              <a:t>単語の共起行列データを使用するメリット</a:t>
            </a:r>
            <a:endParaRPr lang="ja-JP" altLang="en-US" b="1" dirty="0">
              <a:solidFill>
                <a:prstClr val="black"/>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33DAF350-0D36-4624-A48A-0C9984A80EA0}"/>
              </a:ext>
            </a:extLst>
          </p:cNvPr>
          <p:cNvSpPr/>
          <p:nvPr/>
        </p:nvSpPr>
        <p:spPr>
          <a:xfrm>
            <a:off x="22717" y="2340000"/>
            <a:ext cx="9864000" cy="3416320"/>
          </a:xfrm>
          <a:prstGeom prst="rect">
            <a:avLst/>
          </a:prstGeom>
        </p:spPr>
        <p:txBody>
          <a:bodyPr wrap="square">
            <a:spAutoFit/>
          </a:bodyPr>
          <a:lstStyle/>
          <a:p>
            <a:pPr marL="342900" indent="-342900">
              <a:buFont typeface="+mj-ea"/>
              <a:buAutoNum type="circleNumDbPlain"/>
            </a:pPr>
            <a:r>
              <a:rPr lang="ja-JP" altLang="en-US" b="1" dirty="0">
                <a:solidFill>
                  <a:srgbClr val="333333"/>
                </a:solidFill>
                <a:latin typeface="Meiryo UI" panose="020B0604030504040204" pitchFamily="50" charset="-128"/>
                <a:ea typeface="Meiryo UI" panose="020B0604030504040204" pitchFamily="50" charset="-128"/>
              </a:rPr>
              <a:t>具体的な頻度という値の入った密な共起行列を構成できるため、共通的な特徴が抽出しやすい</a:t>
            </a:r>
            <a:endParaRPr lang="en-US" altLang="ja-JP" b="1" dirty="0">
              <a:solidFill>
                <a:srgbClr val="333333"/>
              </a:solidFill>
              <a:latin typeface="Meiryo UI" panose="020B0604030504040204" pitchFamily="50" charset="-128"/>
              <a:ea typeface="Meiryo UI" panose="020B0604030504040204" pitchFamily="50" charset="-128"/>
            </a:endParaRPr>
          </a:p>
          <a:p>
            <a:pPr marL="360000"/>
            <a:r>
              <a:rPr lang="ja-JP" altLang="en-US" dirty="0">
                <a:solidFill>
                  <a:srgbClr val="333333"/>
                </a:solidFill>
                <a:latin typeface="Meiryo UI" panose="020B0604030504040204" pitchFamily="50" charset="-128"/>
                <a:ea typeface="Meiryo UI" panose="020B0604030504040204" pitchFamily="50" charset="-128"/>
              </a:rPr>
              <a:t>通常の</a:t>
            </a:r>
            <a:r>
              <a:rPr lang="en-US" altLang="ja-JP" dirty="0">
                <a:solidFill>
                  <a:srgbClr val="333333"/>
                </a:solidFill>
                <a:latin typeface="Meiryo UI" panose="020B0604030504040204" pitchFamily="50" charset="-128"/>
                <a:ea typeface="Meiryo UI" panose="020B0604030504040204" pitchFamily="50" charset="-128"/>
              </a:rPr>
              <a:t>PLSA</a:t>
            </a:r>
            <a:r>
              <a:rPr lang="ja-JP" altLang="en-US" dirty="0">
                <a:solidFill>
                  <a:srgbClr val="333333"/>
                </a:solidFill>
                <a:latin typeface="Meiryo UI" panose="020B0604030504040204" pitchFamily="50" charset="-128"/>
                <a:ea typeface="Meiryo UI" panose="020B0604030504040204" pitchFamily="50" charset="-128"/>
              </a:rPr>
              <a:t>でインプットとされる共起行列は疎な共起行列となり、</a:t>
            </a:r>
            <a:r>
              <a:rPr lang="en-US" altLang="ja-JP" dirty="0">
                <a:solidFill>
                  <a:srgbClr val="333333"/>
                </a:solidFill>
                <a:latin typeface="Meiryo UI" panose="020B0604030504040204" pitchFamily="50" charset="-128"/>
                <a:ea typeface="Meiryo UI" panose="020B0604030504040204" pitchFamily="50" charset="-128"/>
              </a:rPr>
              <a:t>0</a:t>
            </a:r>
            <a:r>
              <a:rPr lang="ja-JP" altLang="en-US" dirty="0">
                <a:solidFill>
                  <a:srgbClr val="333333"/>
                </a:solidFill>
                <a:latin typeface="Meiryo UI" panose="020B0604030504040204" pitchFamily="50" charset="-128"/>
                <a:ea typeface="Meiryo UI" panose="020B0604030504040204" pitchFamily="50" charset="-128"/>
              </a:rPr>
              <a:t>と</a:t>
            </a:r>
            <a:r>
              <a:rPr lang="en-US" altLang="ja-JP" dirty="0">
                <a:solidFill>
                  <a:srgbClr val="333333"/>
                </a:solidFill>
                <a:latin typeface="Meiryo UI" panose="020B0604030504040204" pitchFamily="50" charset="-128"/>
                <a:ea typeface="Meiryo UI" panose="020B0604030504040204" pitchFamily="50" charset="-128"/>
              </a:rPr>
              <a:t>1</a:t>
            </a:r>
            <a:r>
              <a:rPr lang="ja-JP" altLang="en-US" dirty="0">
                <a:solidFill>
                  <a:srgbClr val="333333"/>
                </a:solidFill>
                <a:latin typeface="Meiryo UI" panose="020B0604030504040204" pitchFamily="50" charset="-128"/>
                <a:ea typeface="Meiryo UI" panose="020B0604030504040204" pitchFamily="50" charset="-128"/>
              </a:rPr>
              <a:t>しか値がないのでデータ間で差が出にくく、共通の特徴を抽出しにくい傾向があります</a:t>
            </a:r>
            <a:endParaRPr lang="en-US" altLang="ja-JP" dirty="0">
              <a:solidFill>
                <a:srgbClr val="333333"/>
              </a:solidFill>
              <a:latin typeface="Meiryo UI" panose="020B0604030504040204" pitchFamily="50" charset="-128"/>
              <a:ea typeface="Meiryo UI" panose="020B0604030504040204" pitchFamily="50" charset="-128"/>
            </a:endParaRPr>
          </a:p>
          <a:p>
            <a:pPr marL="360000"/>
            <a:r>
              <a:rPr lang="ja-JP" altLang="en-US" dirty="0">
                <a:solidFill>
                  <a:srgbClr val="333333"/>
                </a:solidFill>
                <a:latin typeface="Meiryo UI" panose="020B0604030504040204" pitchFamily="50" charset="-128"/>
                <a:ea typeface="Meiryo UI" panose="020B0604030504040204" pitchFamily="50" charset="-128"/>
              </a:rPr>
              <a:t>具体的な頻度が入った共起行列では要素間で大小の差が出やすく、共通的な特徴が抽出しやすいです</a:t>
            </a:r>
            <a:endParaRPr lang="en-US" altLang="ja-JP" dirty="0">
              <a:solidFill>
                <a:srgbClr val="333333"/>
              </a:solidFill>
              <a:latin typeface="Meiryo UI" panose="020B0604030504040204" pitchFamily="50" charset="-128"/>
              <a:ea typeface="Meiryo UI" panose="020B0604030504040204" pitchFamily="50" charset="-128"/>
            </a:endParaRPr>
          </a:p>
          <a:p>
            <a:pPr marL="360000"/>
            <a:endParaRPr lang="en-US" altLang="ja-JP" dirty="0">
              <a:solidFill>
                <a:srgbClr val="333333"/>
              </a:solidFill>
              <a:latin typeface="Meiryo UI" panose="020B0604030504040204" pitchFamily="50" charset="-128"/>
              <a:ea typeface="Meiryo UI" panose="020B0604030504040204" pitchFamily="50" charset="-128"/>
            </a:endParaRPr>
          </a:p>
          <a:p>
            <a:pPr marL="342900" indent="-342900">
              <a:buFont typeface="+mj-ea"/>
              <a:buAutoNum type="circleNumDbPlain" startAt="2"/>
            </a:pPr>
            <a:r>
              <a:rPr lang="ja-JP" altLang="en-US" b="1" dirty="0">
                <a:solidFill>
                  <a:srgbClr val="333333"/>
                </a:solidFill>
                <a:latin typeface="Meiryo UI" panose="020B0604030504040204" pitchFamily="50" charset="-128"/>
                <a:ea typeface="Meiryo UI" panose="020B0604030504040204" pitchFamily="50" charset="-128"/>
              </a:rPr>
              <a:t>行と列の両方の軸が意味を持つ情報であるため、クラスタの解釈が容易になる</a:t>
            </a:r>
            <a:endParaRPr lang="en-US" altLang="ja-JP" b="1" dirty="0">
              <a:solidFill>
                <a:srgbClr val="333333"/>
              </a:solidFill>
              <a:latin typeface="Meiryo UI" panose="020B0604030504040204" pitchFamily="50" charset="-128"/>
              <a:ea typeface="Meiryo UI" panose="020B0604030504040204" pitchFamily="50" charset="-128"/>
            </a:endParaRPr>
          </a:p>
          <a:p>
            <a:pPr marL="360000"/>
            <a:r>
              <a:rPr lang="ja-JP" altLang="en-US" dirty="0">
                <a:solidFill>
                  <a:srgbClr val="333333"/>
                </a:solidFill>
                <a:latin typeface="Meiryo UI" panose="020B0604030504040204" pitchFamily="50" charset="-128"/>
                <a:ea typeface="Meiryo UI" panose="020B0604030504040204" pitchFamily="50" charset="-128"/>
              </a:rPr>
              <a:t>潜在クラスタには行と列のデータの２つの軸が同時に所属し、その潜在クラスタの意味を２つの軸の情報から解釈できます</a:t>
            </a:r>
            <a:endParaRPr lang="en-US" altLang="ja-JP" dirty="0">
              <a:solidFill>
                <a:srgbClr val="333333"/>
              </a:solidFill>
              <a:latin typeface="Meiryo UI" panose="020B0604030504040204" pitchFamily="50" charset="-128"/>
              <a:ea typeface="Meiryo UI" panose="020B0604030504040204" pitchFamily="50" charset="-128"/>
            </a:endParaRPr>
          </a:p>
          <a:p>
            <a:pPr marL="360000"/>
            <a:r>
              <a:rPr lang="ja-JP" altLang="en-US" dirty="0">
                <a:solidFill>
                  <a:srgbClr val="333333"/>
                </a:solidFill>
                <a:latin typeface="Meiryo UI" panose="020B0604030504040204" pitchFamily="50" charset="-128"/>
                <a:ea typeface="Meiryo UI" panose="020B0604030504040204" pitchFamily="50" charset="-128"/>
              </a:rPr>
              <a:t>通常の</a:t>
            </a:r>
            <a:r>
              <a:rPr lang="en-US" altLang="ja-JP" dirty="0">
                <a:solidFill>
                  <a:srgbClr val="333333"/>
                </a:solidFill>
                <a:latin typeface="Meiryo UI" panose="020B0604030504040204" pitchFamily="50" charset="-128"/>
                <a:ea typeface="Meiryo UI" panose="020B0604030504040204" pitchFamily="50" charset="-128"/>
              </a:rPr>
              <a:t>PLSA</a:t>
            </a:r>
            <a:r>
              <a:rPr lang="ja-JP" altLang="en-US" dirty="0">
                <a:solidFill>
                  <a:srgbClr val="333333"/>
                </a:solidFill>
                <a:latin typeface="Meiryo UI" panose="020B0604030504040204" pitchFamily="50" charset="-128"/>
                <a:ea typeface="Meiryo UI" panose="020B0604030504040204" pitchFamily="50" charset="-128"/>
              </a:rPr>
              <a:t>でインプットされる共起行列の一方の軸（行）は文書</a:t>
            </a:r>
            <a:r>
              <a:rPr lang="en-US" altLang="ja-JP" dirty="0">
                <a:solidFill>
                  <a:srgbClr val="333333"/>
                </a:solidFill>
                <a:latin typeface="Meiryo UI" panose="020B0604030504040204" pitchFamily="50" charset="-128"/>
                <a:ea typeface="Meiryo UI" panose="020B0604030504040204" pitchFamily="50" charset="-128"/>
              </a:rPr>
              <a:t>ID</a:t>
            </a:r>
            <a:r>
              <a:rPr lang="ja-JP" altLang="en-US" dirty="0">
                <a:solidFill>
                  <a:srgbClr val="333333"/>
                </a:solidFill>
                <a:latin typeface="Meiryo UI" panose="020B0604030504040204" pitchFamily="50" charset="-128"/>
                <a:ea typeface="Meiryo UI" panose="020B0604030504040204" pitchFamily="50" charset="-128"/>
              </a:rPr>
              <a:t>となり、これ自体はほとんど意味を持たない情報なため、潜在クラスタの解釈には使用しにくい情報です</a:t>
            </a:r>
            <a:endParaRPr lang="en-US" altLang="ja-JP" dirty="0">
              <a:solidFill>
                <a:srgbClr val="333333"/>
              </a:solidFill>
              <a:latin typeface="Meiryo UI" panose="020B0604030504040204" pitchFamily="50" charset="-128"/>
              <a:ea typeface="Meiryo UI" panose="020B0604030504040204" pitchFamily="50" charset="-128"/>
            </a:endParaRPr>
          </a:p>
          <a:p>
            <a:pPr marL="360000"/>
            <a:r>
              <a:rPr lang="ja-JP" altLang="en-US" dirty="0">
                <a:solidFill>
                  <a:srgbClr val="333333"/>
                </a:solidFill>
                <a:latin typeface="Meiryo UI" panose="020B0604030504040204" pitchFamily="50" charset="-128"/>
                <a:ea typeface="Meiryo UI" panose="020B0604030504040204" pitchFamily="50" charset="-128"/>
              </a:rPr>
              <a:t>行も列も単語あるいは係り受け表現で構成されている共起行列では、どちらもそれ単独で意味を持つ情報のため、２つの情報軸から潜在クラスタの意味を解釈することができ、解釈の容易性が高くなります</a:t>
            </a:r>
            <a:endParaRPr lang="ja-JP" altLang="en-US"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0729B718-5D65-4B8F-AB4D-9FB691173B08}"/>
              </a:ext>
            </a:extLst>
          </p:cNvPr>
          <p:cNvSpPr/>
          <p:nvPr/>
        </p:nvSpPr>
        <p:spPr>
          <a:xfrm>
            <a:off x="-785200" y="1554903"/>
            <a:ext cx="1325200" cy="913886"/>
          </a:xfrm>
          <a:prstGeom prst="rect">
            <a:avLst/>
          </a:prstGeom>
          <a:solidFill>
            <a:schemeClr val="accent2"/>
          </a:solidFill>
        </p:spPr>
        <p:txBody>
          <a:bodyPr wrap="square" lIns="72000" tIns="72000" rIns="72000" bIns="72000" rtlCol="0" anchor="ctr">
            <a:noAutofit/>
          </a:bodyPr>
          <a:lstStyle/>
          <a:p>
            <a:pPr algn="ctr"/>
            <a:r>
              <a:rPr kumimoji="1" lang="ja-JP" altLang="en-US" b="1" dirty="0">
                <a:solidFill>
                  <a:schemeClr val="bg1"/>
                </a:solidFill>
                <a:latin typeface="Meiryo UI" panose="020B0604030504040204" pitchFamily="50" charset="-128"/>
                <a:ea typeface="Meiryo UI" panose="020B0604030504040204" pitchFamily="50" charset="-128"/>
              </a:rPr>
              <a:t>なぜ疎だとだめなのか</a:t>
            </a:r>
            <a:endParaRPr kumimoji="1" lang="en-US" altLang="ja-JP" b="1" dirty="0">
              <a:solidFill>
                <a:schemeClr val="bg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A1BA7B5-B1CA-4EB4-B3DC-212E2FD84B23}"/>
              </a:ext>
            </a:extLst>
          </p:cNvPr>
          <p:cNvSpPr/>
          <p:nvPr/>
        </p:nvSpPr>
        <p:spPr>
          <a:xfrm>
            <a:off x="443940" y="2500569"/>
            <a:ext cx="9439343" cy="4050335"/>
          </a:xfrm>
          <a:prstGeom prst="rect">
            <a:avLst/>
          </a:prstGeom>
          <a:solidFill>
            <a:schemeClr val="accent5"/>
          </a:solidFill>
        </p:spPr>
        <p:txBody>
          <a:bodyPr wrap="square" lIns="72000" tIns="72000" rIns="72000" bIns="72000" rtlCol="0" anchor="ctr">
            <a:noAutofit/>
          </a:bodyPr>
          <a:lstStyle/>
          <a:p>
            <a:pPr algn="ctr"/>
            <a:r>
              <a:rPr kumimoji="1" lang="ja-JP" altLang="en-US" b="1" dirty="0">
                <a:solidFill>
                  <a:schemeClr val="bg1"/>
                </a:solidFill>
                <a:latin typeface="Meiryo UI" panose="020B0604030504040204" pitchFamily="50" charset="-128"/>
                <a:ea typeface="Meiryo UI" panose="020B0604030504040204" pitchFamily="50" charset="-128"/>
              </a:rPr>
              <a:t>単語の意</a:t>
            </a:r>
            <a:r>
              <a:rPr kumimoji="1" lang="en-US" altLang="ja-JP" b="1" dirty="0">
                <a:solidFill>
                  <a:schemeClr val="bg1"/>
                </a:solidFill>
                <a:latin typeface="Meiryo UI" panose="020B0604030504040204" pitchFamily="50" charset="-128"/>
                <a:ea typeface="Meiryo UI" panose="020B0604030504040204" pitchFamily="50" charset="-128"/>
              </a:rPr>
              <a:t>m</a:t>
            </a:r>
            <a:r>
              <a:rPr kumimoji="1" lang="ja-JP" altLang="en-US" b="1" dirty="0">
                <a:solidFill>
                  <a:schemeClr val="bg1"/>
                </a:solidFill>
                <a:latin typeface="Meiryo UI" panose="020B0604030504040204" pitchFamily="50" charset="-128"/>
                <a:ea typeface="Meiryo UI" panose="020B0604030504040204" pitchFamily="50" charset="-128"/>
              </a:rPr>
              <a:t>が同じだが、似たような文章に出現していないため、学習が十分にできない</a:t>
            </a:r>
            <a:endParaRPr kumimoji="1" lang="en-US" altLang="ja-JP" b="1" dirty="0">
              <a:solidFill>
                <a:schemeClr val="bg1"/>
              </a:solidFill>
              <a:latin typeface="Meiryo UI" panose="020B0604030504040204" pitchFamily="50" charset="-128"/>
              <a:ea typeface="Meiryo UI" panose="020B0604030504040204" pitchFamily="50" charset="-128"/>
            </a:endParaRPr>
          </a:p>
          <a:p>
            <a:pPr algn="ctr"/>
            <a:endParaRPr lang="en-US" altLang="ja-JP" b="1" dirty="0">
              <a:solidFill>
                <a:schemeClr val="bg1"/>
              </a:solidFill>
              <a:latin typeface="Meiryo UI" panose="020B0604030504040204" pitchFamily="50" charset="-128"/>
              <a:ea typeface="Meiryo UI" panose="020B0604030504040204" pitchFamily="50" charset="-128"/>
            </a:endParaRPr>
          </a:p>
          <a:p>
            <a:pPr algn="ctr"/>
            <a:r>
              <a:rPr kumimoji="1" lang="ja-JP" altLang="en-US" b="1" dirty="0">
                <a:solidFill>
                  <a:schemeClr val="bg1"/>
                </a:solidFill>
                <a:latin typeface="Meiryo UI" panose="020B0604030504040204" pitchFamily="50" charset="-128"/>
                <a:ea typeface="Meiryo UI" panose="020B0604030504040204" pitchFamily="50" charset="-128"/>
              </a:rPr>
              <a:t>文章中に出現する単語の確立を計算するときに、お互い</a:t>
            </a:r>
            <a:r>
              <a:rPr kumimoji="1" lang="en-US" altLang="ja-JP" b="1" dirty="0">
                <a:solidFill>
                  <a:schemeClr val="bg1"/>
                </a:solidFill>
                <a:latin typeface="Meiryo UI" panose="020B0604030504040204" pitchFamily="50" charset="-128"/>
                <a:ea typeface="Meiryo UI" panose="020B0604030504040204" pitchFamily="50" charset="-128"/>
              </a:rPr>
              <a:t>×</a:t>
            </a:r>
            <a:r>
              <a:rPr kumimoji="1" lang="ja-JP" altLang="en-US" b="1" dirty="0">
                <a:solidFill>
                  <a:schemeClr val="bg1"/>
                </a:solidFill>
                <a:latin typeface="Meiryo UI" panose="020B0604030504040204" pitchFamily="50" charset="-128"/>
                <a:ea typeface="Meiryo UI" panose="020B0604030504040204" pitchFamily="50" charset="-128"/>
              </a:rPr>
              <a:t>ていくので、</a:t>
            </a:r>
            <a:r>
              <a:rPr kumimoji="1" lang="en-US" altLang="ja-JP" b="1" dirty="0">
                <a:solidFill>
                  <a:schemeClr val="bg1"/>
                </a:solidFill>
                <a:latin typeface="Meiryo UI" panose="020B0604030504040204" pitchFamily="50" charset="-128"/>
                <a:ea typeface="Meiryo UI" panose="020B0604030504040204" pitchFamily="50" charset="-128"/>
              </a:rPr>
              <a:t>0</a:t>
            </a:r>
            <a:r>
              <a:rPr kumimoji="1" lang="ja-JP" altLang="en-US" b="1" dirty="0">
                <a:solidFill>
                  <a:schemeClr val="bg1"/>
                </a:solidFill>
                <a:latin typeface="Meiryo UI" panose="020B0604030504040204" pitchFamily="50" charset="-128"/>
                <a:ea typeface="Meiryo UI" panose="020B0604030504040204" pitchFamily="50" charset="-128"/>
              </a:rPr>
              <a:t>に近づいてうまくいかない</a:t>
            </a:r>
            <a:endParaRPr kumimoji="1" lang="en-US" altLang="ja-JP" b="1" dirty="0">
              <a:solidFill>
                <a:schemeClr val="bg1"/>
              </a:solidFill>
              <a:latin typeface="Meiryo UI" panose="020B0604030504040204" pitchFamily="50" charset="-128"/>
              <a:ea typeface="Meiryo UI" panose="020B0604030504040204" pitchFamily="50" charset="-128"/>
            </a:endParaRPr>
          </a:p>
          <a:p>
            <a:pPr algn="ctr"/>
            <a:endParaRPr lang="en-US" altLang="ja-JP" b="1" dirty="0">
              <a:solidFill>
                <a:schemeClr val="bg1"/>
              </a:solidFill>
              <a:latin typeface="Meiryo UI" panose="020B0604030504040204" pitchFamily="50" charset="-128"/>
              <a:ea typeface="Meiryo UI" panose="020B0604030504040204" pitchFamily="50" charset="-128"/>
            </a:endParaRPr>
          </a:p>
          <a:p>
            <a:pPr algn="ctr"/>
            <a:r>
              <a:rPr lang="ja-JP" altLang="en-US" b="1" dirty="0">
                <a:solidFill>
                  <a:schemeClr val="bg1"/>
                </a:solidFill>
                <a:latin typeface="Meiryo UI" panose="020B0604030504040204" pitchFamily="50" charset="-128"/>
                <a:ea typeface="Meiryo UI" panose="020B0604030504040204" pitchFamily="50" charset="-128"/>
              </a:rPr>
              <a:t>超スパースなデータの下では，学習データがモデ ルのパラメータ数に対して相対的に少なくなってしまい， 安定した推定結果が得られずに </a:t>
            </a:r>
            <a:r>
              <a:rPr lang="en-US" altLang="ja-JP" b="1" dirty="0">
                <a:solidFill>
                  <a:schemeClr val="bg1"/>
                </a:solidFill>
                <a:latin typeface="Meiryo UI" panose="020B0604030504040204" pitchFamily="50" charset="-128"/>
                <a:ea typeface="Meiryo UI" panose="020B0604030504040204" pitchFamily="50" charset="-128"/>
              </a:rPr>
              <a:t>LDA </a:t>
            </a:r>
            <a:r>
              <a:rPr lang="ja-JP" altLang="en-US" b="1" dirty="0">
                <a:solidFill>
                  <a:schemeClr val="bg1"/>
                </a:solidFill>
                <a:latin typeface="Meiryo UI" panose="020B0604030504040204" pitchFamily="50" charset="-128"/>
                <a:ea typeface="Meiryo UI" panose="020B0604030504040204" pitchFamily="50" charset="-128"/>
              </a:rPr>
              <a:t>の学習が収束しない ことが原因であると考えられる</a:t>
            </a:r>
            <a:endParaRPr kumimoji="1" lang="en-US" altLang="ja-JP"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6308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lang="en-US" altLang="ja-JP" dirty="0"/>
              <a:t>PLSA</a:t>
            </a:r>
            <a:r>
              <a:rPr lang="ja-JP" altLang="en-US" dirty="0"/>
              <a:t>の実行方法</a:t>
            </a:r>
            <a:r>
              <a:rPr kumimoji="1" lang="ja-JP" altLang="en-US" dirty="0"/>
              <a:t>　</a:t>
            </a:r>
            <a:r>
              <a:rPr lang="ja-JP" altLang="en-US" dirty="0"/>
              <a:t>パラメータの設定</a:t>
            </a:r>
            <a:endParaRPr kumimoji="1" lang="ja-JP" altLang="en-US" dirty="0"/>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ja-JP" altLang="en-US" b="1" dirty="0"/>
              <a:t>対象とする行と列や、学習回数と繰り返し最大数を設定する必要があります。</a:t>
            </a:r>
            <a:endParaRPr lang="en-US" altLang="ja-JP" b="1" dirty="0"/>
          </a:p>
          <a:p>
            <a:r>
              <a:rPr lang="ja-JP" altLang="en-US" b="1" dirty="0"/>
              <a:t>最適なクラスタ数は変更するため、最適なクラスタ数の選択が難しいパラメータです。</a:t>
            </a:r>
            <a:endParaRPr lang="en-US" altLang="ja-JP" b="1" dirty="0"/>
          </a:p>
        </p:txBody>
      </p:sp>
      <p:graphicFrame>
        <p:nvGraphicFramePr>
          <p:cNvPr id="7" name="表 7">
            <a:extLst>
              <a:ext uri="{FF2B5EF4-FFF2-40B4-BE49-F238E27FC236}">
                <a16:creationId xmlns:a16="http://schemas.microsoft.com/office/drawing/2014/main" id="{9845A12B-31C9-4713-B17C-53BF8B54120A}"/>
              </a:ext>
            </a:extLst>
          </p:cNvPr>
          <p:cNvGraphicFramePr>
            <a:graphicFrameLocks noGrp="1"/>
          </p:cNvGraphicFramePr>
          <p:nvPr>
            <p:extLst>
              <p:ext uri="{D42A27DB-BD31-4B8C-83A1-F6EECF244321}">
                <p14:modId xmlns:p14="http://schemas.microsoft.com/office/powerpoint/2010/main" val="4187625684"/>
              </p:ext>
            </p:extLst>
          </p:nvPr>
        </p:nvGraphicFramePr>
        <p:xfrm>
          <a:off x="1796574" y="2340000"/>
          <a:ext cx="6430328" cy="1854200"/>
        </p:xfrm>
        <a:graphic>
          <a:graphicData uri="http://schemas.openxmlformats.org/drawingml/2006/table">
            <a:tbl>
              <a:tblPr firstRow="1" bandRow="1">
                <a:tableStyleId>{5940675A-B579-460E-94D1-54222C63F5DA}</a:tableStyleId>
              </a:tblPr>
              <a:tblGrid>
                <a:gridCol w="489268">
                  <a:extLst>
                    <a:ext uri="{9D8B030D-6E8A-4147-A177-3AD203B41FA5}">
                      <a16:colId xmlns:a16="http://schemas.microsoft.com/office/drawing/2014/main" val="2667644316"/>
                    </a:ext>
                  </a:extLst>
                </a:gridCol>
                <a:gridCol w="1713230">
                  <a:extLst>
                    <a:ext uri="{9D8B030D-6E8A-4147-A177-3AD203B41FA5}">
                      <a16:colId xmlns:a16="http://schemas.microsoft.com/office/drawing/2014/main" val="858439037"/>
                    </a:ext>
                  </a:extLst>
                </a:gridCol>
                <a:gridCol w="4227830">
                  <a:extLst>
                    <a:ext uri="{9D8B030D-6E8A-4147-A177-3AD203B41FA5}">
                      <a16:colId xmlns:a16="http://schemas.microsoft.com/office/drawing/2014/main" val="256123675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①</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行</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algn="ctr"/>
                      <a:r>
                        <a:rPr lang="ja-JP" altLang="en-US" dirty="0">
                          <a:latin typeface="Meiryo UI" panose="020B0604030504040204" pitchFamily="50" charset="-128"/>
                          <a:ea typeface="Meiryo UI" panose="020B0604030504040204" pitchFamily="50" charset="-128"/>
                        </a:rPr>
                        <a:t>顧客</a:t>
                      </a:r>
                      <a:r>
                        <a:rPr lang="en-US" altLang="ja-JP" dirty="0">
                          <a:latin typeface="Meiryo UI" panose="020B0604030504040204" pitchFamily="50" charset="-128"/>
                          <a:ea typeface="Meiryo UI" panose="020B0604030504040204" pitchFamily="50" charset="-128"/>
                        </a:rPr>
                        <a:t>ID</a:t>
                      </a:r>
                      <a:r>
                        <a:rPr lang="ja-JP" altLang="en-US" dirty="0">
                          <a:latin typeface="Meiryo UI" panose="020B0604030504040204" pitchFamily="50" charset="-128"/>
                          <a:ea typeface="Meiryo UI" panose="020B0604030504040204" pitchFamily="50" charset="-128"/>
                        </a:rPr>
                        <a:t>など</a:t>
                      </a:r>
                    </a:p>
                  </a:txBody>
                  <a:tcPr anchor="ctr"/>
                </a:tc>
                <a:extLst>
                  <a:ext uri="{0D108BD9-81ED-4DB2-BD59-A6C34878D82A}">
                    <a16:rowId xmlns:a16="http://schemas.microsoft.com/office/drawing/2014/main" val="34853414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②</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列</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単語など</a:t>
                      </a:r>
                    </a:p>
                  </a:txBody>
                  <a:tcPr anchor="ctr"/>
                </a:tc>
                <a:extLst>
                  <a:ext uri="{0D108BD9-81ED-4DB2-BD59-A6C34878D82A}">
                    <a16:rowId xmlns:a16="http://schemas.microsoft.com/office/drawing/2014/main" val="189266953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③</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学習回数</a:t>
                      </a: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各ステップをそれぞれ繰り返す数</a:t>
                      </a:r>
                    </a:p>
                  </a:txBody>
                  <a:tcPr anchor="ctr"/>
                </a:tc>
                <a:extLst>
                  <a:ext uri="{0D108BD9-81ED-4DB2-BD59-A6C34878D82A}">
                    <a16:rowId xmlns:a16="http://schemas.microsoft.com/office/drawing/2014/main" val="7742934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④</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繰り返し最大数</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latin typeface="Meiryo UI" panose="020B0604030504040204" pitchFamily="50" charset="-128"/>
                          <a:ea typeface="Meiryo UI" panose="020B0604030504040204" pitchFamily="50" charset="-128"/>
                        </a:rPr>
                        <a:t>EM</a:t>
                      </a:r>
                      <a:r>
                        <a:rPr kumimoji="1" lang="ja-JP" altLang="en-US" dirty="0">
                          <a:latin typeface="Meiryo UI" panose="020B0604030504040204" pitchFamily="50" charset="-128"/>
                          <a:ea typeface="Meiryo UI" panose="020B0604030504040204" pitchFamily="50" charset="-128"/>
                        </a:rPr>
                        <a:t>アルゴリズムと</a:t>
                      </a:r>
                      <a:r>
                        <a:rPr kumimoji="1" lang="en-US" altLang="ja-JP" dirty="0">
                          <a:latin typeface="Meiryo UI" panose="020B0604030504040204" pitchFamily="50" charset="-128"/>
                          <a:ea typeface="Meiryo UI" panose="020B0604030504040204" pitchFamily="50" charset="-128"/>
                        </a:rPr>
                        <a:t>NFM</a:t>
                      </a:r>
                      <a:r>
                        <a:rPr kumimoji="1" lang="ja-JP" altLang="en-US" dirty="0">
                          <a:latin typeface="Meiryo UI" panose="020B0604030504040204" pitchFamily="50" charset="-128"/>
                          <a:ea typeface="Meiryo UI" panose="020B0604030504040204" pitchFamily="50" charset="-128"/>
                        </a:rPr>
                        <a:t>をそれぞれ繰り返す数</a:t>
                      </a:r>
                    </a:p>
                  </a:txBody>
                  <a:tcPr anchor="ctr"/>
                </a:tc>
                <a:extLst>
                  <a:ext uri="{0D108BD9-81ED-4DB2-BD59-A6C34878D82A}">
                    <a16:rowId xmlns:a16="http://schemas.microsoft.com/office/drawing/2014/main" val="220429541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⑤</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クラスタ数</a:t>
                      </a:r>
                      <a:endParaRPr kumimoji="1" lang="ja-JP" altLang="en-US"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データによって最適な数が変わる</a:t>
                      </a:r>
                    </a:p>
                  </a:txBody>
                  <a:tcPr anchor="ctr"/>
                </a:tc>
                <a:extLst>
                  <a:ext uri="{0D108BD9-81ED-4DB2-BD59-A6C34878D82A}">
                    <a16:rowId xmlns:a16="http://schemas.microsoft.com/office/drawing/2014/main" val="635050145"/>
                  </a:ext>
                </a:extLst>
              </a:tr>
            </a:tbl>
          </a:graphicData>
        </a:graphic>
      </p:graphicFrame>
      <p:sp>
        <p:nvSpPr>
          <p:cNvPr id="8" name="正方形/長方形 7">
            <a:extLst>
              <a:ext uri="{FF2B5EF4-FFF2-40B4-BE49-F238E27FC236}">
                <a16:creationId xmlns:a16="http://schemas.microsoft.com/office/drawing/2014/main" id="{7D9DB384-72BC-44EB-94B8-B32D0D722887}"/>
              </a:ext>
            </a:extLst>
          </p:cNvPr>
          <p:cNvSpPr/>
          <p:nvPr/>
        </p:nvSpPr>
        <p:spPr>
          <a:xfrm>
            <a:off x="3458385" y="1980000"/>
            <a:ext cx="2260555"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主なパラメータの設定</a:t>
            </a:r>
            <a:endParaRPr lang="ja-JP" altLang="en-US" b="1"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DB352944-2556-49AC-8A23-EB4EF3941DEE}"/>
              </a:ext>
            </a:extLst>
          </p:cNvPr>
          <p:cNvSpPr/>
          <p:nvPr/>
        </p:nvSpPr>
        <p:spPr>
          <a:xfrm>
            <a:off x="2316607" y="4826000"/>
            <a:ext cx="1512000" cy="615472"/>
          </a:xfrm>
          <a:prstGeom prst="rect">
            <a:avLst/>
          </a:prstGeom>
          <a:solidFill>
            <a:schemeClr val="accent1">
              <a:lumMod val="20000"/>
              <a:lumOff val="80000"/>
            </a:schemeClr>
          </a:solidFill>
          <a:ln w="25400">
            <a:noFill/>
          </a:ln>
        </p:spPr>
        <p:txBody>
          <a:bodyPr wrap="square" lIns="72000" tIns="72000" rIns="72000" bIns="72000" rtlCol="0" anchor="ctr">
            <a:noAutofit/>
          </a:bodyPr>
          <a:lstStyle/>
          <a:p>
            <a:pPr algn="ctr"/>
            <a:r>
              <a:rPr lang="en-US" altLang="ja-JP" b="1" dirty="0">
                <a:latin typeface="Meiryo UI" panose="020B0604030504040204" pitchFamily="50" charset="-128"/>
                <a:ea typeface="Meiryo UI" panose="020B0604030504040204" pitchFamily="50" charset="-128"/>
              </a:rPr>
              <a:t>EM</a:t>
            </a:r>
            <a:r>
              <a:rPr lang="ja-JP" altLang="en-US" b="1" dirty="0">
                <a:latin typeface="Meiryo UI" panose="020B0604030504040204" pitchFamily="50" charset="-128"/>
                <a:ea typeface="Meiryo UI" panose="020B0604030504040204" pitchFamily="50" charset="-128"/>
              </a:rPr>
              <a:t>アルゴリズム</a:t>
            </a:r>
            <a:endParaRPr kumimoji="1" lang="en-US" altLang="ja-JP" b="1" dirty="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850C743-4C25-495E-90BC-E08E70F895D2}"/>
              </a:ext>
            </a:extLst>
          </p:cNvPr>
          <p:cNvSpPr/>
          <p:nvPr/>
        </p:nvSpPr>
        <p:spPr>
          <a:xfrm>
            <a:off x="5874513" y="4826000"/>
            <a:ext cx="1511300" cy="615472"/>
          </a:xfrm>
          <a:prstGeom prst="rect">
            <a:avLst/>
          </a:prstGeom>
          <a:solidFill>
            <a:schemeClr val="accent1">
              <a:lumMod val="20000"/>
              <a:lumOff val="80000"/>
            </a:schemeClr>
          </a:solidFill>
          <a:ln w="25400">
            <a:noFill/>
          </a:ln>
        </p:spPr>
        <p:txBody>
          <a:bodyPr wrap="square" lIns="72000" tIns="72000" rIns="72000" bIns="72000" rtlCol="0" anchor="ctr">
            <a:noAutofit/>
          </a:bodyPr>
          <a:lstStyle/>
          <a:p>
            <a:pPr algn="ctr"/>
            <a:r>
              <a:rPr kumimoji="1" lang="en-US" altLang="ja-JP" b="1" dirty="0">
                <a:latin typeface="Meiryo UI" panose="020B0604030504040204" pitchFamily="50" charset="-128"/>
                <a:ea typeface="Meiryo UI" panose="020B0604030504040204" pitchFamily="50" charset="-128"/>
              </a:rPr>
              <a:t>NFM</a:t>
            </a:r>
          </a:p>
        </p:txBody>
      </p:sp>
      <p:cxnSp>
        <p:nvCxnSpPr>
          <p:cNvPr id="11" name="直線矢印コネクタ 10">
            <a:extLst>
              <a:ext uri="{FF2B5EF4-FFF2-40B4-BE49-F238E27FC236}">
                <a16:creationId xmlns:a16="http://schemas.microsoft.com/office/drawing/2014/main" id="{C684408F-CDA3-42C1-B444-6FDEAD939B8A}"/>
              </a:ext>
            </a:extLst>
          </p:cNvPr>
          <p:cNvCxnSpPr>
            <a:cxnSpLocks/>
            <a:stCxn id="5" idx="3"/>
            <a:endCxn id="9" idx="1"/>
          </p:cNvCxnSpPr>
          <p:nvPr/>
        </p:nvCxnSpPr>
        <p:spPr>
          <a:xfrm>
            <a:off x="3828607" y="5133736"/>
            <a:ext cx="204590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3DC2AC3-E5D7-47B1-9C3B-142A77DB8AC3}"/>
              </a:ext>
            </a:extLst>
          </p:cNvPr>
          <p:cNvCxnSpPr>
            <a:cxnSpLocks/>
            <a:stCxn id="9" idx="2"/>
            <a:endCxn id="5" idx="2"/>
          </p:cNvCxnSpPr>
          <p:nvPr/>
        </p:nvCxnSpPr>
        <p:spPr>
          <a:xfrm rot="5400000">
            <a:off x="4851385" y="3662694"/>
            <a:ext cx="12700" cy="3557556"/>
          </a:xfrm>
          <a:prstGeom prst="bentConnector3">
            <a:avLst>
              <a:gd name="adj1" fmla="val 180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3C85C12-1636-4D10-AD19-54CF81E860D4}"/>
              </a:ext>
            </a:extLst>
          </p:cNvPr>
          <p:cNvSpPr txBox="1"/>
          <p:nvPr/>
        </p:nvSpPr>
        <p:spPr>
          <a:xfrm>
            <a:off x="4011876" y="5774344"/>
            <a:ext cx="1882247" cy="369332"/>
          </a:xfrm>
          <a:prstGeom prst="rect">
            <a:avLst/>
          </a:prstGeom>
          <a:noFill/>
        </p:spPr>
        <p:txBody>
          <a:bodyPr wrap="none" rtlCol="0">
            <a:spAutoFit/>
          </a:bodyPr>
          <a:lstStyle/>
          <a:p>
            <a:pPr algn="l"/>
            <a:r>
              <a:rPr kumimoji="1" lang="ja-JP" altLang="en-US" dirty="0">
                <a:latin typeface="Meiryo UI" panose="020B0604030504040204" pitchFamily="50" charset="-128"/>
                <a:ea typeface="Meiryo UI" panose="020B0604030504040204" pitchFamily="50" charset="-128"/>
              </a:rPr>
              <a:t>④繰り返し最大数</a:t>
            </a:r>
          </a:p>
        </p:txBody>
      </p:sp>
      <p:sp>
        <p:nvSpPr>
          <p:cNvPr id="19" name="テキスト ボックス 18">
            <a:extLst>
              <a:ext uri="{FF2B5EF4-FFF2-40B4-BE49-F238E27FC236}">
                <a16:creationId xmlns:a16="http://schemas.microsoft.com/office/drawing/2014/main" id="{F9A68D0C-A656-4059-93BB-933B9DA2E2D3}"/>
              </a:ext>
            </a:extLst>
          </p:cNvPr>
          <p:cNvSpPr txBox="1"/>
          <p:nvPr/>
        </p:nvSpPr>
        <p:spPr>
          <a:xfrm>
            <a:off x="2316607" y="4456668"/>
            <a:ext cx="1512000" cy="369332"/>
          </a:xfrm>
          <a:prstGeom prst="rect">
            <a:avLst/>
          </a:prstGeom>
          <a:noFill/>
        </p:spPr>
        <p:txBody>
          <a:bodyPr wrap="none" rtlCol="0">
            <a:spAutoFit/>
          </a:bodyPr>
          <a:lstStyle/>
          <a:p>
            <a:pPr algn="ctr"/>
            <a:r>
              <a:rPr kumimoji="1" lang="ja-JP" altLang="en-US" dirty="0">
                <a:latin typeface="Meiryo UI" panose="020B0604030504040204" pitchFamily="50" charset="-128"/>
                <a:ea typeface="Meiryo UI" panose="020B0604030504040204" pitchFamily="50" charset="-128"/>
              </a:rPr>
              <a:t>③学習回数</a:t>
            </a:r>
          </a:p>
        </p:txBody>
      </p:sp>
      <p:sp>
        <p:nvSpPr>
          <p:cNvPr id="22" name="テキスト ボックス 21">
            <a:extLst>
              <a:ext uri="{FF2B5EF4-FFF2-40B4-BE49-F238E27FC236}">
                <a16:creationId xmlns:a16="http://schemas.microsoft.com/office/drawing/2014/main" id="{7CF66717-9AE8-461A-85FD-0D71EDE9AD42}"/>
              </a:ext>
            </a:extLst>
          </p:cNvPr>
          <p:cNvSpPr txBox="1"/>
          <p:nvPr/>
        </p:nvSpPr>
        <p:spPr>
          <a:xfrm>
            <a:off x="5874513" y="4456668"/>
            <a:ext cx="1512000" cy="369332"/>
          </a:xfrm>
          <a:prstGeom prst="rect">
            <a:avLst/>
          </a:prstGeom>
          <a:noFill/>
        </p:spPr>
        <p:txBody>
          <a:bodyPr wrap="none" rtlCol="0">
            <a:spAutoFit/>
          </a:bodyPr>
          <a:lstStyle/>
          <a:p>
            <a:pPr algn="ctr"/>
            <a:r>
              <a:rPr kumimoji="1" lang="ja-JP" altLang="en-US" dirty="0">
                <a:latin typeface="Meiryo UI" panose="020B0604030504040204" pitchFamily="50" charset="-128"/>
                <a:ea typeface="Meiryo UI" panose="020B0604030504040204" pitchFamily="50" charset="-128"/>
              </a:rPr>
              <a:t>③学習回数</a:t>
            </a:r>
          </a:p>
        </p:txBody>
      </p:sp>
    </p:spTree>
    <p:extLst>
      <p:ext uri="{BB962C8B-B14F-4D97-AF65-F5344CB8AC3E}">
        <p14:creationId xmlns:p14="http://schemas.microsoft.com/office/powerpoint/2010/main" val="1239707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5652E7-DE94-45A8-8080-1962562F9E50}"/>
              </a:ext>
            </a:extLst>
          </p:cNvPr>
          <p:cNvSpPr>
            <a:spLocks noGrp="1"/>
          </p:cNvSpPr>
          <p:nvPr>
            <p:ph type="title"/>
          </p:nvPr>
        </p:nvSpPr>
        <p:spPr/>
        <p:txBody>
          <a:bodyPr/>
          <a:lstStyle/>
          <a:p>
            <a:r>
              <a:rPr kumimoji="1" lang="en-US" altLang="ja-JP" dirty="0"/>
              <a:t>PLSA</a:t>
            </a:r>
            <a:r>
              <a:rPr kumimoji="1" lang="ja-JP" altLang="en-US" dirty="0"/>
              <a:t>の実行方法　アウトプット</a:t>
            </a:r>
          </a:p>
        </p:txBody>
      </p:sp>
      <p:sp>
        <p:nvSpPr>
          <p:cNvPr id="3" name="コンテンツ プレースホルダー 2">
            <a:extLst>
              <a:ext uri="{FF2B5EF4-FFF2-40B4-BE49-F238E27FC236}">
                <a16:creationId xmlns:a16="http://schemas.microsoft.com/office/drawing/2014/main" id="{6F6B8949-7231-49B4-8CD2-087C8DA937CD}"/>
              </a:ext>
            </a:extLst>
          </p:cNvPr>
          <p:cNvSpPr>
            <a:spLocks noGrp="1"/>
          </p:cNvSpPr>
          <p:nvPr>
            <p:ph idx="1"/>
          </p:nvPr>
        </p:nvSpPr>
        <p:spPr>
          <a:xfrm>
            <a:off x="540000" y="1080000"/>
            <a:ext cx="9180000" cy="748763"/>
          </a:xfrm>
        </p:spPr>
        <p:txBody>
          <a:bodyPr/>
          <a:lstStyle/>
          <a:p>
            <a:r>
              <a:rPr lang="en-US" altLang="ja-JP" b="1" dirty="0"/>
              <a:t>PLSA</a:t>
            </a:r>
            <a:r>
              <a:rPr lang="ja-JP" altLang="en-US" b="1" dirty="0"/>
              <a:t>のアウトプットである、</a:t>
            </a:r>
            <a:r>
              <a:rPr lang="en-US" altLang="ja-JP" b="1" dirty="0">
                <a:latin typeface="Cambria Math" panose="02040503050406030204" pitchFamily="18" charset="0"/>
                <a:ea typeface="Cambria Math" panose="02040503050406030204" pitchFamily="18" charset="0"/>
              </a:rPr>
              <a:t>P(z)</a:t>
            </a:r>
            <a:r>
              <a:rPr lang="ja-JP" altLang="en-US" b="1" dirty="0">
                <a:latin typeface="Cambria Math" panose="02040503050406030204" pitchFamily="18" charset="0"/>
              </a:rPr>
              <a:t>、</a:t>
            </a:r>
            <a:r>
              <a:rPr lang="en-US" altLang="ja-JP" b="1" dirty="0">
                <a:latin typeface="Cambria Math" panose="02040503050406030204" pitchFamily="18" charset="0"/>
                <a:ea typeface="Cambria Math" panose="02040503050406030204" pitchFamily="18" charset="0"/>
              </a:rPr>
              <a:t>P(</a:t>
            </a:r>
            <a:r>
              <a:rPr lang="en-US" altLang="ja-JP" b="1" dirty="0" err="1">
                <a:latin typeface="Cambria Math" panose="02040503050406030204" pitchFamily="18" charset="0"/>
                <a:ea typeface="Cambria Math" panose="02040503050406030204" pitchFamily="18" charset="0"/>
              </a:rPr>
              <a:t>z|x</a:t>
            </a:r>
            <a:r>
              <a:rPr lang="en-US" altLang="ja-JP" b="1" dirty="0">
                <a:latin typeface="Cambria Math" panose="02040503050406030204" pitchFamily="18" charset="0"/>
                <a:ea typeface="Cambria Math" panose="02040503050406030204" pitchFamily="18" charset="0"/>
              </a:rPr>
              <a:t>)</a:t>
            </a:r>
            <a:r>
              <a:rPr lang="ja-JP" altLang="en-US" b="1" dirty="0">
                <a:latin typeface="Cambria Math" panose="02040503050406030204" pitchFamily="18" charset="0"/>
              </a:rPr>
              <a:t>、</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z|y</a:t>
            </a:r>
            <a:r>
              <a:rPr lang="en-US" altLang="ja-JP" dirty="0">
                <a:latin typeface="Cambria Math" panose="02040503050406030204" pitchFamily="18" charset="0"/>
                <a:ea typeface="Cambria Math" panose="02040503050406030204" pitchFamily="18" charset="0"/>
              </a:rPr>
              <a:t>)</a:t>
            </a:r>
            <a:r>
              <a:rPr lang="ja-JP" altLang="en-US" dirty="0">
                <a:latin typeface="Cambria Math" panose="02040503050406030204" pitchFamily="18" charset="0"/>
              </a:rPr>
              <a:t>、</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x|z</a:t>
            </a:r>
            <a:r>
              <a:rPr lang="en-US" altLang="ja-JP" dirty="0">
                <a:latin typeface="Cambria Math" panose="02040503050406030204" pitchFamily="18" charset="0"/>
                <a:ea typeface="Cambria Math" panose="02040503050406030204" pitchFamily="18" charset="0"/>
              </a:rPr>
              <a:t>)</a:t>
            </a:r>
            <a:r>
              <a:rPr lang="ja-JP" altLang="en-US" dirty="0">
                <a:latin typeface="Cambria Math" panose="02040503050406030204" pitchFamily="18" charset="0"/>
              </a:rPr>
              <a:t>、</a:t>
            </a:r>
            <a:r>
              <a:rPr lang="en-US" altLang="ja-JP" dirty="0">
                <a:latin typeface="Cambria Math" panose="02040503050406030204" pitchFamily="18" charset="0"/>
                <a:ea typeface="Cambria Math" panose="02040503050406030204" pitchFamily="18" charset="0"/>
              </a:rPr>
              <a:t>P(</a:t>
            </a:r>
            <a:r>
              <a:rPr lang="en-US" altLang="ja-JP" dirty="0" err="1">
                <a:latin typeface="Cambria Math" panose="02040503050406030204" pitchFamily="18" charset="0"/>
                <a:ea typeface="Cambria Math" panose="02040503050406030204" pitchFamily="18" charset="0"/>
              </a:rPr>
              <a:t>y|z</a:t>
            </a:r>
            <a:r>
              <a:rPr lang="en-US" altLang="ja-JP" dirty="0">
                <a:latin typeface="Cambria Math" panose="02040503050406030204" pitchFamily="18" charset="0"/>
                <a:ea typeface="Cambria Math" panose="02040503050406030204" pitchFamily="18" charset="0"/>
              </a:rPr>
              <a:t>)</a:t>
            </a:r>
            <a:r>
              <a:rPr lang="ja-JP" altLang="en-US" dirty="0"/>
              <a:t>の概要と解釈の仕</a:t>
            </a:r>
            <a:r>
              <a:rPr lang="ja-JP" altLang="en-US" dirty="0">
                <a:latin typeface="Cambria Math" panose="02040503050406030204" pitchFamily="18" charset="0"/>
                <a:ea typeface="Cambria Math" panose="02040503050406030204" pitchFamily="18" charset="0"/>
              </a:rPr>
              <a:t>方</a:t>
            </a:r>
            <a:r>
              <a:rPr lang="ja-JP" altLang="en-US" dirty="0"/>
              <a:t>をそれぞれ確認します。</a:t>
            </a:r>
            <a:endParaRPr lang="en-US" altLang="ja-JP" b="1" dirty="0"/>
          </a:p>
        </p:txBody>
      </p:sp>
      <p:graphicFrame>
        <p:nvGraphicFramePr>
          <p:cNvPr id="7" name="表 7">
            <a:extLst>
              <a:ext uri="{FF2B5EF4-FFF2-40B4-BE49-F238E27FC236}">
                <a16:creationId xmlns:a16="http://schemas.microsoft.com/office/drawing/2014/main" id="{9845A12B-31C9-4713-B17C-53BF8B54120A}"/>
              </a:ext>
            </a:extLst>
          </p:cNvPr>
          <p:cNvGraphicFramePr>
            <a:graphicFrameLocks noGrp="1"/>
          </p:cNvGraphicFramePr>
          <p:nvPr>
            <p:extLst>
              <p:ext uri="{D42A27DB-BD31-4B8C-83A1-F6EECF244321}">
                <p14:modId xmlns:p14="http://schemas.microsoft.com/office/powerpoint/2010/main" val="417789166"/>
              </p:ext>
            </p:extLst>
          </p:nvPr>
        </p:nvGraphicFramePr>
        <p:xfrm>
          <a:off x="93000" y="2340000"/>
          <a:ext cx="9396000" cy="2576160"/>
        </p:xfrm>
        <a:graphic>
          <a:graphicData uri="http://schemas.openxmlformats.org/drawingml/2006/table">
            <a:tbl>
              <a:tblPr firstRow="1" bandRow="1">
                <a:tableStyleId>{5940675A-B579-460E-94D1-54222C63F5DA}</a:tableStyleId>
              </a:tblPr>
              <a:tblGrid>
                <a:gridCol w="1260000">
                  <a:extLst>
                    <a:ext uri="{9D8B030D-6E8A-4147-A177-3AD203B41FA5}">
                      <a16:colId xmlns:a16="http://schemas.microsoft.com/office/drawing/2014/main" val="858439037"/>
                    </a:ext>
                  </a:extLst>
                </a:gridCol>
                <a:gridCol w="3456000">
                  <a:extLst>
                    <a:ext uri="{9D8B030D-6E8A-4147-A177-3AD203B41FA5}">
                      <a16:colId xmlns:a16="http://schemas.microsoft.com/office/drawing/2014/main" val="2561236756"/>
                    </a:ext>
                  </a:extLst>
                </a:gridCol>
                <a:gridCol w="4680000">
                  <a:extLst>
                    <a:ext uri="{9D8B030D-6E8A-4147-A177-3AD203B41FA5}">
                      <a16:colId xmlns:a16="http://schemas.microsoft.com/office/drawing/2014/main" val="1653461048"/>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rPr>
                        <a:t>アウトプット</a:t>
                      </a:r>
                    </a:p>
                  </a:txBody>
                  <a:tcPr anchor="ctr"/>
                </a:tc>
                <a:tc>
                  <a:txBody>
                    <a:bodyPr/>
                    <a:lstStyle/>
                    <a:p>
                      <a:pPr algn="ctr"/>
                      <a:r>
                        <a:rPr lang="ja-JP" altLang="en-US" b="1" dirty="0">
                          <a:latin typeface="Meiryo UI" panose="020B0604030504040204" pitchFamily="50" charset="-128"/>
                          <a:ea typeface="Meiryo UI" panose="020B0604030504040204" pitchFamily="50" charset="-128"/>
                        </a:rPr>
                        <a:t>概要</a:t>
                      </a:r>
                    </a:p>
                  </a:txBody>
                  <a:tcPr anchor="ctr"/>
                </a:tc>
                <a:tc>
                  <a:txBody>
                    <a:bodyPr/>
                    <a:lstStyle/>
                    <a:p>
                      <a:pPr algn="ctr"/>
                      <a:r>
                        <a:rPr lang="ja-JP" altLang="en-US" b="1" dirty="0">
                          <a:latin typeface="Meiryo UI" panose="020B0604030504040204" pitchFamily="50" charset="-128"/>
                          <a:ea typeface="Meiryo UI" panose="020B0604030504040204" pitchFamily="50" charset="-128"/>
                        </a:rPr>
                        <a:t>解釈の仕方</a:t>
                      </a:r>
                    </a:p>
                  </a:txBody>
                  <a:tcPr anchor="ctr"/>
                </a:tc>
                <a:extLst>
                  <a:ext uri="{0D108BD9-81ED-4DB2-BD59-A6C34878D82A}">
                    <a16:rowId xmlns:a16="http://schemas.microsoft.com/office/drawing/2014/main" val="4274474755"/>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dirty="0">
                          <a:latin typeface="Cambria Math" panose="02040503050406030204" pitchFamily="18" charset="0"/>
                          <a:ea typeface="Cambria Math" panose="02040503050406030204" pitchFamily="18" charset="0"/>
                        </a:rPr>
                        <a:t>P(z)</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endParaRPr>
                    </a:p>
                  </a:txBody>
                  <a:tcPr anchor="ctr"/>
                </a:tc>
                <a:tc>
                  <a:txBody>
                    <a:bodyPr/>
                    <a:lstStyle/>
                    <a:p>
                      <a:pPr algn="ctr"/>
                      <a:r>
                        <a:rPr lang="ja-JP" altLang="en-US" dirty="0">
                          <a:latin typeface="Meiryo UI" panose="020B0604030504040204" pitchFamily="50" charset="-128"/>
                          <a:ea typeface="Meiryo UI" panose="020B0604030504040204" pitchFamily="50" charset="-128"/>
                        </a:rPr>
                        <a:t>クラスタ</a:t>
                      </a:r>
                      <a:r>
                        <a:rPr lang="en-US" altLang="ja-JP" dirty="0">
                          <a:latin typeface="Meiryo UI" panose="020B0604030504040204" pitchFamily="50" charset="-128"/>
                          <a:ea typeface="Meiryo UI" panose="020B0604030504040204" pitchFamily="50" charset="-128"/>
                        </a:rPr>
                        <a:t>z</a:t>
                      </a:r>
                      <a:r>
                        <a:rPr lang="ja-JP" altLang="en-US" dirty="0">
                          <a:latin typeface="Meiryo UI" panose="020B0604030504040204" pitchFamily="50" charset="-128"/>
                          <a:ea typeface="Meiryo UI" panose="020B0604030504040204" pitchFamily="50" charset="-128"/>
                        </a:rPr>
                        <a:t>の存在確率</a:t>
                      </a:r>
                    </a:p>
                  </a:txBody>
                  <a:tcPr anchor="ctr"/>
                </a:tc>
                <a:tc>
                  <a:txBody>
                    <a:bodyPr/>
                    <a:lstStyle/>
                    <a:p>
                      <a:pPr algn="l"/>
                      <a:r>
                        <a:rPr lang="ja-JP" altLang="en-US" dirty="0">
                          <a:latin typeface="Meiryo UI" panose="020B0604030504040204" pitchFamily="50" charset="-128"/>
                          <a:ea typeface="Meiryo UI" panose="020B0604030504040204" pitchFamily="50" charset="-128"/>
                        </a:rPr>
                        <a:t>データに対して、各クラスタの割合を確認する</a:t>
                      </a:r>
                    </a:p>
                  </a:txBody>
                  <a:tcPr anchor="ctr"/>
                </a:tc>
                <a:extLst>
                  <a:ext uri="{0D108BD9-81ED-4DB2-BD59-A6C34878D82A}">
                    <a16:rowId xmlns:a16="http://schemas.microsoft.com/office/drawing/2014/main" val="3485341491"/>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dirty="0">
                          <a:latin typeface="Cambria Math" panose="02040503050406030204" pitchFamily="18" charset="0"/>
                          <a:ea typeface="Cambria Math" panose="02040503050406030204" pitchFamily="18" charset="0"/>
                        </a:rPr>
                        <a:t>P(</a:t>
                      </a:r>
                      <a:r>
                        <a:rPr lang="en-US" altLang="ja-JP" b="0" dirty="0" err="1">
                          <a:latin typeface="Cambria Math" panose="02040503050406030204" pitchFamily="18" charset="0"/>
                          <a:ea typeface="Cambria Math" panose="02040503050406030204" pitchFamily="18" charset="0"/>
                        </a:rPr>
                        <a:t>z|x</a:t>
                      </a:r>
                      <a:r>
                        <a:rPr lang="en-US" altLang="ja-JP" b="0" dirty="0">
                          <a:latin typeface="Cambria Math" panose="02040503050406030204" pitchFamily="18" charset="0"/>
                          <a:ea typeface="Cambria Math" panose="02040503050406030204" pitchFamily="18" charset="0"/>
                        </a:rPr>
                        <a:t>)</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データ</a:t>
                      </a:r>
                      <a:r>
                        <a:rPr kumimoji="1" lang="en-US" altLang="ja-JP" dirty="0" err="1">
                          <a:latin typeface="Cambria Math" panose="02040503050406030204" pitchFamily="18" charset="0"/>
                          <a:ea typeface="Cambria Math" panose="02040503050406030204" pitchFamily="18" charset="0"/>
                        </a:rPr>
                        <a:t>x,y</a:t>
                      </a:r>
                      <a:r>
                        <a:rPr kumimoji="1" lang="ja-JP" altLang="en-US" dirty="0">
                          <a:latin typeface="Meiryo UI" panose="020B0604030504040204" pitchFamily="50" charset="-128"/>
                          <a:ea typeface="Meiryo UI" panose="020B0604030504040204" pitchFamily="50" charset="-128"/>
                        </a:rPr>
                        <a:t>のクラスタ別の所属確立</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データ</a:t>
                      </a:r>
                      <a:r>
                        <a:rPr kumimoji="1" lang="en-US" altLang="ja-JP" dirty="0" err="1">
                          <a:latin typeface="Cambria Math" panose="02040503050406030204" pitchFamily="18" charset="0"/>
                          <a:ea typeface="Cambria Math" panose="02040503050406030204" pitchFamily="18" charset="0"/>
                        </a:rPr>
                        <a:t>x,y</a:t>
                      </a:r>
                      <a:r>
                        <a:rPr kumimoji="1" lang="ja-JP" altLang="en-US" dirty="0">
                          <a:latin typeface="Meiryo UI" panose="020B0604030504040204" pitchFamily="50" charset="-128"/>
                          <a:ea typeface="Meiryo UI" panose="020B0604030504040204" pitchFamily="50" charset="-128"/>
                        </a:rPr>
                        <a:t>がどのクラスタへ所属するかを確認する</a:t>
                      </a:r>
                      <a:endParaRPr kumimoji="1" lang="en-US" altLang="ja-JP"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所属確立が</a:t>
                      </a:r>
                      <a:r>
                        <a:rPr kumimoji="1" lang="en-US" altLang="ja-JP" dirty="0">
                          <a:latin typeface="Meiryo UI" panose="020B0604030504040204" pitchFamily="50" charset="-128"/>
                          <a:ea typeface="Meiryo UI" panose="020B0604030504040204" pitchFamily="50" charset="-128"/>
                        </a:rPr>
                        <a:t>1</a:t>
                      </a:r>
                      <a:r>
                        <a:rPr kumimoji="1" lang="ja-JP" altLang="en-US" dirty="0">
                          <a:latin typeface="Meiryo UI" panose="020B0604030504040204" pitchFamily="50" charset="-128"/>
                          <a:ea typeface="Meiryo UI" panose="020B0604030504040204" pitchFamily="50" charset="-128"/>
                        </a:rPr>
                        <a:t>番高いクラスタのみと考えた場合、</a:t>
                      </a:r>
                      <a:endParaRPr kumimoji="1" lang="en-US" altLang="ja-JP"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ハードクラスタリングとなる</a:t>
                      </a:r>
                    </a:p>
                  </a:txBody>
                  <a:tcPr anchor="ctr"/>
                </a:tc>
                <a:extLst>
                  <a:ext uri="{0D108BD9-81ED-4DB2-BD59-A6C34878D82A}">
                    <a16:rowId xmlns:a16="http://schemas.microsoft.com/office/drawing/2014/main" val="1892669537"/>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dirty="0">
                          <a:latin typeface="Cambria Math" panose="02040503050406030204" pitchFamily="18" charset="0"/>
                          <a:ea typeface="Cambria Math" panose="02040503050406030204" pitchFamily="18" charset="0"/>
                        </a:rPr>
                        <a:t>P(</a:t>
                      </a:r>
                      <a:r>
                        <a:rPr lang="en-US" altLang="ja-JP" b="0" dirty="0" err="1">
                          <a:latin typeface="Cambria Math" panose="02040503050406030204" pitchFamily="18" charset="0"/>
                          <a:ea typeface="Cambria Math" panose="02040503050406030204" pitchFamily="18" charset="0"/>
                        </a:rPr>
                        <a:t>z|y</a:t>
                      </a:r>
                      <a:r>
                        <a:rPr lang="en-US" altLang="ja-JP" b="0" dirty="0">
                          <a:latin typeface="Cambria Math" panose="02040503050406030204" pitchFamily="18" charset="0"/>
                          <a:ea typeface="Cambria Math" panose="02040503050406030204" pitchFamily="18" charset="0"/>
                        </a:rPr>
                        <a:t>)</a:t>
                      </a:r>
                      <a:endParaRPr kumimoji="1" lang="ja-JP" altLang="en-US" b="0" dirty="0">
                        <a:latin typeface="Cambria Math" panose="02040503050406030204" pitchFamily="18" charset="0"/>
                        <a:ea typeface="Meiryo UI" panose="020B0604030504040204" pitchFamily="50" charset="-128"/>
                      </a:endParaRPr>
                    </a:p>
                  </a:txBody>
                  <a:tcPr anchor="ct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Meiryo UI" panose="020B0604030504040204" pitchFamily="50" charset="-128"/>
                        <a:ea typeface="Meiryo UI" panose="020B0604030504040204" pitchFamily="50" charset="-128"/>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774293402"/>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dirty="0">
                          <a:latin typeface="Cambria Math" panose="02040503050406030204" pitchFamily="18" charset="0"/>
                          <a:ea typeface="Cambria Math" panose="02040503050406030204" pitchFamily="18" charset="0"/>
                        </a:rPr>
                        <a:t>P(</a:t>
                      </a:r>
                      <a:r>
                        <a:rPr lang="en-US" altLang="ja-JP" b="0" dirty="0" err="1">
                          <a:latin typeface="Cambria Math" panose="02040503050406030204" pitchFamily="18" charset="0"/>
                          <a:ea typeface="Cambria Math" panose="02040503050406030204" pitchFamily="18" charset="0"/>
                        </a:rPr>
                        <a:t>x|z</a:t>
                      </a:r>
                      <a:r>
                        <a:rPr lang="en-US" altLang="ja-JP" b="0" dirty="0">
                          <a:latin typeface="Cambria Math" panose="02040503050406030204" pitchFamily="18" charset="0"/>
                          <a:ea typeface="Cambria Math" panose="02040503050406030204" pitchFamily="18" charset="0"/>
                        </a:rPr>
                        <a:t>)</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クラスタ</a:t>
                      </a:r>
                      <a:r>
                        <a:rPr kumimoji="1" lang="en-US" altLang="ja-JP" dirty="0">
                          <a:latin typeface="Meiryo UI" panose="020B0604030504040204" pitchFamily="50" charset="-128"/>
                          <a:ea typeface="Meiryo UI" panose="020B0604030504040204" pitchFamily="50" charset="-128"/>
                        </a:rPr>
                        <a:t>z</a:t>
                      </a:r>
                      <a:r>
                        <a:rPr kumimoji="1" lang="ja-JP" altLang="en-US" dirty="0">
                          <a:latin typeface="Meiryo UI" panose="020B0604030504040204" pitchFamily="50" charset="-128"/>
                          <a:ea typeface="Meiryo UI" panose="020B0604030504040204" pitchFamily="50" charset="-128"/>
                        </a:rPr>
                        <a:t>の中でデータ</a:t>
                      </a:r>
                      <a:r>
                        <a:rPr kumimoji="1" lang="en-US" altLang="ja-JP" dirty="0" err="1">
                          <a:latin typeface="Cambria Math" panose="02040503050406030204" pitchFamily="18" charset="0"/>
                          <a:ea typeface="Cambria Math" panose="02040503050406030204" pitchFamily="18" charset="0"/>
                        </a:rPr>
                        <a:t>x,y</a:t>
                      </a:r>
                      <a:r>
                        <a:rPr kumimoji="1" lang="ja-JP" altLang="en-US" dirty="0">
                          <a:latin typeface="Meiryo UI" panose="020B0604030504040204" pitchFamily="50" charset="-128"/>
                          <a:ea typeface="Meiryo UI" panose="020B0604030504040204" pitchFamily="50" charset="-128"/>
                        </a:rPr>
                        <a:t>が出現する確率</a:t>
                      </a:r>
                      <a:endParaRPr kumimoji="1" lang="en-US" altLang="ja-JP" dirty="0">
                        <a:latin typeface="Meiryo UI" panose="020B0604030504040204" pitchFamily="50" charset="-128"/>
                        <a:ea typeface="Meiryo UI" panose="020B0604030504040204" pitchFamily="50" charset="-128"/>
                      </a:endParaRP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i="1" dirty="0">
                          <a:latin typeface="Meiryo UI" panose="020B0604030504040204" pitchFamily="50" charset="-128"/>
                          <a:ea typeface="Meiryo UI" panose="020B0604030504040204" pitchFamily="50" charset="-128"/>
                        </a:rPr>
                        <a:t>クラスタの</a:t>
                      </a:r>
                      <a:r>
                        <a:rPr lang="ja-JP" altLang="en-US" dirty="0">
                          <a:latin typeface="Meiryo UI" panose="020B0604030504040204" pitchFamily="50" charset="-128"/>
                          <a:ea typeface="Meiryo UI" panose="020B0604030504040204" pitchFamily="50" charset="-128"/>
                        </a:rPr>
                        <a:t>構成要素を確認する</a:t>
                      </a:r>
                      <a:endParaRPr lang="en-US" altLang="ja-JP"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Meiryo UI" panose="020B0604030504040204" pitchFamily="50" charset="-128"/>
                          <a:ea typeface="Meiryo UI" panose="020B0604030504040204" pitchFamily="50" charset="-128"/>
                        </a:rPr>
                        <a:t>大きい確率のほうが、占めている割合が高い</a:t>
                      </a:r>
                    </a:p>
                  </a:txBody>
                  <a:tcPr anchor="ctr"/>
                </a:tc>
                <a:extLst>
                  <a:ext uri="{0D108BD9-81ED-4DB2-BD59-A6C34878D82A}">
                    <a16:rowId xmlns:a16="http://schemas.microsoft.com/office/drawing/2014/main" val="2204295416"/>
                  </a:ext>
                </a:extLst>
              </a:tr>
              <a:tr h="43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b="0" dirty="0">
                          <a:latin typeface="Cambria Math" panose="02040503050406030204" pitchFamily="18" charset="0"/>
                          <a:ea typeface="Cambria Math" panose="02040503050406030204" pitchFamily="18" charset="0"/>
                        </a:rPr>
                        <a:t>P(</a:t>
                      </a:r>
                      <a:r>
                        <a:rPr lang="en-US" altLang="ja-JP" b="0" dirty="0" err="1">
                          <a:latin typeface="Cambria Math" panose="02040503050406030204" pitchFamily="18" charset="0"/>
                          <a:ea typeface="Cambria Math" panose="02040503050406030204" pitchFamily="18" charset="0"/>
                        </a:rPr>
                        <a:t>y|z</a:t>
                      </a:r>
                      <a:r>
                        <a:rPr lang="en-US" altLang="ja-JP" b="0" dirty="0">
                          <a:latin typeface="Cambria Math" panose="02040503050406030204" pitchFamily="18" charset="0"/>
                          <a:ea typeface="Cambria Math" panose="02040503050406030204" pitchFamily="18" charset="0"/>
                        </a:rPr>
                        <a:t>)</a:t>
                      </a:r>
                      <a:endParaRPr kumimoji="1" lang="ja-JP" altLang="en-US" sz="1800" b="0" i="0" u="none" strike="noStrike" kern="1200" cap="none" spc="0" normalizeH="0" baseline="0" noProof="0" dirty="0">
                        <a:ln>
                          <a:noFill/>
                        </a:ln>
                        <a:solidFill>
                          <a:prstClr val="black"/>
                        </a:solidFill>
                        <a:effectLst/>
                        <a:uLnTx/>
                        <a:uFillTx/>
                        <a:latin typeface="Cambria Math" panose="02040503050406030204" pitchFamily="18" charset="0"/>
                        <a:ea typeface="Meiryo UI" panose="020B0604030504040204" pitchFamily="50" charset="-128"/>
                        <a:cs typeface="+mn-cs"/>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latin typeface="Meiryo UI" panose="020B0604030504040204" pitchFamily="50" charset="-128"/>
                        <a:ea typeface="Meiryo UI" panose="020B0604030504040204" pitchFamily="50" charset="-128"/>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635050145"/>
                  </a:ext>
                </a:extLst>
              </a:tr>
            </a:tbl>
          </a:graphicData>
        </a:graphic>
      </p:graphicFrame>
      <p:sp>
        <p:nvSpPr>
          <p:cNvPr id="8" name="正方形/長方形 7">
            <a:extLst>
              <a:ext uri="{FF2B5EF4-FFF2-40B4-BE49-F238E27FC236}">
                <a16:creationId xmlns:a16="http://schemas.microsoft.com/office/drawing/2014/main" id="{7D9DB384-72BC-44EB-94B8-B32D0D722887}"/>
              </a:ext>
            </a:extLst>
          </p:cNvPr>
          <p:cNvSpPr/>
          <p:nvPr/>
        </p:nvSpPr>
        <p:spPr>
          <a:xfrm>
            <a:off x="3337814" y="1980000"/>
            <a:ext cx="3230373" cy="369332"/>
          </a:xfrm>
          <a:prstGeom prst="rect">
            <a:avLst/>
          </a:prstGeom>
        </p:spPr>
        <p:txBody>
          <a:bodyPr wrap="none">
            <a:spAutoFit/>
          </a:bodyPr>
          <a:lstStyle/>
          <a:p>
            <a:pPr algn="ctr"/>
            <a:r>
              <a:rPr lang="ja-JP" altLang="en-US" b="1" dirty="0">
                <a:latin typeface="Meiryo UI" panose="020B0604030504040204" pitchFamily="50" charset="-128"/>
                <a:ea typeface="Meiryo UI" panose="020B0604030504040204" pitchFamily="50" charset="-128"/>
              </a:rPr>
              <a:t>アウトプットの概要と解釈の仕方</a:t>
            </a:r>
            <a:endParaRPr lang="ja-JP" altLang="en-US" b="1" dirty="0">
              <a:solidFill>
                <a:prstClr val="black"/>
              </a:solidFill>
              <a:latin typeface="Meiryo UI" panose="020B0604030504040204" pitchFamily="50" charset="-128"/>
              <a:ea typeface="Meiryo UI" panose="020B0604030504040204" pitchFamily="50" charset="-128"/>
            </a:endParaRPr>
          </a:p>
        </p:txBody>
      </p:sp>
      <p:pic>
        <p:nvPicPr>
          <p:cNvPr id="6" name="Picture 2">
            <a:extLst>
              <a:ext uri="{FF2B5EF4-FFF2-40B4-BE49-F238E27FC236}">
                <a16:creationId xmlns:a16="http://schemas.microsoft.com/office/drawing/2014/main" id="{E8FEB506-6904-4213-938F-750E70DE02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952" b="30530"/>
          <a:stretch/>
        </p:blipFill>
        <p:spPr bwMode="auto">
          <a:xfrm>
            <a:off x="1423987" y="5361179"/>
            <a:ext cx="7058025" cy="1269962"/>
          </a:xfrm>
          <a:prstGeom prst="rect">
            <a:avLst/>
          </a:prstGeom>
          <a:noFill/>
          <a:extLst>
            <a:ext uri="{909E8E84-426E-40DD-AFC4-6F175D3DCCD1}">
              <a14:hiddenFill xmlns:a14="http://schemas.microsoft.com/office/drawing/2010/main">
                <a:solidFill>
                  <a:srgbClr val="FFFFFF"/>
                </a:solidFill>
              </a14:hiddenFill>
            </a:ext>
          </a:extLst>
        </p:spPr>
      </p:pic>
      <p:sp>
        <p:nvSpPr>
          <p:cNvPr id="9" name="正方形/長方形 8">
            <a:extLst>
              <a:ext uri="{FF2B5EF4-FFF2-40B4-BE49-F238E27FC236}">
                <a16:creationId xmlns:a16="http://schemas.microsoft.com/office/drawing/2014/main" id="{FB51D720-B7C9-4128-8019-9AEF175D3B06}"/>
              </a:ext>
            </a:extLst>
          </p:cNvPr>
          <p:cNvSpPr/>
          <p:nvPr/>
        </p:nvSpPr>
        <p:spPr>
          <a:xfrm>
            <a:off x="3519307" y="5047790"/>
            <a:ext cx="2867388" cy="369332"/>
          </a:xfrm>
          <a:prstGeom prst="rect">
            <a:avLst/>
          </a:prstGeom>
        </p:spPr>
        <p:txBody>
          <a:bodyPr wrap="none">
            <a:spAutoFit/>
          </a:bodyPr>
          <a:lstStyle/>
          <a:p>
            <a:pPr algn="ctr"/>
            <a:r>
              <a:rPr lang="en-US" altLang="ja-JP" b="1" dirty="0">
                <a:latin typeface="Meiryo UI" panose="020B0604030504040204" pitchFamily="50" charset="-128"/>
                <a:ea typeface="Meiryo UI" panose="020B0604030504040204" pitchFamily="50" charset="-128"/>
              </a:rPr>
              <a:t>PLSA</a:t>
            </a:r>
            <a:r>
              <a:rPr lang="ja-JP" altLang="en-US" b="1" dirty="0">
                <a:latin typeface="Meiryo UI" panose="020B0604030504040204" pitchFamily="50" charset="-128"/>
                <a:ea typeface="Meiryo UI" panose="020B0604030504040204" pitchFamily="50" charset="-128"/>
              </a:rPr>
              <a:t>のアウトプットイメージ</a:t>
            </a:r>
            <a:endParaRPr lang="ja-JP" altLang="en-US" b="1"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17761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987A30-B20A-4A63-9E95-BC42D566225F}"/>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56219168-120D-4C44-8011-CADF5C3C951F}"/>
              </a:ext>
            </a:extLst>
          </p:cNvPr>
          <p:cNvSpPr>
            <a:spLocks noGrp="1"/>
          </p:cNvSpPr>
          <p:nvPr>
            <p:ph idx="1"/>
          </p:nvPr>
        </p:nvSpPr>
        <p:spPr/>
        <p:txBody>
          <a:bodyPr/>
          <a:lstStyle/>
          <a:p>
            <a:r>
              <a:rPr lang="en-US" altLang="ja-JP" dirty="0"/>
              <a:t>PLSA</a:t>
            </a:r>
            <a:r>
              <a:rPr lang="ja-JP" altLang="en-US" dirty="0"/>
              <a:t>は、分析目的に応じてその適用の仕方を設計することで様々な展開の可能性があります。</a:t>
            </a:r>
          </a:p>
        </p:txBody>
      </p:sp>
      <p:sp>
        <p:nvSpPr>
          <p:cNvPr id="5" name="正方形/長方形 4">
            <a:extLst>
              <a:ext uri="{FF2B5EF4-FFF2-40B4-BE49-F238E27FC236}">
                <a16:creationId xmlns:a16="http://schemas.microsoft.com/office/drawing/2014/main" id="{97029D68-E122-4C6B-89F3-E51DBB2BDFF1}"/>
              </a:ext>
            </a:extLst>
          </p:cNvPr>
          <p:cNvSpPr/>
          <p:nvPr/>
        </p:nvSpPr>
        <p:spPr>
          <a:xfrm>
            <a:off x="540000" y="1979463"/>
            <a:ext cx="9048500" cy="3970318"/>
          </a:xfrm>
          <a:prstGeom prst="rect">
            <a:avLst/>
          </a:prstGeom>
        </p:spPr>
        <p:txBody>
          <a:bodyPr wrap="square">
            <a:spAutoFit/>
          </a:bodyPr>
          <a:lstStyle/>
          <a:p>
            <a:pPr marL="285750" indent="-285750">
              <a:buFont typeface="Wingdings" panose="05000000000000000000" pitchFamily="2" charset="2"/>
              <a:buChar char="n"/>
            </a:pPr>
            <a:r>
              <a:rPr lang="en-US" altLang="ja-JP" b="1" dirty="0">
                <a:latin typeface="Meiryo UI" panose="020B0604030504040204" pitchFamily="50" charset="-128"/>
                <a:ea typeface="Meiryo UI" panose="020B0604030504040204" pitchFamily="50" charset="-128"/>
              </a:rPr>
              <a:t>PLSA</a:t>
            </a:r>
            <a:r>
              <a:rPr lang="ja-JP" altLang="en-US" b="1" dirty="0">
                <a:latin typeface="Meiryo UI" panose="020B0604030504040204" pitchFamily="50" charset="-128"/>
                <a:ea typeface="Meiryo UI" panose="020B0604030504040204" pitchFamily="50" charset="-128"/>
              </a:rPr>
              <a:t>はソフトクラスタリングの手法であり、メリットが</a:t>
            </a:r>
            <a:r>
              <a:rPr lang="en-US" altLang="ja-JP" b="1" dirty="0">
                <a:latin typeface="Meiryo UI" panose="020B0604030504040204" pitchFamily="50" charset="-128"/>
                <a:ea typeface="Meiryo UI" panose="020B0604030504040204" pitchFamily="50" charset="-128"/>
              </a:rPr>
              <a:t>3</a:t>
            </a:r>
            <a:r>
              <a:rPr lang="ja-JP" altLang="en-US" b="1" dirty="0">
                <a:latin typeface="Meiryo UI" panose="020B0604030504040204" pitchFamily="50" charset="-128"/>
                <a:ea typeface="Meiryo UI" panose="020B0604030504040204" pitchFamily="50" charset="-128"/>
              </a:rPr>
              <a:t>つ存在する</a:t>
            </a:r>
            <a:endParaRPr lang="en-US" altLang="ja-JP" b="1" dirty="0">
              <a:latin typeface="Meiryo UI" panose="020B0604030504040204" pitchFamily="50" charset="-128"/>
              <a:ea typeface="Meiryo UI" panose="020B0604030504040204" pitchFamily="50" charset="-128"/>
            </a:endParaRPr>
          </a:p>
          <a:p>
            <a:pPr marL="800100" lvl="1" indent="-342900">
              <a:buFont typeface="+mj-ea"/>
              <a:buAutoNum type="circleNumDbPlain"/>
            </a:pPr>
            <a:r>
              <a:rPr lang="ja-JP" altLang="en-US" dirty="0">
                <a:latin typeface="Meiryo UI" panose="020B0604030504040204" pitchFamily="50" charset="-128"/>
                <a:ea typeface="Meiryo UI" panose="020B0604030504040204" pitchFamily="50" charset="-128"/>
              </a:rPr>
              <a:t>次元の呪いが発生しない</a:t>
            </a:r>
            <a:endParaRPr lang="en-US" altLang="ja-JP" dirty="0">
              <a:latin typeface="Meiryo UI" panose="020B0604030504040204" pitchFamily="50" charset="-128"/>
              <a:ea typeface="Meiryo UI" panose="020B0604030504040204" pitchFamily="50" charset="-128"/>
            </a:endParaRPr>
          </a:p>
          <a:p>
            <a:pPr marL="800100" lvl="1" indent="-342900">
              <a:buFont typeface="+mj-ea"/>
              <a:buAutoNum type="circleNumDbPlain"/>
            </a:pPr>
            <a:r>
              <a:rPr lang="ja-JP" altLang="en-US" dirty="0">
                <a:latin typeface="Meiryo UI" panose="020B0604030504040204" pitchFamily="50" charset="-128"/>
                <a:ea typeface="Meiryo UI" panose="020B0604030504040204" pitchFamily="50" charset="-128"/>
              </a:rPr>
              <a:t>複数のクラスタの所属確立を確立で表すことができる</a:t>
            </a:r>
            <a:endParaRPr lang="en-US" altLang="ja-JP" dirty="0">
              <a:latin typeface="Meiryo UI" panose="020B0604030504040204" pitchFamily="50" charset="-128"/>
              <a:ea typeface="Meiryo UI" panose="020B0604030504040204" pitchFamily="50" charset="-128"/>
            </a:endParaRPr>
          </a:p>
          <a:p>
            <a:pPr marL="800100" lvl="1" indent="-342900">
              <a:buFont typeface="+mj-ea"/>
              <a:buAutoNum type="circleNumDbPlain"/>
            </a:pPr>
            <a:r>
              <a:rPr lang="ja-JP" altLang="en-US" dirty="0">
                <a:latin typeface="Meiryo UI" panose="020B0604030504040204" pitchFamily="50" charset="-128"/>
                <a:ea typeface="Meiryo UI" panose="020B0604030504040204" pitchFamily="50" charset="-128"/>
              </a:rPr>
              <a:t>行と列を同時にクラスタリングすることができる</a:t>
            </a:r>
            <a:endParaRPr lang="en-US" altLang="ja-JP" dirty="0">
              <a:latin typeface="Meiryo UI" panose="020B0604030504040204" pitchFamily="50" charset="-128"/>
              <a:ea typeface="Meiryo UI" panose="020B0604030504040204" pitchFamily="50" charset="-128"/>
            </a:endParaRPr>
          </a:p>
          <a:p>
            <a:endParaRPr lang="en-US" altLang="ja-JP" b="1" dirty="0">
              <a:solidFill>
                <a:srgbClr val="333333"/>
              </a:solidFill>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n"/>
            </a:pPr>
            <a:r>
              <a:rPr lang="en-US" altLang="ja-JP" b="1" dirty="0">
                <a:solidFill>
                  <a:srgbClr val="333333"/>
                </a:solidFill>
                <a:latin typeface="Meiryo UI" panose="020B0604030504040204" pitchFamily="50" charset="-128"/>
                <a:ea typeface="Meiryo UI" panose="020B0604030504040204" pitchFamily="50" charset="-128"/>
              </a:rPr>
              <a:t>EM</a:t>
            </a:r>
            <a:r>
              <a:rPr lang="ja-JP" altLang="en-US" b="1" dirty="0">
                <a:solidFill>
                  <a:srgbClr val="333333"/>
                </a:solidFill>
                <a:latin typeface="Meiryo UI" panose="020B0604030504040204" pitchFamily="50" charset="-128"/>
                <a:ea typeface="Meiryo UI" panose="020B0604030504040204" pitchFamily="50" charset="-128"/>
              </a:rPr>
              <a:t>アルゴリズムで確率変数を求めている</a:t>
            </a:r>
            <a:endParaRPr lang="en-US" altLang="ja-JP" b="1" dirty="0">
              <a:solidFill>
                <a:srgbClr val="333333"/>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US" altLang="ja-JP" dirty="0">
                <a:solidFill>
                  <a:srgbClr val="333333"/>
                </a:solidFill>
                <a:latin typeface="Cambria Math" panose="02040503050406030204" pitchFamily="18" charset="0"/>
                <a:ea typeface="Cambria Math" panose="02040503050406030204" pitchFamily="18" charset="0"/>
              </a:rPr>
              <a:t>P(</a:t>
            </a:r>
            <a:r>
              <a:rPr lang="en-US" altLang="ja-JP" dirty="0" err="1">
                <a:solidFill>
                  <a:srgbClr val="333333"/>
                </a:solidFill>
                <a:latin typeface="Cambria Math" panose="02040503050406030204" pitchFamily="18" charset="0"/>
                <a:ea typeface="Cambria Math" panose="02040503050406030204" pitchFamily="18" charset="0"/>
              </a:rPr>
              <a:t>x|z</a:t>
            </a:r>
            <a:r>
              <a:rPr lang="en-US" altLang="ja-JP" dirty="0">
                <a:solidFill>
                  <a:srgbClr val="333333"/>
                </a:solidFill>
                <a:latin typeface="Cambria Math" panose="02040503050406030204" pitchFamily="18" charset="0"/>
                <a:ea typeface="Cambria Math" panose="02040503050406030204" pitchFamily="18" charset="0"/>
              </a:rPr>
              <a:t>)</a:t>
            </a:r>
            <a:r>
              <a:rPr lang="en-US" altLang="ja-JP" dirty="0">
                <a:solidFill>
                  <a:srgbClr val="333333"/>
                </a:solidFill>
                <a:latin typeface="Meiryo UI" panose="020B0604030504040204" pitchFamily="50" charset="-128"/>
                <a:ea typeface="Meiryo UI" panose="020B0604030504040204" pitchFamily="50" charset="-128"/>
              </a:rPr>
              <a:t>	</a:t>
            </a:r>
            <a:r>
              <a:rPr lang="ja-JP" altLang="en-US" dirty="0">
                <a:solidFill>
                  <a:srgbClr val="333333"/>
                </a:solidFill>
                <a:latin typeface="Meiryo UI" panose="020B0604030504040204" pitchFamily="50" charset="-128"/>
                <a:ea typeface="Meiryo UI" panose="020B0604030504040204" pitchFamily="50" charset="-128"/>
              </a:rPr>
              <a:t>：クラスタ</a:t>
            </a:r>
            <a:r>
              <a:rPr lang="en-US" altLang="ja-JP" dirty="0">
                <a:solidFill>
                  <a:srgbClr val="333333"/>
                </a:solidFill>
                <a:latin typeface="Cambria Math" panose="02040503050406030204" pitchFamily="18" charset="0"/>
                <a:ea typeface="Cambria Math" panose="02040503050406030204" pitchFamily="18" charset="0"/>
              </a:rPr>
              <a:t>z</a:t>
            </a:r>
            <a:r>
              <a:rPr lang="ja-JP" altLang="en-US" dirty="0">
                <a:solidFill>
                  <a:srgbClr val="333333"/>
                </a:solidFill>
                <a:latin typeface="Meiryo UI" panose="020B0604030504040204" pitchFamily="50" charset="-128"/>
                <a:ea typeface="Meiryo UI" panose="020B0604030504040204" pitchFamily="50" charset="-128"/>
              </a:rPr>
              <a:t>に対してのデータ</a:t>
            </a:r>
            <a:r>
              <a:rPr lang="en-US" altLang="ja-JP" dirty="0">
                <a:solidFill>
                  <a:srgbClr val="333333"/>
                </a:solidFill>
                <a:latin typeface="Cambria Math" panose="02040503050406030204" pitchFamily="18" charset="0"/>
                <a:ea typeface="Cambria Math" panose="02040503050406030204" pitchFamily="18" charset="0"/>
              </a:rPr>
              <a:t>x</a:t>
            </a:r>
            <a:r>
              <a:rPr lang="ja-JP" altLang="en-US" dirty="0">
                <a:solidFill>
                  <a:srgbClr val="333333"/>
                </a:solidFill>
                <a:latin typeface="Meiryo UI" panose="020B0604030504040204" pitchFamily="50" charset="-128"/>
                <a:ea typeface="Meiryo UI" panose="020B0604030504040204" pitchFamily="50" charset="-128"/>
              </a:rPr>
              <a:t>の構成割合</a:t>
            </a:r>
            <a:endParaRPr lang="en-US" altLang="ja-JP" dirty="0">
              <a:solidFill>
                <a:srgbClr val="333333"/>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US" altLang="ja-JP" dirty="0">
                <a:solidFill>
                  <a:srgbClr val="333333"/>
                </a:solidFill>
                <a:latin typeface="Cambria Math" panose="02040503050406030204" pitchFamily="18" charset="0"/>
                <a:ea typeface="Cambria Math" panose="02040503050406030204" pitchFamily="18" charset="0"/>
              </a:rPr>
              <a:t>P(</a:t>
            </a:r>
            <a:r>
              <a:rPr lang="en-US" altLang="ja-JP" dirty="0" err="1">
                <a:solidFill>
                  <a:srgbClr val="333333"/>
                </a:solidFill>
                <a:latin typeface="Cambria Math" panose="02040503050406030204" pitchFamily="18" charset="0"/>
                <a:ea typeface="Cambria Math" panose="02040503050406030204" pitchFamily="18" charset="0"/>
              </a:rPr>
              <a:t>y|z</a:t>
            </a:r>
            <a:r>
              <a:rPr lang="en-US" altLang="ja-JP" dirty="0">
                <a:solidFill>
                  <a:srgbClr val="333333"/>
                </a:solidFill>
                <a:latin typeface="Cambria Math" panose="02040503050406030204" pitchFamily="18" charset="0"/>
                <a:ea typeface="Cambria Math" panose="02040503050406030204" pitchFamily="18" charset="0"/>
              </a:rPr>
              <a:t>)</a:t>
            </a:r>
            <a:r>
              <a:rPr lang="en-US" altLang="ja-JP" dirty="0">
                <a:solidFill>
                  <a:srgbClr val="333333"/>
                </a:solidFill>
                <a:latin typeface="Meiryo UI" panose="020B0604030504040204" pitchFamily="50" charset="-128"/>
                <a:ea typeface="Meiryo UI" panose="020B0604030504040204" pitchFamily="50" charset="-128"/>
              </a:rPr>
              <a:t>	</a:t>
            </a:r>
            <a:r>
              <a:rPr lang="ja-JP" altLang="en-US" dirty="0">
                <a:solidFill>
                  <a:srgbClr val="333333"/>
                </a:solidFill>
                <a:latin typeface="Meiryo UI" panose="020B0604030504040204" pitchFamily="50" charset="-128"/>
                <a:ea typeface="Meiryo UI" panose="020B0604030504040204" pitchFamily="50" charset="-128"/>
              </a:rPr>
              <a:t>：クラスタ</a:t>
            </a:r>
            <a:r>
              <a:rPr lang="en-US" altLang="ja-JP" dirty="0">
                <a:solidFill>
                  <a:srgbClr val="333333"/>
                </a:solidFill>
                <a:latin typeface="Cambria Math" panose="02040503050406030204" pitchFamily="18" charset="0"/>
                <a:ea typeface="Cambria Math" panose="02040503050406030204" pitchFamily="18" charset="0"/>
              </a:rPr>
              <a:t>z</a:t>
            </a:r>
            <a:r>
              <a:rPr lang="ja-JP" altLang="en-US" dirty="0">
                <a:solidFill>
                  <a:srgbClr val="333333"/>
                </a:solidFill>
                <a:latin typeface="Meiryo UI" panose="020B0604030504040204" pitchFamily="50" charset="-128"/>
                <a:ea typeface="Meiryo UI" panose="020B0604030504040204" pitchFamily="50" charset="-128"/>
              </a:rPr>
              <a:t>に対してのデータ</a:t>
            </a:r>
            <a:r>
              <a:rPr lang="en-US" altLang="ja-JP" dirty="0">
                <a:solidFill>
                  <a:srgbClr val="333333"/>
                </a:solidFill>
                <a:latin typeface="Cambria Math" panose="02040503050406030204" pitchFamily="18" charset="0"/>
                <a:ea typeface="Cambria Math" panose="02040503050406030204" pitchFamily="18" charset="0"/>
              </a:rPr>
              <a:t>y</a:t>
            </a:r>
            <a:r>
              <a:rPr lang="ja-JP" altLang="en-US" dirty="0">
                <a:solidFill>
                  <a:srgbClr val="333333"/>
                </a:solidFill>
                <a:latin typeface="Meiryo UI" panose="020B0604030504040204" pitchFamily="50" charset="-128"/>
                <a:ea typeface="Meiryo UI" panose="020B0604030504040204" pitchFamily="50" charset="-128"/>
              </a:rPr>
              <a:t>の構成割合</a:t>
            </a:r>
            <a:endParaRPr lang="en-US" altLang="ja-JP" dirty="0">
              <a:solidFill>
                <a:srgbClr val="333333"/>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en-US" altLang="ja-JP" dirty="0">
                <a:solidFill>
                  <a:srgbClr val="333333"/>
                </a:solidFill>
                <a:latin typeface="Cambria Math" panose="02040503050406030204" pitchFamily="18" charset="0"/>
                <a:ea typeface="Cambria Math" panose="02040503050406030204" pitchFamily="18" charset="0"/>
              </a:rPr>
              <a:t>P(z)</a:t>
            </a:r>
            <a:r>
              <a:rPr lang="en-US" altLang="ja-JP" dirty="0">
                <a:solidFill>
                  <a:srgbClr val="333333"/>
                </a:solidFill>
                <a:latin typeface="Meiryo UI" panose="020B0604030504040204" pitchFamily="50" charset="-128"/>
                <a:ea typeface="Meiryo UI" panose="020B0604030504040204" pitchFamily="50" charset="-128"/>
              </a:rPr>
              <a:t>	</a:t>
            </a:r>
            <a:r>
              <a:rPr lang="ja-JP" altLang="en-US" dirty="0">
                <a:solidFill>
                  <a:srgbClr val="333333"/>
                </a:solidFill>
                <a:latin typeface="Meiryo UI" panose="020B0604030504040204" pitchFamily="50" charset="-128"/>
                <a:ea typeface="Meiryo UI" panose="020B0604030504040204" pitchFamily="50" charset="-128"/>
              </a:rPr>
              <a:t>：潜在クラスタ</a:t>
            </a:r>
            <a:r>
              <a:rPr lang="en-US" altLang="ja-JP" dirty="0">
                <a:solidFill>
                  <a:srgbClr val="333333"/>
                </a:solidFill>
                <a:latin typeface="Cambria Math" panose="02040503050406030204" pitchFamily="18" charset="0"/>
                <a:ea typeface="Cambria Math" panose="02040503050406030204" pitchFamily="18" charset="0"/>
              </a:rPr>
              <a:t>x</a:t>
            </a:r>
            <a:r>
              <a:rPr lang="ja-JP" altLang="en-US" dirty="0">
                <a:solidFill>
                  <a:srgbClr val="333333"/>
                </a:solidFill>
                <a:latin typeface="Meiryo UI" panose="020B0604030504040204" pitchFamily="50" charset="-128"/>
                <a:ea typeface="Meiryo UI" panose="020B0604030504040204" pitchFamily="50" charset="-128"/>
              </a:rPr>
              <a:t>の存在確率</a:t>
            </a:r>
            <a:endParaRPr lang="en-US" altLang="ja-JP" dirty="0">
              <a:solidFill>
                <a:srgbClr val="333333"/>
              </a:solidFill>
              <a:latin typeface="Meiryo UI" panose="020B0604030504040204" pitchFamily="50" charset="-128"/>
              <a:ea typeface="Meiryo UI" panose="020B0604030504040204" pitchFamily="50" charset="-128"/>
            </a:endParaRPr>
          </a:p>
          <a:p>
            <a:endParaRPr lang="en-US" altLang="ja-JP" b="1" dirty="0">
              <a:solidFill>
                <a:srgbClr val="333333"/>
              </a:solidFill>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n"/>
            </a:pPr>
            <a:r>
              <a:rPr lang="ja-JP" altLang="en-US" b="1" dirty="0">
                <a:solidFill>
                  <a:srgbClr val="333333"/>
                </a:solidFill>
                <a:latin typeface="Meiryo UI" panose="020B0604030504040204" pitchFamily="50" charset="-128"/>
                <a:ea typeface="Meiryo UI" panose="020B0604030504040204" pitchFamily="50" charset="-128"/>
              </a:rPr>
              <a:t>共起行列の構成で幅広く使用可能</a:t>
            </a:r>
            <a:endParaRPr lang="en-US" altLang="ja-JP" b="1" dirty="0">
              <a:solidFill>
                <a:srgbClr val="333333"/>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dirty="0">
                <a:solidFill>
                  <a:srgbClr val="333333"/>
                </a:solidFill>
                <a:latin typeface="Meiryo UI" panose="020B0604030504040204" pitchFamily="50" charset="-128"/>
                <a:ea typeface="Meiryo UI" panose="020B0604030504040204" pitchFamily="50" charset="-128"/>
              </a:rPr>
              <a:t>共起行列のパターンを変えることで、様々な業界で応用できる</a:t>
            </a:r>
            <a:endParaRPr lang="en-US" altLang="ja-JP" dirty="0">
              <a:solidFill>
                <a:srgbClr val="333333"/>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dirty="0">
                <a:solidFill>
                  <a:srgbClr val="333333"/>
                </a:solidFill>
                <a:latin typeface="Meiryo UI" panose="020B0604030504040204" pitchFamily="50" charset="-128"/>
                <a:ea typeface="Meiryo UI" panose="020B0604030504040204" pitchFamily="50" charset="-128"/>
              </a:rPr>
              <a:t>単語</a:t>
            </a:r>
            <a:r>
              <a:rPr lang="en-US" altLang="ja-JP" dirty="0">
                <a:solidFill>
                  <a:srgbClr val="333333"/>
                </a:solidFill>
                <a:latin typeface="Meiryo UI" panose="020B0604030504040204" pitchFamily="50" charset="-128"/>
                <a:ea typeface="Meiryo UI" panose="020B0604030504040204" pitchFamily="50" charset="-128"/>
              </a:rPr>
              <a:t>×</a:t>
            </a:r>
            <a:r>
              <a:rPr lang="ja-JP" altLang="en-US" dirty="0">
                <a:solidFill>
                  <a:srgbClr val="333333"/>
                </a:solidFill>
                <a:latin typeface="Meiryo UI" panose="020B0604030504040204" pitchFamily="50" charset="-128"/>
                <a:ea typeface="Meiryo UI" panose="020B0604030504040204" pitchFamily="50" charset="-128"/>
              </a:rPr>
              <a:t>単語の共起行列を行うことで、クラスタの特徴を抽出しやすくなり、クラスタの解釈が容易になる</a:t>
            </a:r>
            <a:endParaRPr lang="en-US" altLang="ja-JP" dirty="0">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97694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2274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lIns="72000" tIns="72000" rIns="72000" bIns="72000">
        <a:noAutofit/>
      </a:bodyPr>
      <a:lstStyle>
        <a:defPPr algn="l">
          <a:defRPr dirty="0" smtClean="0">
            <a:latin typeface="Meiryo UI" panose="020B0604030504040204" pitchFamily="50" charset="-128"/>
            <a:ea typeface="Meiryo UI" panose="020B0604030504040204" pitchFamily="50" charset="-128"/>
          </a:defRPr>
        </a:defPPr>
      </a:lstStyle>
    </a:spDef>
    <a:lnDef>
      <a:spPr>
        <a:ln w="254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2551</Words>
  <Application>Microsoft Office PowerPoint</Application>
  <PresentationFormat>A4 210 x 297 mm</PresentationFormat>
  <Paragraphs>350</Paragraphs>
  <Slides>19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Meiryo UI</vt:lpstr>
      <vt:lpstr>游ゴシック</vt:lpstr>
      <vt:lpstr>Arial</vt:lpstr>
      <vt:lpstr>Cambria Math</vt:lpstr>
      <vt:lpstr>Wingdings</vt:lpstr>
      <vt:lpstr>Office テーマ</vt:lpstr>
      <vt:lpstr>PLSA</vt:lpstr>
      <vt:lpstr>PLSAの理論</vt:lpstr>
      <vt:lpstr>PLSAの理論</vt:lpstr>
      <vt:lpstr>PLSAの理論</vt:lpstr>
      <vt:lpstr>PLSAの理論</vt:lpstr>
      <vt:lpstr>基本的な数式　復習</vt:lpstr>
      <vt:lpstr>PLSAの理論　式（1）の導出</vt:lpstr>
      <vt:lpstr>PLSAの理論　式（2）の導出</vt:lpstr>
      <vt:lpstr>PLSAの理論　式（2）からEMアルゴリズムまで</vt:lpstr>
      <vt:lpstr>PLSAの理論　式（3）の導出</vt:lpstr>
      <vt:lpstr>PLSAの理論　EMアルゴリズム（M-Step）</vt:lpstr>
      <vt:lpstr>PLSAの理論　式（4）の導出</vt:lpstr>
      <vt:lpstr>PLSAの理論　式（5）の導出</vt:lpstr>
      <vt:lpstr>PLSAの理論　式（6）の導出</vt:lpstr>
      <vt:lpstr>PLSAの実行方法　インプット</vt:lpstr>
      <vt:lpstr>PLSAの実行方法　パラメータの設定</vt:lpstr>
      <vt:lpstr>PLSAの実行方法　アウトプット</vt:lpstr>
      <vt:lpstr>まとめ</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PLSA</dc:title>
  <dc:creator>辻元 宏則</dc:creator>
  <cp:lastModifiedBy>辻元 宏則</cp:lastModifiedBy>
  <cp:revision>156</cp:revision>
  <dcterms:created xsi:type="dcterms:W3CDTF">2020-07-02T08:51:44Z</dcterms:created>
  <dcterms:modified xsi:type="dcterms:W3CDTF">2021-02-16T04:51:14Z</dcterms:modified>
</cp:coreProperties>
</file>